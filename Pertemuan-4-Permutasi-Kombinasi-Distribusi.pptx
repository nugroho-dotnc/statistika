
<file path=[Content_Types].xml><?xml version="1.0" encoding="utf-8"?>
<Types xmlns="http://schemas.openxmlformats.org/package/2006/content-types">
  <Default Extension="png" ContentType="image/png"/>
  <Default Extension="bin" ContentType="application/vnd.openxmlformats-officedocument.oleObject"/>
  <Default Extension="jpeg" ContentType="image/jpeg"/>
  <Default Extension="emf" ContentType="image/x-emf"/>
  <Default Extension="rels" ContentType="application/vnd.openxmlformats-package.relationships+xml"/>
  <Default Extension="xml" ContentType="application/xml"/>
  <Default Extension="vml" ContentType="application/vnd.openxmlformats-officedocument.vmlDrawing"/>
  <Default Extension="jpg" ContentType="image/jpg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48.xml" ContentType="application/vnd.openxmlformats-officedocument.presentationml.slide+xml"/>
  <Override PartName="/ppt/slides/slide49.xml" ContentType="application/vnd.openxmlformats-officedocument.presentationml.slide+xml"/>
  <Override PartName="/ppt/slides/slide50.xml" ContentType="application/vnd.openxmlformats-officedocument.presentationml.slide+xml"/>
  <Override PartName="/ppt/slides/slide51.xml" ContentType="application/vnd.openxmlformats-officedocument.presentationml.slide+xml"/>
  <Override PartName="/ppt/slides/slide52.xml" ContentType="application/vnd.openxmlformats-officedocument.presentationml.slide+xml"/>
  <Override PartName="/ppt/slides/slide53.xml" ContentType="application/vnd.openxmlformats-officedocument.presentationml.slide+xml"/>
  <Override PartName="/ppt/slides/slide54.xml" ContentType="application/vnd.openxmlformats-officedocument.presentationml.slide+xml"/>
  <Override PartName="/ppt/slides/slide55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notesMasterIdLst>
    <p:notesMasterId r:id="rId57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  <p:sldId id="278" r:id="rId24"/>
    <p:sldId id="279" r:id="rId25"/>
    <p:sldId id="280" r:id="rId26"/>
    <p:sldId id="281" r:id="rId27"/>
    <p:sldId id="290" r:id="rId28"/>
    <p:sldId id="291" r:id="rId29"/>
    <p:sldId id="292" r:id="rId30"/>
    <p:sldId id="293" r:id="rId31"/>
    <p:sldId id="294" r:id="rId32"/>
    <p:sldId id="295" r:id="rId33"/>
    <p:sldId id="296" r:id="rId34"/>
    <p:sldId id="297" r:id="rId35"/>
    <p:sldId id="298" r:id="rId36"/>
    <p:sldId id="299" r:id="rId37"/>
    <p:sldId id="300" r:id="rId38"/>
    <p:sldId id="301" r:id="rId39"/>
    <p:sldId id="302" r:id="rId40"/>
    <p:sldId id="303" r:id="rId41"/>
    <p:sldId id="304" r:id="rId42"/>
    <p:sldId id="305" r:id="rId43"/>
    <p:sldId id="306" r:id="rId44"/>
    <p:sldId id="307" r:id="rId45"/>
    <p:sldId id="308" r:id="rId46"/>
    <p:sldId id="309" r:id="rId47"/>
    <p:sldId id="310" r:id="rId48"/>
    <p:sldId id="311" r:id="rId49"/>
    <p:sldId id="312" r:id="rId50"/>
    <p:sldId id="313" r:id="rId51"/>
    <p:sldId id="314" r:id="rId52"/>
    <p:sldId id="315" r:id="rId53"/>
    <p:sldId id="316" r:id="rId54"/>
    <p:sldId id="317" r:id="rId55"/>
    <p:sldId id="282" r:id="rId56"/>
  </p:sldIdLst>
  <p:sldSz cx="9144000" cy="6858000" type="screen4x3"/>
  <p:notesSz cx="9144000" cy="6858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880">
          <p15:clr>
            <a:srgbClr val="A4A3A4"/>
          </p15:clr>
        </p15:guide>
        <p15:guide id="2" pos="216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2D5ABB26-0587-4C30-8999-92F81FD0307C}" styleName="No Style, No Grid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584"/>
    <p:restoredTop sz="94727"/>
  </p:normalViewPr>
  <p:slideViewPr>
    <p:cSldViewPr>
      <p:cViewPr varScale="1">
        <p:scale>
          <a:sx n="89" d="100"/>
          <a:sy n="89" d="100"/>
        </p:scale>
        <p:origin x="1336" y="160"/>
      </p:cViewPr>
      <p:guideLst>
        <p:guide orient="horz" pos="2880"/>
        <p:guide pos="216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9" Type="http://schemas.openxmlformats.org/officeDocument/2006/relationships/slide" Target="slides/slide38.xml"/><Relationship Id="rId21" Type="http://schemas.openxmlformats.org/officeDocument/2006/relationships/slide" Target="slides/slide20.xml"/><Relationship Id="rId34" Type="http://schemas.openxmlformats.org/officeDocument/2006/relationships/slide" Target="slides/slide33.xml"/><Relationship Id="rId42" Type="http://schemas.openxmlformats.org/officeDocument/2006/relationships/slide" Target="slides/slide41.xml"/><Relationship Id="rId47" Type="http://schemas.openxmlformats.org/officeDocument/2006/relationships/slide" Target="slides/slide46.xml"/><Relationship Id="rId50" Type="http://schemas.openxmlformats.org/officeDocument/2006/relationships/slide" Target="slides/slide49.xml"/><Relationship Id="rId55" Type="http://schemas.openxmlformats.org/officeDocument/2006/relationships/slide" Target="slides/slide54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9" Type="http://schemas.openxmlformats.org/officeDocument/2006/relationships/slide" Target="slides/slide28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40" Type="http://schemas.openxmlformats.org/officeDocument/2006/relationships/slide" Target="slides/slide39.xml"/><Relationship Id="rId45" Type="http://schemas.openxmlformats.org/officeDocument/2006/relationships/slide" Target="slides/slide44.xml"/><Relationship Id="rId53" Type="http://schemas.openxmlformats.org/officeDocument/2006/relationships/slide" Target="slides/slide52.xml"/><Relationship Id="rId58" Type="http://schemas.openxmlformats.org/officeDocument/2006/relationships/presProps" Target="presProps.xml"/><Relationship Id="rId5" Type="http://schemas.openxmlformats.org/officeDocument/2006/relationships/slide" Target="slides/slide4.xml"/><Relationship Id="rId61" Type="http://schemas.openxmlformats.org/officeDocument/2006/relationships/tableStyles" Target="tableStyles.xml"/><Relationship Id="rId19" Type="http://schemas.openxmlformats.org/officeDocument/2006/relationships/slide" Target="slides/slide1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43" Type="http://schemas.openxmlformats.org/officeDocument/2006/relationships/slide" Target="slides/slide42.xml"/><Relationship Id="rId48" Type="http://schemas.openxmlformats.org/officeDocument/2006/relationships/slide" Target="slides/slide47.xml"/><Relationship Id="rId56" Type="http://schemas.openxmlformats.org/officeDocument/2006/relationships/slide" Target="slides/slide55.xml"/><Relationship Id="rId8" Type="http://schemas.openxmlformats.org/officeDocument/2006/relationships/slide" Target="slides/slide7.xml"/><Relationship Id="rId51" Type="http://schemas.openxmlformats.org/officeDocument/2006/relationships/slide" Target="slides/slide50.xml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slide" Target="slides/slide37.xml"/><Relationship Id="rId46" Type="http://schemas.openxmlformats.org/officeDocument/2006/relationships/slide" Target="slides/slide45.xml"/><Relationship Id="rId59" Type="http://schemas.openxmlformats.org/officeDocument/2006/relationships/viewProps" Target="viewProps.xml"/><Relationship Id="rId20" Type="http://schemas.openxmlformats.org/officeDocument/2006/relationships/slide" Target="slides/slide19.xml"/><Relationship Id="rId41" Type="http://schemas.openxmlformats.org/officeDocument/2006/relationships/slide" Target="slides/slide40.xml"/><Relationship Id="rId54" Type="http://schemas.openxmlformats.org/officeDocument/2006/relationships/slide" Target="slides/slide53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49" Type="http://schemas.openxmlformats.org/officeDocument/2006/relationships/slide" Target="slides/slide48.xml"/><Relationship Id="rId57" Type="http://schemas.openxmlformats.org/officeDocument/2006/relationships/notesMaster" Target="notesMasters/notesMaster1.xml"/><Relationship Id="rId10" Type="http://schemas.openxmlformats.org/officeDocument/2006/relationships/slide" Target="slides/slide9.xml"/><Relationship Id="rId31" Type="http://schemas.openxmlformats.org/officeDocument/2006/relationships/slide" Target="slides/slide30.xml"/><Relationship Id="rId44" Type="http://schemas.openxmlformats.org/officeDocument/2006/relationships/slide" Target="slides/slide43.xml"/><Relationship Id="rId52" Type="http://schemas.openxmlformats.org/officeDocument/2006/relationships/slide" Target="slides/slide51.xml"/><Relationship Id="rId60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slide" Target="slides/slide8.xml"/></Relationships>
</file>

<file path=ppt/drawings/_rels/vmlDrawing1.vml.rels><?xml version="1.0" encoding="UTF-8" standalone="yes"?>
<Relationships xmlns="http://schemas.openxmlformats.org/package/2006/relationships"><Relationship Id="rId3" Type="http://schemas.openxmlformats.org/officeDocument/2006/relationships/image" Target="../media/image16.emf"/><Relationship Id="rId2" Type="http://schemas.openxmlformats.org/officeDocument/2006/relationships/image" Target="../media/image15.emf"/><Relationship Id="rId1" Type="http://schemas.openxmlformats.org/officeDocument/2006/relationships/image" Target="../media/image14.jpeg"/></Relationships>
</file>

<file path=ppt/drawings/_rels/vmlDrawing2.vml.rels><?xml version="1.0" encoding="UTF-8" standalone="yes"?>
<Relationships xmlns="http://schemas.openxmlformats.org/package/2006/relationships"><Relationship Id="rId2" Type="http://schemas.openxmlformats.org/officeDocument/2006/relationships/image" Target="../media/image19.emf"/><Relationship Id="rId1" Type="http://schemas.openxmlformats.org/officeDocument/2006/relationships/image" Target="../media/image18.jpeg"/></Relationships>
</file>

<file path=ppt/drawings/_rels/vmlDrawing3.vml.rels><?xml version="1.0" encoding="UTF-8" standalone="yes"?>
<Relationships xmlns="http://schemas.openxmlformats.org/package/2006/relationships"><Relationship Id="rId2" Type="http://schemas.openxmlformats.org/officeDocument/2006/relationships/image" Target="../media/image20.emf"/><Relationship Id="rId1" Type="http://schemas.openxmlformats.org/officeDocument/2006/relationships/image" Target="../media/image18.jpeg"/></Relationships>
</file>

<file path=ppt/drawings/_rels/vmlDrawing4.vml.rels><?xml version="1.0" encoding="UTF-8" standalone="yes"?>
<Relationships xmlns="http://schemas.openxmlformats.org/package/2006/relationships"><Relationship Id="rId3" Type="http://schemas.openxmlformats.org/officeDocument/2006/relationships/image" Target="../media/image26.emf"/><Relationship Id="rId2" Type="http://schemas.openxmlformats.org/officeDocument/2006/relationships/image" Target="../media/image25.emf"/><Relationship Id="rId1" Type="http://schemas.openxmlformats.org/officeDocument/2006/relationships/image" Target="../media/image18.jpeg"/></Relationships>
</file>

<file path=ppt/drawings/_rels/vmlDrawing5.vml.rels><?xml version="1.0" encoding="UTF-8" standalone="yes"?>
<Relationships xmlns="http://schemas.openxmlformats.org/package/2006/relationships"><Relationship Id="rId3" Type="http://schemas.openxmlformats.org/officeDocument/2006/relationships/image" Target="../media/image28.emf"/><Relationship Id="rId2" Type="http://schemas.openxmlformats.org/officeDocument/2006/relationships/image" Target="../media/image27.emf"/><Relationship Id="rId1" Type="http://schemas.openxmlformats.org/officeDocument/2006/relationships/image" Target="../media/image14.jpeg"/></Relationships>
</file>

<file path=ppt/drawings/_rels/vmlDrawing6.vml.rels><?xml version="1.0" encoding="UTF-8" standalone="yes"?>
<Relationships xmlns="http://schemas.openxmlformats.org/package/2006/relationships"><Relationship Id="rId3" Type="http://schemas.openxmlformats.org/officeDocument/2006/relationships/image" Target="../media/image31.emf"/><Relationship Id="rId2" Type="http://schemas.openxmlformats.org/officeDocument/2006/relationships/image" Target="../media/image30.emf"/><Relationship Id="rId1" Type="http://schemas.openxmlformats.org/officeDocument/2006/relationships/image" Target="../media/image29.jpeg"/><Relationship Id="rId4" Type="http://schemas.openxmlformats.org/officeDocument/2006/relationships/image" Target="../media/image32.emf"/></Relationships>
</file>

<file path=ppt/drawings/_rels/vmlDrawing7.vml.rels><?xml version="1.0" encoding="UTF-8" standalone="yes"?>
<Relationships xmlns="http://schemas.openxmlformats.org/package/2006/relationships"><Relationship Id="rId3" Type="http://schemas.openxmlformats.org/officeDocument/2006/relationships/image" Target="../media/image36.emf"/><Relationship Id="rId2" Type="http://schemas.openxmlformats.org/officeDocument/2006/relationships/image" Target="../media/image35.emf"/><Relationship Id="rId1" Type="http://schemas.openxmlformats.org/officeDocument/2006/relationships/image" Target="../media/image34.jpeg"/><Relationship Id="rId5" Type="http://schemas.openxmlformats.org/officeDocument/2006/relationships/image" Target="../media/image38.emf"/><Relationship Id="rId4" Type="http://schemas.openxmlformats.org/officeDocument/2006/relationships/image" Target="../media/image37.emf"/></Relationships>
</file>

<file path=ppt/drawings/_rels/vmlDrawing8.vml.rels><?xml version="1.0" encoding="UTF-8" standalone="yes"?>
<Relationships xmlns="http://schemas.openxmlformats.org/package/2006/relationships"><Relationship Id="rId2" Type="http://schemas.openxmlformats.org/officeDocument/2006/relationships/image" Target="../media/image39.emf"/><Relationship Id="rId1" Type="http://schemas.openxmlformats.org/officeDocument/2006/relationships/image" Target="../media/image34.jpeg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44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44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C336B925-0FFD-434D-B84A-1B0A8E77E871}" type="datetimeFigureOut">
              <a:rPr lang="en-US" smtClean="0"/>
              <a:t>10/3/20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3028950" y="857250"/>
            <a:ext cx="3086100" cy="2314575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300413"/>
            <a:ext cx="7315200" cy="2700337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13513"/>
            <a:ext cx="3962400" cy="3444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13513"/>
            <a:ext cx="3962400" cy="3444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3465312F-F348-4247-B947-8BE926BBC95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51337824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7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9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914" name="Slide Image Placeholder 1">
            <a:extLst>
              <a:ext uri="{FF2B5EF4-FFF2-40B4-BE49-F238E27FC236}">
                <a16:creationId xmlns:a16="http://schemas.microsoft.com/office/drawing/2014/main" id="{319F4311-A185-8F4B-9687-8571DC490A68}"/>
              </a:ext>
            </a:extLst>
          </p:cNvPr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38915" name="Notes Placeholder 2">
            <a:extLst>
              <a:ext uri="{FF2B5EF4-FFF2-40B4-BE49-F238E27FC236}">
                <a16:creationId xmlns:a16="http://schemas.microsoft.com/office/drawing/2014/main" id="{E4C02081-085F-A74B-AD08-8C01B6A3EDE6}"/>
              </a:ext>
            </a:extLst>
          </p:cNvPr>
          <p:cNvSpPr>
            <a:spLocks noGrp="1"/>
          </p:cNvSpPr>
          <p:nvPr>
            <p:ph type="body" idx="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>
              <a:spcBef>
                <a:spcPct val="0"/>
              </a:spcBef>
            </a:pPr>
            <a:endParaRPr lang="en-US" altLang="en-US"/>
          </a:p>
        </p:txBody>
      </p:sp>
      <p:sp>
        <p:nvSpPr>
          <p:cNvPr id="38916" name="Slide Number Placeholder 3">
            <a:extLst>
              <a:ext uri="{FF2B5EF4-FFF2-40B4-BE49-F238E27FC236}">
                <a16:creationId xmlns:a16="http://schemas.microsoft.com/office/drawing/2014/main" id="{20762D60-D66E-3940-83C6-BCBE7E9F0D04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fld id="{A81A3823-9042-E54B-8477-591133322BA8}" type="slidenum">
              <a:rPr lang="en-US" altLang="en-US"/>
              <a:pPr/>
              <a:t>27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4036279485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938" name="Slide Image Placeholder 1">
            <a:extLst>
              <a:ext uri="{FF2B5EF4-FFF2-40B4-BE49-F238E27FC236}">
                <a16:creationId xmlns:a16="http://schemas.microsoft.com/office/drawing/2014/main" id="{C0717FEB-2A1D-434A-AC56-29845F02DCC4}"/>
              </a:ext>
            </a:extLst>
          </p:cNvPr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39939" name="Notes Placeholder 2">
            <a:extLst>
              <a:ext uri="{FF2B5EF4-FFF2-40B4-BE49-F238E27FC236}">
                <a16:creationId xmlns:a16="http://schemas.microsoft.com/office/drawing/2014/main" id="{52B43B85-F4EE-0D4E-B236-897DE3248E6E}"/>
              </a:ext>
            </a:extLst>
          </p:cNvPr>
          <p:cNvSpPr>
            <a:spLocks noGrp="1"/>
          </p:cNvSpPr>
          <p:nvPr>
            <p:ph type="body" idx="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>
              <a:spcBef>
                <a:spcPct val="0"/>
              </a:spcBef>
            </a:pPr>
            <a:endParaRPr lang="en-US" altLang="en-US"/>
          </a:p>
        </p:txBody>
      </p:sp>
      <p:sp>
        <p:nvSpPr>
          <p:cNvPr id="39940" name="Slide Number Placeholder 3">
            <a:extLst>
              <a:ext uri="{FF2B5EF4-FFF2-40B4-BE49-F238E27FC236}">
                <a16:creationId xmlns:a16="http://schemas.microsoft.com/office/drawing/2014/main" id="{6D48C72C-9B68-D449-8FC2-75936482CE52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fld id="{00A2658D-A5B1-BC4B-A61C-20C961521D62}" type="slidenum">
              <a:rPr lang="id-ID" altLang="en-US"/>
              <a:pPr/>
              <a:t>29</a:t>
            </a:fld>
            <a:endParaRPr lang="id-ID" altLang="en-US"/>
          </a:p>
        </p:txBody>
      </p:sp>
    </p:spTree>
    <p:extLst>
      <p:ext uri="{BB962C8B-B14F-4D97-AF65-F5344CB8AC3E}">
        <p14:creationId xmlns:p14="http://schemas.microsoft.com/office/powerpoint/2010/main" val="381299637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ctrTitle"/>
          </p:nvPr>
        </p:nvSpPr>
        <p:spPr>
          <a:xfrm>
            <a:off x="2706751" y="598373"/>
            <a:ext cx="3730497" cy="69723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b="0" i="0">
                <a:solidFill>
                  <a:schemeClr val="tx1"/>
                </a:solidFill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subTitle" idx="4"/>
          </p:nvPr>
        </p:nvSpPr>
        <p:spPr>
          <a:xfrm>
            <a:off x="1371600" y="3840480"/>
            <a:ext cx="6400800" cy="171450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10/3/20</a:t>
            </a:fld>
            <a:endParaRPr lang="en-US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2500" b="0" i="0">
                <a:solidFill>
                  <a:schemeClr val="tx1"/>
                </a:solidFill>
                <a:latin typeface="Calibri"/>
                <a:cs typeface="Calibri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body" idx="1"/>
          </p:nvPr>
        </p:nvSpPr>
        <p:spPr/>
        <p:txBody>
          <a:bodyPr lIns="0" tIns="0" rIns="0" bIns="0"/>
          <a:lstStyle>
            <a:lvl1pPr>
              <a:defRPr b="0" i="0">
                <a:solidFill>
                  <a:schemeClr val="tx1"/>
                </a:solidFill>
              </a:defRPr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10/3/20</a:t>
            </a:fld>
            <a:endParaRPr lang="en-US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2500" b="0" i="0">
                <a:solidFill>
                  <a:schemeClr val="tx1"/>
                </a:solidFill>
                <a:latin typeface="Calibri"/>
                <a:cs typeface="Calibri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sz="half" idx="2"/>
          </p:nvPr>
        </p:nvSpPr>
        <p:spPr>
          <a:xfrm>
            <a:off x="457200" y="1577340"/>
            <a:ext cx="3977640" cy="452628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sz="half" idx="3"/>
          </p:nvPr>
        </p:nvSpPr>
        <p:spPr>
          <a:xfrm>
            <a:off x="4709160" y="1577340"/>
            <a:ext cx="3977640" cy="452628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6" name="Holder 6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10/3/20</a:t>
            </a:fld>
            <a:endParaRPr lang="en-US"/>
          </a:p>
        </p:txBody>
      </p:sp>
      <p:sp>
        <p:nvSpPr>
          <p:cNvPr id="7" name="Holder 7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2500" b="0" i="0">
                <a:solidFill>
                  <a:schemeClr val="tx1"/>
                </a:solidFill>
                <a:latin typeface="Calibri"/>
                <a:cs typeface="Calibri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10/3/20</a:t>
            </a:fld>
            <a:endParaRPr lang="en-US"/>
          </a:p>
        </p:txBody>
      </p:sp>
      <p:sp>
        <p:nvSpPr>
          <p:cNvPr id="5" name="Holder 5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10/3/20</a:t>
            </a:fld>
            <a:endParaRPr lang="en-US"/>
          </a:p>
        </p:txBody>
      </p:sp>
      <p:sp>
        <p:nvSpPr>
          <p:cNvPr id="4" name="Holder 4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>
  <p:cSld name="1_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Oval 3">
            <a:extLst>
              <a:ext uri="{FF2B5EF4-FFF2-40B4-BE49-F238E27FC236}">
                <a16:creationId xmlns:a16="http://schemas.microsoft.com/office/drawing/2014/main" id="{3C783781-6A68-934A-AF0F-47BDB2A00854}"/>
              </a:ext>
            </a:extLst>
          </p:cNvPr>
          <p:cNvSpPr/>
          <p:nvPr/>
        </p:nvSpPr>
        <p:spPr>
          <a:xfrm>
            <a:off x="921433" y="1413802"/>
            <a:ext cx="210312" cy="210312"/>
          </a:xfrm>
          <a:prstGeom prst="ellipse">
            <a:avLst/>
          </a:prstGeom>
          <a:gradFill rotWithShape="1">
            <a:gsLst>
              <a:gs pos="0">
                <a:schemeClr val="accent1">
                  <a:tint val="20000"/>
                  <a:satMod val="450000"/>
                  <a:alpha val="95000"/>
                </a:schemeClr>
              </a:gs>
              <a:gs pos="50000">
                <a:schemeClr val="accent1">
                  <a:tint val="38000"/>
                  <a:satMod val="250000"/>
                  <a:alpha val="90000"/>
                </a:schemeClr>
              </a:gs>
              <a:gs pos="95000">
                <a:schemeClr val="accent1">
                  <a:tint val="75000"/>
                  <a:satMod val="255000"/>
                  <a:alpha val="88000"/>
                </a:schemeClr>
              </a:gs>
              <a:gs pos="100000">
                <a:schemeClr val="accent1">
                  <a:tint val="100000"/>
                  <a:shade val="90000"/>
                  <a:satMod val="255000"/>
                  <a:alpha val="85000"/>
                </a:schemeClr>
              </a:gs>
            </a:gsLst>
            <a:path path="circle">
              <a:fillToRect l="25000" t="12500" r="75000" b="87500"/>
            </a:path>
          </a:gradFill>
          <a:ln w="2000" cap="rnd" cmpd="sng" algn="ctr">
            <a:solidFill>
              <a:schemeClr val="accent1">
                <a:shade val="90000"/>
                <a:satMod val="110000"/>
                <a:alpha val="60000"/>
              </a:schemeClr>
            </a:solidFill>
            <a:prstDash val="solid"/>
          </a:ln>
          <a:effectLst/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anchor="ctr"/>
          <a:lstStyle/>
          <a:p>
            <a:pPr algn="ctr" eaLnBrk="1" hangingPunct="1">
              <a:defRPr/>
            </a:pPr>
            <a:endParaRPr lang="en-US"/>
          </a:p>
        </p:txBody>
      </p:sp>
      <p:sp>
        <p:nvSpPr>
          <p:cNvPr id="5" name="Oval 4">
            <a:extLst>
              <a:ext uri="{FF2B5EF4-FFF2-40B4-BE49-F238E27FC236}">
                <a16:creationId xmlns:a16="http://schemas.microsoft.com/office/drawing/2014/main" id="{874D0C79-639B-D940-95F2-F03C99B8D731}"/>
              </a:ext>
            </a:extLst>
          </p:cNvPr>
          <p:cNvSpPr/>
          <p:nvPr/>
        </p:nvSpPr>
        <p:spPr>
          <a:xfrm>
            <a:off x="1157288" y="1344613"/>
            <a:ext cx="63500" cy="65087"/>
          </a:xfrm>
          <a:prstGeom prst="ellipse">
            <a:avLst/>
          </a:prstGeom>
          <a:noFill/>
          <a:ln w="12700" cap="rnd" cmpd="sng" algn="ctr">
            <a:solidFill>
              <a:schemeClr val="accent1">
                <a:shade val="75000"/>
                <a:alpha val="60000"/>
              </a:schemeClr>
            </a:solidFill>
            <a:prstDash val="solid"/>
          </a:ln>
          <a:effectLst/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anchor="ctr"/>
          <a:lstStyle/>
          <a:p>
            <a:pPr algn="ctr" eaLnBrk="1" hangingPunct="1">
              <a:defRPr/>
            </a:pPr>
            <a:endParaRPr lang="en-US"/>
          </a:p>
        </p:txBody>
      </p:sp>
      <p:sp>
        <p:nvSpPr>
          <p:cNvPr id="14" name="Title 13"/>
          <p:cNvSpPr>
            <a:spLocks noGrp="1"/>
          </p:cNvSpPr>
          <p:nvPr>
            <p:ph type="ctrTitle"/>
          </p:nvPr>
        </p:nvSpPr>
        <p:spPr>
          <a:xfrm>
            <a:off x="1432560" y="359898"/>
            <a:ext cx="7406640" cy="1472184"/>
          </a:xfrm>
        </p:spPr>
        <p:txBody>
          <a:bodyPr anchor="b"/>
          <a:lstStyle>
            <a:lvl1pPr algn="l">
              <a:defRPr/>
            </a:lvl1pPr>
            <a:extLst/>
          </a:lstStyle>
          <a:p>
            <a:r>
              <a:rPr lang="en-US"/>
              <a:t>Click to edit Master title style</a:t>
            </a:r>
          </a:p>
        </p:txBody>
      </p:sp>
      <p:sp>
        <p:nvSpPr>
          <p:cNvPr id="22" name="Subtitle 21"/>
          <p:cNvSpPr>
            <a:spLocks noGrp="1"/>
          </p:cNvSpPr>
          <p:nvPr>
            <p:ph type="subTitle" idx="1"/>
          </p:nvPr>
        </p:nvSpPr>
        <p:spPr>
          <a:xfrm>
            <a:off x="1432560" y="1850064"/>
            <a:ext cx="7406640" cy="1752600"/>
          </a:xfrm>
        </p:spPr>
        <p:txBody>
          <a:bodyPr tIns="0"/>
          <a:lstStyle>
            <a:lvl1pPr marL="27432" indent="0" algn="l">
              <a:buNone/>
              <a:defRPr sz="2600">
                <a:solidFill>
                  <a:schemeClr val="tx2">
                    <a:shade val="30000"/>
                    <a:satMod val="150000"/>
                  </a:schemeClr>
                </a:solidFill>
              </a:defRPr>
            </a:lvl1pPr>
            <a:lvl2pPr marL="457200" indent="0" algn="ctr">
              <a:buNone/>
            </a:lvl2pPr>
            <a:lvl3pPr marL="914400" indent="0" algn="ctr">
              <a:buNone/>
            </a:lvl3pPr>
            <a:lvl4pPr marL="1371600" indent="0" algn="ctr">
              <a:buNone/>
            </a:lvl4pPr>
            <a:lvl5pPr marL="1828800" indent="0" algn="ctr">
              <a:buNone/>
            </a:lvl5pPr>
            <a:lvl6pPr marL="2286000" indent="0" algn="ctr">
              <a:buNone/>
            </a:lvl6pPr>
            <a:lvl7pPr marL="2743200" indent="0" algn="ctr">
              <a:buNone/>
            </a:lvl7pPr>
            <a:lvl8pPr marL="3200400" indent="0" algn="ctr">
              <a:buNone/>
            </a:lvl8pPr>
            <a:lvl9pPr marL="3657600" indent="0" algn="ctr">
              <a:buNone/>
            </a:lvl9pPr>
            <a:extLst/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6" name="Date Placeholder 6">
            <a:extLst>
              <a:ext uri="{FF2B5EF4-FFF2-40B4-BE49-F238E27FC236}">
                <a16:creationId xmlns:a16="http://schemas.microsoft.com/office/drawing/2014/main" id="{DEF368B6-6580-3846-95D5-AD7A0C0A52B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  <a:extLst/>
          </a:lstStyle>
          <a:p>
            <a:pPr>
              <a:defRPr/>
            </a:pPr>
            <a:endParaRPr lang="en-GB"/>
          </a:p>
        </p:txBody>
      </p:sp>
      <p:sp>
        <p:nvSpPr>
          <p:cNvPr id="7" name="Footer Placeholder 19">
            <a:extLst>
              <a:ext uri="{FF2B5EF4-FFF2-40B4-BE49-F238E27FC236}">
                <a16:creationId xmlns:a16="http://schemas.microsoft.com/office/drawing/2014/main" id="{8AFB7EB2-7B1F-6A40-960A-B587380299D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  <a:extLst/>
          </a:lstStyle>
          <a:p>
            <a:pPr>
              <a:defRPr/>
            </a:pPr>
            <a:endParaRPr lang="en-GB"/>
          </a:p>
        </p:txBody>
      </p:sp>
      <p:sp>
        <p:nvSpPr>
          <p:cNvPr id="8" name="Slide Number Placeholder 9">
            <a:extLst>
              <a:ext uri="{FF2B5EF4-FFF2-40B4-BE49-F238E27FC236}">
                <a16:creationId xmlns:a16="http://schemas.microsoft.com/office/drawing/2014/main" id="{0759BBA9-B3F0-F247-8972-47783CDBD0A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844735C6-14CC-3C4A-A703-7182B117DA72}" type="slidenum">
              <a:rPr lang="en-GB" altLang="en-US"/>
              <a:pPr/>
              <a:t>‹#›</a:t>
            </a:fld>
            <a:endParaRPr lang="en-GB" altLang="en-US"/>
          </a:p>
        </p:txBody>
      </p:sp>
    </p:spTree>
    <p:extLst>
      <p:ext uri="{BB962C8B-B14F-4D97-AF65-F5344CB8AC3E}">
        <p14:creationId xmlns:p14="http://schemas.microsoft.com/office/powerpoint/2010/main" val="3973755079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txAndObj">
  <p:cSld name="Title, Text,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219200" y="1295400"/>
            <a:ext cx="7696200" cy="914400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sz="half" idx="1"/>
          </p:nvPr>
        </p:nvSpPr>
        <p:spPr>
          <a:xfrm>
            <a:off x="1219200" y="2286000"/>
            <a:ext cx="3771900" cy="396240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5143500" y="2286000"/>
            <a:ext cx="3771900" cy="396240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23">
            <a:extLst>
              <a:ext uri="{FF2B5EF4-FFF2-40B4-BE49-F238E27FC236}">
                <a16:creationId xmlns:a16="http://schemas.microsoft.com/office/drawing/2014/main" id="{81BC4507-211D-F640-9183-F1297412C65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6" name="Footer Placeholder 9">
            <a:extLst>
              <a:ext uri="{FF2B5EF4-FFF2-40B4-BE49-F238E27FC236}">
                <a16:creationId xmlns:a16="http://schemas.microsoft.com/office/drawing/2014/main" id="{69EB708B-7A65-904C-9E1A-2AD658C7A72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7" name="Slide Number Placeholder 21">
            <a:extLst>
              <a:ext uri="{FF2B5EF4-FFF2-40B4-BE49-F238E27FC236}">
                <a16:creationId xmlns:a16="http://schemas.microsoft.com/office/drawing/2014/main" id="{88840A89-5182-E248-87B5-21226160BC8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9B40313D-8740-BC4A-B056-01B7C11218F6}" type="slidenum">
              <a:rPr lang="en-GB" altLang="en-US"/>
              <a:pPr/>
              <a:t>‹#›</a:t>
            </a:fld>
            <a:endParaRPr lang="en-GB" altLang="en-US"/>
          </a:p>
        </p:txBody>
      </p:sp>
    </p:spTree>
    <p:extLst>
      <p:ext uri="{BB962C8B-B14F-4D97-AF65-F5344CB8AC3E}">
        <p14:creationId xmlns:p14="http://schemas.microsoft.com/office/powerpoint/2010/main" val="197821645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Relationship Id="rId9" Type="http://schemas.openxmlformats.org/officeDocument/2006/relationships/image" Target="../media/image1.jpg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bg object 16"/>
          <p:cNvSpPr/>
          <p:nvPr/>
        </p:nvSpPr>
        <p:spPr>
          <a:xfrm>
            <a:off x="0" y="0"/>
            <a:ext cx="9144000" cy="6857998"/>
          </a:xfrm>
          <a:prstGeom prst="rect">
            <a:avLst/>
          </a:prstGeom>
          <a:blipFill>
            <a:blip r:embed="rId9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" name="Holder 2"/>
          <p:cNvSpPr>
            <a:spLocks noGrp="1"/>
          </p:cNvSpPr>
          <p:nvPr>
            <p:ph type="title"/>
          </p:nvPr>
        </p:nvSpPr>
        <p:spPr>
          <a:xfrm>
            <a:off x="1012342" y="580720"/>
            <a:ext cx="7118984" cy="1245235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2500" b="0" i="0">
                <a:solidFill>
                  <a:schemeClr val="tx1"/>
                </a:solidFill>
                <a:latin typeface="Calibri"/>
                <a:cs typeface="Calibri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body" idx="1"/>
          </p:nvPr>
        </p:nvSpPr>
        <p:spPr>
          <a:xfrm>
            <a:off x="1829307" y="2126488"/>
            <a:ext cx="4916170" cy="1424939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b="0" i="0">
                <a:solidFill>
                  <a:schemeClr val="tx1"/>
                </a:solidFill>
              </a:defRPr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>
          <a:xfrm>
            <a:off x="3108960" y="6377940"/>
            <a:ext cx="2926080" cy="34290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>
          <a:xfrm>
            <a:off x="457200" y="6377940"/>
            <a:ext cx="2103120" cy="34290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10/3/20</a:t>
            </a:fld>
            <a:endParaRPr lang="en-US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>
          <a:xfrm>
            <a:off x="6583680" y="6377940"/>
            <a:ext cx="2103120" cy="34290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</p:sldLayoutIdLst>
  <p:txStyles>
    <p:titleStyle>
      <a:lvl1pPr>
        <a:defRPr>
          <a:latin typeface="+mj-lt"/>
          <a:ea typeface="+mj-ea"/>
          <a:cs typeface="+mj-cs"/>
        </a:defRPr>
      </a:lvl1pPr>
    </p:titleStyle>
    <p:bodyStyle>
      <a:lvl1pPr marL="0">
        <a:defRPr>
          <a:latin typeface="+mn-lt"/>
          <a:ea typeface="+mn-ea"/>
          <a:cs typeface="+mn-cs"/>
        </a:defRPr>
      </a:lvl1pPr>
      <a:lvl2pPr marL="457200">
        <a:defRPr>
          <a:latin typeface="+mn-lt"/>
          <a:ea typeface="+mn-ea"/>
          <a:cs typeface="+mn-cs"/>
        </a:defRPr>
      </a:lvl2pPr>
      <a:lvl3pPr marL="914400">
        <a:defRPr>
          <a:latin typeface="+mn-lt"/>
          <a:ea typeface="+mn-ea"/>
          <a:cs typeface="+mn-cs"/>
        </a:defRPr>
      </a:lvl3pPr>
      <a:lvl4pPr marL="1371600">
        <a:defRPr>
          <a:latin typeface="+mn-lt"/>
          <a:ea typeface="+mn-ea"/>
          <a:cs typeface="+mn-cs"/>
        </a:defRPr>
      </a:lvl4pPr>
      <a:lvl5pPr marL="1828800">
        <a:defRPr>
          <a:latin typeface="+mn-lt"/>
          <a:ea typeface="+mn-ea"/>
          <a:cs typeface="+mn-cs"/>
        </a:defRPr>
      </a:lvl5pPr>
      <a:lvl6pPr marL="2286000">
        <a:defRPr>
          <a:latin typeface="+mn-lt"/>
          <a:ea typeface="+mn-ea"/>
          <a:cs typeface="+mn-cs"/>
        </a:defRPr>
      </a:lvl6pPr>
      <a:lvl7pPr marL="2743200">
        <a:defRPr>
          <a:latin typeface="+mn-lt"/>
          <a:ea typeface="+mn-ea"/>
          <a:cs typeface="+mn-cs"/>
        </a:defRPr>
      </a:lvl7pPr>
      <a:lvl8pPr marL="3200400">
        <a:defRPr>
          <a:latin typeface="+mn-lt"/>
          <a:ea typeface="+mn-ea"/>
          <a:cs typeface="+mn-cs"/>
        </a:defRPr>
      </a:lvl8pPr>
      <a:lvl9pPr marL="3657600">
        <a:defRPr>
          <a:latin typeface="+mn-lt"/>
          <a:ea typeface="+mn-ea"/>
          <a:cs typeface="+mn-cs"/>
        </a:defRPr>
      </a:lvl9pPr>
    </p:bodyStyle>
    <p:otherStyle>
      <a:lvl1pPr marL="0">
        <a:defRPr>
          <a:latin typeface="+mn-lt"/>
          <a:ea typeface="+mn-ea"/>
          <a:cs typeface="+mn-cs"/>
        </a:defRPr>
      </a:lvl1pPr>
      <a:lvl2pPr marL="457200">
        <a:defRPr>
          <a:latin typeface="+mn-lt"/>
          <a:ea typeface="+mn-ea"/>
          <a:cs typeface="+mn-cs"/>
        </a:defRPr>
      </a:lvl2pPr>
      <a:lvl3pPr marL="914400">
        <a:defRPr>
          <a:latin typeface="+mn-lt"/>
          <a:ea typeface="+mn-ea"/>
          <a:cs typeface="+mn-cs"/>
        </a:defRPr>
      </a:lvl3pPr>
      <a:lvl4pPr marL="1371600">
        <a:defRPr>
          <a:latin typeface="+mn-lt"/>
          <a:ea typeface="+mn-ea"/>
          <a:cs typeface="+mn-cs"/>
        </a:defRPr>
      </a:lvl4pPr>
      <a:lvl5pPr marL="1828800">
        <a:defRPr>
          <a:latin typeface="+mn-lt"/>
          <a:ea typeface="+mn-ea"/>
          <a:cs typeface="+mn-cs"/>
        </a:defRPr>
      </a:lvl5pPr>
      <a:lvl6pPr marL="2286000">
        <a:defRPr>
          <a:latin typeface="+mn-lt"/>
          <a:ea typeface="+mn-ea"/>
          <a:cs typeface="+mn-cs"/>
        </a:defRPr>
      </a:lvl6pPr>
      <a:lvl7pPr marL="2743200">
        <a:defRPr>
          <a:latin typeface="+mn-lt"/>
          <a:ea typeface="+mn-ea"/>
          <a:cs typeface="+mn-cs"/>
        </a:defRPr>
      </a:lvl7pPr>
      <a:lvl8pPr marL="3200400">
        <a:defRPr>
          <a:latin typeface="+mn-lt"/>
          <a:ea typeface="+mn-ea"/>
          <a:cs typeface="+mn-cs"/>
        </a:defRPr>
      </a:lvl8pPr>
      <a:lvl9pPr marL="3657600">
        <a:defRPr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g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jpg"/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jpg"/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6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/Relationships>
</file>

<file path=ppt/slides/_rels/slide2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2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30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2.xml"/></Relationships>
</file>

<file path=ppt/slides/_rels/slide3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2.xml"/></Relationships>
</file>

<file path=ppt/slides/_rels/slide3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2.xml"/></Relationships>
</file>

<file path=ppt/slides/_rels/slide3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2.xml"/></Relationships>
</file>

<file path=ppt/slides/_rels/slide34.xml.rels><?xml version="1.0" encoding="UTF-8" standalone="yes"?>
<Relationships xmlns="http://schemas.openxmlformats.org/package/2006/relationships"><Relationship Id="rId8" Type="http://schemas.openxmlformats.org/officeDocument/2006/relationships/image" Target="../media/image17.png"/><Relationship Id="rId3" Type="http://schemas.openxmlformats.org/officeDocument/2006/relationships/oleObject" Target="../embeddings/oleObject1.bin"/><Relationship Id="rId7" Type="http://schemas.openxmlformats.org/officeDocument/2006/relationships/image" Target="../media/image16.emf"/><Relationship Id="rId2" Type="http://schemas.openxmlformats.org/officeDocument/2006/relationships/slideLayout" Target="../slideLayouts/slideLayout2.xml"/><Relationship Id="rId1" Type="http://schemas.openxmlformats.org/officeDocument/2006/relationships/vmlDrawing" Target="../drawings/vmlDrawing1.vml"/><Relationship Id="rId6" Type="http://schemas.openxmlformats.org/officeDocument/2006/relationships/oleObject" Target="../embeddings/oleObject2.bin"/><Relationship Id="rId5" Type="http://schemas.openxmlformats.org/officeDocument/2006/relationships/image" Target="../media/image14.jpeg"/><Relationship Id="rId4" Type="http://schemas.openxmlformats.org/officeDocument/2006/relationships/image" Target="../media/image15.emf"/></Relationships>
</file>

<file path=ppt/slides/_rels/slide3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3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7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3.bin"/><Relationship Id="rId2" Type="http://schemas.openxmlformats.org/officeDocument/2006/relationships/slideLayout" Target="../slideLayouts/slideLayout2.xml"/><Relationship Id="rId1" Type="http://schemas.openxmlformats.org/officeDocument/2006/relationships/vmlDrawing" Target="../drawings/vmlDrawing2.vml"/><Relationship Id="rId5" Type="http://schemas.openxmlformats.org/officeDocument/2006/relationships/image" Target="../media/image18.jpeg"/><Relationship Id="rId4" Type="http://schemas.openxmlformats.org/officeDocument/2006/relationships/image" Target="../media/image19.emf"/></Relationships>
</file>

<file path=ppt/slides/_rels/slide38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4.bin"/><Relationship Id="rId2" Type="http://schemas.openxmlformats.org/officeDocument/2006/relationships/slideLayout" Target="../slideLayouts/slideLayout2.xml"/><Relationship Id="rId1" Type="http://schemas.openxmlformats.org/officeDocument/2006/relationships/vmlDrawing" Target="../drawings/vmlDrawing3.vml"/><Relationship Id="rId5" Type="http://schemas.openxmlformats.org/officeDocument/2006/relationships/image" Target="../media/image18.jpeg"/><Relationship Id="rId4" Type="http://schemas.openxmlformats.org/officeDocument/2006/relationships/image" Target="../media/image20.emf"/></Relationships>
</file>

<file path=ppt/slides/_rels/slide39.xml.rels><?xml version="1.0" encoding="UTF-8" standalone="yes"?>
<Relationships xmlns="http://schemas.openxmlformats.org/package/2006/relationships"><Relationship Id="rId2" Type="http://schemas.openxmlformats.org/officeDocument/2006/relationships/image" Target="../media/image21.png"/><Relationship Id="rId1" Type="http://schemas.openxmlformats.org/officeDocument/2006/relationships/slideLayout" Target="../slideLayouts/slideLayout2.xml"/></Relationships>
</file>

<file path=ppt/slides/_rels/slide4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3.png"/><Relationship Id="rId2" Type="http://schemas.openxmlformats.org/officeDocument/2006/relationships/image" Target="../media/image22.png"/><Relationship Id="rId1" Type="http://schemas.openxmlformats.org/officeDocument/2006/relationships/slideLayout" Target="../slideLayouts/slideLayout2.xml"/></Relationships>
</file>

<file path=ppt/slides/_rels/slide4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4.png"/><Relationship Id="rId1" Type="http://schemas.openxmlformats.org/officeDocument/2006/relationships/slideLayout" Target="../slideLayouts/slideLayout2.xml"/></Relationships>
</file>

<file path=ppt/slides/_rels/slide4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4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7.xml.rels><?xml version="1.0" encoding="UTF-8" standalone="yes"?>
<Relationships xmlns="http://schemas.openxmlformats.org/package/2006/relationships"><Relationship Id="rId8" Type="http://schemas.openxmlformats.org/officeDocument/2006/relationships/image" Target="../media/image26.emf"/><Relationship Id="rId3" Type="http://schemas.openxmlformats.org/officeDocument/2006/relationships/oleObject" Target="../embeddings/oleObject5.bin"/><Relationship Id="rId7" Type="http://schemas.openxmlformats.org/officeDocument/2006/relationships/oleObject" Target="../embeddings/oleObject7.bin"/><Relationship Id="rId2" Type="http://schemas.openxmlformats.org/officeDocument/2006/relationships/slideLayout" Target="../slideLayouts/slideLayout7.xml"/><Relationship Id="rId1" Type="http://schemas.openxmlformats.org/officeDocument/2006/relationships/vmlDrawing" Target="../drawings/vmlDrawing4.vml"/><Relationship Id="rId6" Type="http://schemas.openxmlformats.org/officeDocument/2006/relationships/oleObject" Target="../embeddings/oleObject6.bin"/><Relationship Id="rId5" Type="http://schemas.openxmlformats.org/officeDocument/2006/relationships/image" Target="../media/image18.jpeg"/><Relationship Id="rId4" Type="http://schemas.openxmlformats.org/officeDocument/2006/relationships/image" Target="../media/image25.emf"/></Relationships>
</file>

<file path=ppt/slides/_rels/slide48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8.bin"/><Relationship Id="rId7" Type="http://schemas.openxmlformats.org/officeDocument/2006/relationships/image" Target="../media/image28.emf"/><Relationship Id="rId2" Type="http://schemas.openxmlformats.org/officeDocument/2006/relationships/slideLayout" Target="../slideLayouts/slideLayout2.xml"/><Relationship Id="rId1" Type="http://schemas.openxmlformats.org/officeDocument/2006/relationships/vmlDrawing" Target="../drawings/vmlDrawing5.vml"/><Relationship Id="rId6" Type="http://schemas.openxmlformats.org/officeDocument/2006/relationships/oleObject" Target="../embeddings/oleObject9.bin"/><Relationship Id="rId5" Type="http://schemas.openxmlformats.org/officeDocument/2006/relationships/image" Target="../media/image14.jpeg"/><Relationship Id="rId4" Type="http://schemas.openxmlformats.org/officeDocument/2006/relationships/image" Target="../media/image27.emf"/></Relationships>
</file>

<file path=ppt/slides/_rels/slide49.xml.rels><?xml version="1.0" encoding="UTF-8" standalone="yes"?>
<Relationships xmlns="http://schemas.openxmlformats.org/package/2006/relationships"><Relationship Id="rId8" Type="http://schemas.openxmlformats.org/officeDocument/2006/relationships/image" Target="../media/image31.emf"/><Relationship Id="rId3" Type="http://schemas.openxmlformats.org/officeDocument/2006/relationships/oleObject" Target="../embeddings/oleObject10.bin"/><Relationship Id="rId7" Type="http://schemas.openxmlformats.org/officeDocument/2006/relationships/oleObject" Target="../embeddings/oleObject11.bin"/><Relationship Id="rId2" Type="http://schemas.openxmlformats.org/officeDocument/2006/relationships/slideLayout" Target="../slideLayouts/slideLayout2.xml"/><Relationship Id="rId1" Type="http://schemas.openxmlformats.org/officeDocument/2006/relationships/vmlDrawing" Target="../drawings/vmlDrawing6.vml"/><Relationship Id="rId6" Type="http://schemas.openxmlformats.org/officeDocument/2006/relationships/image" Target="../media/image33.jpeg"/><Relationship Id="rId5" Type="http://schemas.openxmlformats.org/officeDocument/2006/relationships/image" Target="../media/image29.jpeg"/><Relationship Id="rId10" Type="http://schemas.openxmlformats.org/officeDocument/2006/relationships/image" Target="../media/image32.emf"/><Relationship Id="rId4" Type="http://schemas.openxmlformats.org/officeDocument/2006/relationships/image" Target="../media/image30.emf"/><Relationship Id="rId9" Type="http://schemas.openxmlformats.org/officeDocument/2006/relationships/oleObject" Target="../embeddings/oleObject12.bin"/></Relationships>
</file>

<file path=ppt/slides/_rels/slide50.xml.rels><?xml version="1.0" encoding="UTF-8" standalone="yes"?>
<Relationships xmlns="http://schemas.openxmlformats.org/package/2006/relationships"><Relationship Id="rId8" Type="http://schemas.openxmlformats.org/officeDocument/2006/relationships/oleObject" Target="../embeddings/oleObject15.bin"/><Relationship Id="rId3" Type="http://schemas.openxmlformats.org/officeDocument/2006/relationships/oleObject" Target="../embeddings/oleObject13.bin"/><Relationship Id="rId7" Type="http://schemas.openxmlformats.org/officeDocument/2006/relationships/image" Target="../media/image36.emf"/><Relationship Id="rId12" Type="http://schemas.openxmlformats.org/officeDocument/2006/relationships/image" Target="../media/image38.emf"/><Relationship Id="rId2" Type="http://schemas.openxmlformats.org/officeDocument/2006/relationships/slideLayout" Target="../slideLayouts/slideLayout2.xml"/><Relationship Id="rId1" Type="http://schemas.openxmlformats.org/officeDocument/2006/relationships/vmlDrawing" Target="../drawings/vmlDrawing7.vml"/><Relationship Id="rId6" Type="http://schemas.openxmlformats.org/officeDocument/2006/relationships/oleObject" Target="../embeddings/oleObject14.bin"/><Relationship Id="rId11" Type="http://schemas.openxmlformats.org/officeDocument/2006/relationships/oleObject" Target="../embeddings/oleObject17.bin"/><Relationship Id="rId5" Type="http://schemas.openxmlformats.org/officeDocument/2006/relationships/image" Target="../media/image34.jpeg"/><Relationship Id="rId10" Type="http://schemas.openxmlformats.org/officeDocument/2006/relationships/image" Target="../media/image37.emf"/><Relationship Id="rId4" Type="http://schemas.openxmlformats.org/officeDocument/2006/relationships/image" Target="../media/image35.emf"/><Relationship Id="rId9" Type="http://schemas.openxmlformats.org/officeDocument/2006/relationships/oleObject" Target="../embeddings/oleObject16.bin"/></Relationships>
</file>

<file path=ppt/slides/_rels/slide51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18.bin"/><Relationship Id="rId2" Type="http://schemas.openxmlformats.org/officeDocument/2006/relationships/slideLayout" Target="../slideLayouts/slideLayout2.xml"/><Relationship Id="rId1" Type="http://schemas.openxmlformats.org/officeDocument/2006/relationships/vmlDrawing" Target="../drawings/vmlDrawing8.vml"/><Relationship Id="rId5" Type="http://schemas.openxmlformats.org/officeDocument/2006/relationships/image" Target="../media/image34.jpeg"/><Relationship Id="rId4" Type="http://schemas.openxmlformats.org/officeDocument/2006/relationships/image" Target="../media/image39.emf"/></Relationships>
</file>

<file path=ppt/slides/_rels/slide52.xml.rels><?xml version="1.0" encoding="UTF-8" standalone="yes"?>
<Relationships xmlns="http://schemas.openxmlformats.org/package/2006/relationships"><Relationship Id="rId3" Type="http://schemas.openxmlformats.org/officeDocument/2006/relationships/image" Target="../media/image41.png"/><Relationship Id="rId2" Type="http://schemas.openxmlformats.org/officeDocument/2006/relationships/image" Target="../media/image40.png"/><Relationship Id="rId1" Type="http://schemas.openxmlformats.org/officeDocument/2006/relationships/slideLayout" Target="../slideLayouts/slideLayout2.xml"/></Relationships>
</file>

<file path=ppt/slides/_rels/slide53.xml.rels><?xml version="1.0" encoding="UTF-8" standalone="yes"?>
<Relationships xmlns="http://schemas.openxmlformats.org/package/2006/relationships"><Relationship Id="rId2" Type="http://schemas.openxmlformats.org/officeDocument/2006/relationships/image" Target="../media/image42.jpeg"/><Relationship Id="rId1" Type="http://schemas.openxmlformats.org/officeDocument/2006/relationships/slideLayout" Target="../slideLayouts/slideLayout2.xml"/></Relationships>
</file>

<file path=ppt/slides/_rels/slide54.xml.rels><?xml version="1.0" encoding="UTF-8" standalone="yes"?>
<Relationships xmlns="http://schemas.openxmlformats.org/package/2006/relationships"><Relationship Id="rId2" Type="http://schemas.openxmlformats.org/officeDocument/2006/relationships/image" Target="../media/image42.jpeg"/><Relationship Id="rId1" Type="http://schemas.openxmlformats.org/officeDocument/2006/relationships/slideLayout" Target="../slideLayouts/slideLayout2.xml"/></Relationships>
</file>

<file path=ppt/slides/_rels/slide5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1275714" y="852296"/>
            <a:ext cx="6734809" cy="1367155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2282190" marR="5080" indent="-2269490">
              <a:lnSpc>
                <a:spcPct val="100000"/>
              </a:lnSpc>
              <a:spcBef>
                <a:spcPts val="105"/>
              </a:spcBef>
            </a:pPr>
            <a:r>
              <a:rPr sz="4400" spc="-25" dirty="0"/>
              <a:t>KOMBINASI, </a:t>
            </a:r>
            <a:r>
              <a:rPr sz="4400" spc="-40" dirty="0"/>
              <a:t>PERMUTASI </a:t>
            </a:r>
            <a:r>
              <a:rPr sz="4400" spc="-15" dirty="0"/>
              <a:t>DAN  </a:t>
            </a:r>
            <a:r>
              <a:rPr sz="4400" spc="-30" dirty="0"/>
              <a:t>PELUANG</a:t>
            </a:r>
            <a:endParaRPr sz="4400"/>
          </a:p>
        </p:txBody>
      </p:sp>
      <p:sp>
        <p:nvSpPr>
          <p:cNvPr id="3" name="object 3"/>
          <p:cNvSpPr txBox="1"/>
          <p:nvPr/>
        </p:nvSpPr>
        <p:spPr>
          <a:xfrm>
            <a:off x="947418" y="5029200"/>
            <a:ext cx="7391400" cy="604010"/>
          </a:xfrm>
          <a:prstGeom prst="rect">
            <a:avLst/>
          </a:prstGeom>
        </p:spPr>
        <p:txBody>
          <a:bodyPr vert="horz" wrap="square" lIns="0" tIns="110489" rIns="0" bIns="0" rtlCol="0">
            <a:spAutoFit/>
          </a:bodyPr>
          <a:lstStyle/>
          <a:p>
            <a:pPr marL="1905" algn="ctr">
              <a:lnSpc>
                <a:spcPct val="100000"/>
              </a:lnSpc>
              <a:spcBef>
                <a:spcPts val="869"/>
              </a:spcBef>
            </a:pPr>
            <a:r>
              <a:rPr lang="en-US" sz="3200" spc="-15" dirty="0" err="1">
                <a:latin typeface="Calibri"/>
                <a:cs typeface="Calibri"/>
              </a:rPr>
              <a:t>Mera</a:t>
            </a:r>
            <a:r>
              <a:rPr lang="en-US" sz="3200" spc="-15" dirty="0">
                <a:latin typeface="Calibri"/>
                <a:cs typeface="Calibri"/>
              </a:rPr>
              <a:t> Kartika </a:t>
            </a:r>
            <a:r>
              <a:rPr lang="en-US" sz="3200" spc="-15" dirty="0" err="1">
                <a:latin typeface="Calibri"/>
                <a:cs typeface="Calibri"/>
              </a:rPr>
              <a:t>Delimayanti</a:t>
            </a:r>
            <a:r>
              <a:rPr lang="en-US" sz="3200" spc="-15" dirty="0">
                <a:latin typeface="Calibri"/>
                <a:cs typeface="Calibri"/>
              </a:rPr>
              <a:t>, </a:t>
            </a:r>
            <a:r>
              <a:rPr lang="en-US" sz="3200" spc="-15" dirty="0" err="1">
                <a:latin typeface="Calibri"/>
                <a:cs typeface="Calibri"/>
              </a:rPr>
              <a:t>S.Si</a:t>
            </a:r>
            <a:r>
              <a:rPr lang="en-US" sz="3200" spc="-15" dirty="0">
                <a:latin typeface="Calibri"/>
                <a:cs typeface="Calibri"/>
              </a:rPr>
              <a:t>, M.T., </a:t>
            </a:r>
            <a:r>
              <a:rPr lang="en-US" sz="3200" spc="-15" dirty="0" err="1">
                <a:latin typeface="Calibri"/>
                <a:cs typeface="Calibri"/>
              </a:rPr>
              <a:t>Ph.D</a:t>
            </a:r>
            <a:endParaRPr sz="3200" dirty="0">
              <a:latin typeface="Calibri"/>
              <a:cs typeface="Calibri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2769870" y="741934"/>
            <a:ext cx="3605529" cy="63500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4000" spc="-45" dirty="0"/>
              <a:t>POKOK</a:t>
            </a:r>
            <a:r>
              <a:rPr sz="4000" spc="-55" dirty="0"/>
              <a:t> </a:t>
            </a:r>
            <a:r>
              <a:rPr sz="4000" spc="-15" dirty="0"/>
              <a:t>BAHASAN</a:t>
            </a:r>
            <a:endParaRPr sz="4000"/>
          </a:p>
        </p:txBody>
      </p:sp>
      <p:sp>
        <p:nvSpPr>
          <p:cNvPr id="3" name="object 3"/>
          <p:cNvSpPr txBox="1"/>
          <p:nvPr/>
        </p:nvSpPr>
        <p:spPr>
          <a:xfrm>
            <a:off x="1050442" y="2115816"/>
            <a:ext cx="2447290" cy="2585720"/>
          </a:xfrm>
          <a:prstGeom prst="rect">
            <a:avLst/>
          </a:prstGeom>
        </p:spPr>
        <p:txBody>
          <a:bodyPr vert="horz" wrap="square" lIns="0" tIns="85090" rIns="0" bIns="0" rtlCol="0">
            <a:spAutoFit/>
          </a:bodyPr>
          <a:lstStyle/>
          <a:p>
            <a:pPr marL="354965" indent="-342900">
              <a:lnSpc>
                <a:spcPct val="100000"/>
              </a:lnSpc>
              <a:spcBef>
                <a:spcPts val="670"/>
              </a:spcBef>
              <a:buClr>
                <a:srgbClr val="000000"/>
              </a:buClr>
              <a:buFont typeface="Arial"/>
              <a:buChar char="•"/>
              <a:tabLst>
                <a:tab pos="354965" algn="l"/>
                <a:tab pos="355600" algn="l"/>
              </a:tabLst>
            </a:pPr>
            <a:r>
              <a:rPr sz="2400" u="heavy" spc="-15" dirty="0">
                <a:solidFill>
                  <a:srgbClr val="0000FF"/>
                </a:solidFill>
                <a:uFill>
                  <a:solidFill>
                    <a:srgbClr val="0000FF"/>
                  </a:solidFill>
                </a:uFill>
                <a:latin typeface="Calibri"/>
                <a:cs typeface="Calibri"/>
              </a:rPr>
              <a:t>Faktorial</a:t>
            </a:r>
            <a:endParaRPr sz="2400">
              <a:latin typeface="Calibri"/>
              <a:cs typeface="Calibri"/>
            </a:endParaRPr>
          </a:p>
          <a:p>
            <a:pPr marL="354965" indent="-342900">
              <a:lnSpc>
                <a:spcPct val="100000"/>
              </a:lnSpc>
              <a:spcBef>
                <a:spcPts val="580"/>
              </a:spcBef>
              <a:buClr>
                <a:srgbClr val="000000"/>
              </a:buClr>
              <a:buFont typeface="Arial"/>
              <a:buChar char="•"/>
              <a:tabLst>
                <a:tab pos="354965" algn="l"/>
                <a:tab pos="355600" algn="l"/>
              </a:tabLst>
            </a:pPr>
            <a:r>
              <a:rPr sz="2400" u="heavy" spc="-10" dirty="0">
                <a:solidFill>
                  <a:srgbClr val="0000FF"/>
                </a:solidFill>
                <a:uFill>
                  <a:solidFill>
                    <a:srgbClr val="0000FF"/>
                  </a:solidFill>
                </a:uFill>
                <a:latin typeface="Calibri"/>
                <a:cs typeface="Calibri"/>
              </a:rPr>
              <a:t>Diagram</a:t>
            </a:r>
            <a:r>
              <a:rPr sz="2400" u="heavy" spc="-50" dirty="0">
                <a:solidFill>
                  <a:srgbClr val="0000FF"/>
                </a:solidFill>
                <a:uFill>
                  <a:solidFill>
                    <a:srgbClr val="0000FF"/>
                  </a:solidFill>
                </a:uFill>
                <a:latin typeface="Calibri"/>
                <a:cs typeface="Calibri"/>
              </a:rPr>
              <a:t> </a:t>
            </a:r>
            <a:r>
              <a:rPr sz="2400" u="heavy" spc="-15" dirty="0">
                <a:solidFill>
                  <a:srgbClr val="0000FF"/>
                </a:solidFill>
                <a:uFill>
                  <a:solidFill>
                    <a:srgbClr val="0000FF"/>
                  </a:solidFill>
                </a:uFill>
                <a:latin typeface="Calibri"/>
                <a:cs typeface="Calibri"/>
              </a:rPr>
              <a:t>Pohon</a:t>
            </a:r>
            <a:endParaRPr sz="2400">
              <a:latin typeface="Calibri"/>
              <a:cs typeface="Calibri"/>
            </a:endParaRPr>
          </a:p>
          <a:p>
            <a:pPr marL="354965" marR="5080" indent="-342900">
              <a:lnSpc>
                <a:spcPct val="100000"/>
              </a:lnSpc>
              <a:spcBef>
                <a:spcPts val="575"/>
              </a:spcBef>
              <a:buClr>
                <a:srgbClr val="000000"/>
              </a:buClr>
              <a:buFont typeface="Arial"/>
              <a:buChar char="•"/>
              <a:tabLst>
                <a:tab pos="354965" algn="l"/>
                <a:tab pos="355600" algn="l"/>
              </a:tabLst>
            </a:pPr>
            <a:r>
              <a:rPr sz="2400" u="heavy" spc="-20" dirty="0">
                <a:solidFill>
                  <a:srgbClr val="0000FF"/>
                </a:solidFill>
                <a:uFill>
                  <a:solidFill>
                    <a:srgbClr val="0000FF"/>
                  </a:solidFill>
                </a:uFill>
                <a:latin typeface="Calibri"/>
                <a:cs typeface="Calibri"/>
              </a:rPr>
              <a:t>Aturan</a:t>
            </a:r>
            <a:r>
              <a:rPr sz="2400" u="heavy" spc="-70" dirty="0">
                <a:solidFill>
                  <a:srgbClr val="0000FF"/>
                </a:solidFill>
                <a:uFill>
                  <a:solidFill>
                    <a:srgbClr val="0000FF"/>
                  </a:solidFill>
                </a:uFill>
                <a:latin typeface="Calibri"/>
                <a:cs typeface="Calibri"/>
              </a:rPr>
              <a:t> </a:t>
            </a:r>
            <a:r>
              <a:rPr sz="2400" u="heavy" spc="-10" dirty="0">
                <a:solidFill>
                  <a:srgbClr val="0000FF"/>
                </a:solidFill>
                <a:uFill>
                  <a:solidFill>
                    <a:srgbClr val="0000FF"/>
                  </a:solidFill>
                </a:uFill>
                <a:latin typeface="Calibri"/>
                <a:cs typeface="Calibri"/>
              </a:rPr>
              <a:t>Pengisian  </a:t>
            </a:r>
            <a:r>
              <a:rPr sz="2400" u="heavy" spc="-40" dirty="0">
                <a:solidFill>
                  <a:srgbClr val="0000FF"/>
                </a:solidFill>
                <a:uFill>
                  <a:solidFill>
                    <a:srgbClr val="0000FF"/>
                  </a:solidFill>
                </a:uFill>
                <a:latin typeface="Calibri"/>
                <a:cs typeface="Calibri"/>
              </a:rPr>
              <a:t>Tempat</a:t>
            </a:r>
            <a:endParaRPr sz="2400">
              <a:latin typeface="Calibri"/>
              <a:cs typeface="Calibri"/>
            </a:endParaRPr>
          </a:p>
          <a:p>
            <a:pPr marL="354965" indent="-342900">
              <a:lnSpc>
                <a:spcPct val="100000"/>
              </a:lnSpc>
              <a:spcBef>
                <a:spcPts val="575"/>
              </a:spcBef>
              <a:buClr>
                <a:srgbClr val="000000"/>
              </a:buClr>
              <a:buFont typeface="Arial"/>
              <a:buChar char="•"/>
              <a:tabLst>
                <a:tab pos="354965" algn="l"/>
                <a:tab pos="355600" algn="l"/>
              </a:tabLst>
            </a:pPr>
            <a:r>
              <a:rPr sz="2400" u="heavy" spc="-10" dirty="0">
                <a:solidFill>
                  <a:srgbClr val="0000FF"/>
                </a:solidFill>
                <a:uFill>
                  <a:solidFill>
                    <a:srgbClr val="0000FF"/>
                  </a:solidFill>
                </a:uFill>
                <a:latin typeface="Calibri"/>
                <a:cs typeface="Calibri"/>
              </a:rPr>
              <a:t>Permutasi</a:t>
            </a:r>
            <a:endParaRPr sz="2400">
              <a:latin typeface="Calibri"/>
              <a:cs typeface="Calibri"/>
            </a:endParaRPr>
          </a:p>
          <a:p>
            <a:pPr marL="354965" indent="-342900">
              <a:lnSpc>
                <a:spcPct val="100000"/>
              </a:lnSpc>
              <a:spcBef>
                <a:spcPts val="580"/>
              </a:spcBef>
              <a:buClr>
                <a:srgbClr val="000000"/>
              </a:buClr>
              <a:buFont typeface="Arial"/>
              <a:buChar char="•"/>
              <a:tabLst>
                <a:tab pos="354965" algn="l"/>
                <a:tab pos="355600" algn="l"/>
              </a:tabLst>
            </a:pPr>
            <a:r>
              <a:rPr sz="2400" u="heavy" spc="-10" dirty="0">
                <a:solidFill>
                  <a:srgbClr val="0000FF"/>
                </a:solidFill>
                <a:uFill>
                  <a:solidFill>
                    <a:srgbClr val="0000FF"/>
                  </a:solidFill>
                </a:uFill>
                <a:latin typeface="Calibri"/>
                <a:cs typeface="Calibri"/>
              </a:rPr>
              <a:t>Kombinasi</a:t>
            </a:r>
            <a:endParaRPr sz="2400">
              <a:latin typeface="Calibri"/>
              <a:cs typeface="Calibri"/>
            </a:endParaRPr>
          </a:p>
        </p:txBody>
      </p:sp>
      <p:sp>
        <p:nvSpPr>
          <p:cNvPr id="4" name="object 4"/>
          <p:cNvSpPr txBox="1"/>
          <p:nvPr/>
        </p:nvSpPr>
        <p:spPr>
          <a:xfrm>
            <a:off x="1050442" y="1731390"/>
            <a:ext cx="4706620" cy="3911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  <a:tabLst>
                <a:tab pos="3686175" algn="l"/>
              </a:tabLst>
            </a:pPr>
            <a:r>
              <a:rPr sz="2400" b="1" spc="-10" dirty="0">
                <a:latin typeface="Calibri"/>
                <a:cs typeface="Calibri"/>
              </a:rPr>
              <a:t>Kaidah</a:t>
            </a:r>
            <a:r>
              <a:rPr sz="2400" b="1" spc="10" dirty="0">
                <a:latin typeface="Calibri"/>
                <a:cs typeface="Calibri"/>
              </a:rPr>
              <a:t> </a:t>
            </a:r>
            <a:r>
              <a:rPr sz="2400" b="1" spc="-10" dirty="0">
                <a:latin typeface="Calibri"/>
                <a:cs typeface="Calibri"/>
              </a:rPr>
              <a:t>Pencacahan	</a:t>
            </a:r>
            <a:r>
              <a:rPr sz="2400" b="1" spc="-15" dirty="0">
                <a:latin typeface="Calibri"/>
                <a:cs typeface="Calibri"/>
              </a:rPr>
              <a:t>Peluang</a:t>
            </a:r>
            <a:endParaRPr sz="2400">
              <a:latin typeface="Calibri"/>
              <a:cs typeface="Calibri"/>
            </a:endParaRPr>
          </a:p>
        </p:txBody>
      </p:sp>
      <p:sp>
        <p:nvSpPr>
          <p:cNvPr id="5" name="object 5"/>
          <p:cNvSpPr txBox="1"/>
          <p:nvPr/>
        </p:nvSpPr>
        <p:spPr>
          <a:xfrm>
            <a:off x="4724527" y="2188590"/>
            <a:ext cx="3399154" cy="244030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355600" marR="5080" indent="-342900">
              <a:lnSpc>
                <a:spcPct val="100000"/>
              </a:lnSpc>
              <a:spcBef>
                <a:spcPts val="100"/>
              </a:spcBef>
              <a:buClr>
                <a:srgbClr val="000000"/>
              </a:buClr>
              <a:buFont typeface="Arial"/>
              <a:buChar char="•"/>
              <a:tabLst>
                <a:tab pos="354965" algn="l"/>
                <a:tab pos="355600" algn="l"/>
              </a:tabLst>
            </a:pPr>
            <a:r>
              <a:rPr sz="2400" u="heavy" spc="-15" dirty="0">
                <a:solidFill>
                  <a:srgbClr val="0000FF"/>
                </a:solidFill>
                <a:uFill>
                  <a:solidFill>
                    <a:srgbClr val="0000FF"/>
                  </a:solidFill>
                </a:uFill>
                <a:latin typeface="Calibri"/>
                <a:cs typeface="Calibri"/>
              </a:rPr>
              <a:t>Pendekatan</a:t>
            </a:r>
            <a:r>
              <a:rPr sz="2400" u="heavy" spc="-60" dirty="0">
                <a:solidFill>
                  <a:srgbClr val="0000FF"/>
                </a:solidFill>
                <a:uFill>
                  <a:solidFill>
                    <a:srgbClr val="0000FF"/>
                  </a:solidFill>
                </a:uFill>
                <a:latin typeface="Calibri"/>
                <a:cs typeface="Calibri"/>
              </a:rPr>
              <a:t> </a:t>
            </a:r>
            <a:r>
              <a:rPr sz="2400" u="heavy" spc="-15" dirty="0">
                <a:solidFill>
                  <a:srgbClr val="0000FF"/>
                </a:solidFill>
                <a:uFill>
                  <a:solidFill>
                    <a:srgbClr val="0000FF"/>
                  </a:solidFill>
                </a:uFill>
                <a:latin typeface="Calibri"/>
                <a:cs typeface="Calibri"/>
              </a:rPr>
              <a:t>Perhitungan  </a:t>
            </a:r>
            <a:r>
              <a:rPr sz="2400" u="heavy" spc="-10" dirty="0">
                <a:solidFill>
                  <a:srgbClr val="0000FF"/>
                </a:solidFill>
                <a:uFill>
                  <a:solidFill>
                    <a:srgbClr val="0000FF"/>
                  </a:solidFill>
                </a:uFill>
                <a:latin typeface="Calibri"/>
                <a:cs typeface="Calibri"/>
              </a:rPr>
              <a:t>Probabilitas</a:t>
            </a:r>
            <a:endParaRPr sz="2400">
              <a:latin typeface="Calibri"/>
              <a:cs typeface="Calibri"/>
            </a:endParaRPr>
          </a:p>
          <a:p>
            <a:pPr marL="355600" marR="767715" indent="-342900">
              <a:lnSpc>
                <a:spcPct val="100000"/>
              </a:lnSpc>
              <a:spcBef>
                <a:spcPts val="575"/>
              </a:spcBef>
              <a:buClr>
                <a:srgbClr val="000000"/>
              </a:buClr>
              <a:buFont typeface="Arial"/>
              <a:buChar char="•"/>
              <a:tabLst>
                <a:tab pos="354965" algn="l"/>
                <a:tab pos="355600" algn="l"/>
              </a:tabLst>
            </a:pPr>
            <a:r>
              <a:rPr sz="2400" u="heavy" spc="-10" dirty="0">
                <a:solidFill>
                  <a:srgbClr val="0000FF"/>
                </a:solidFill>
                <a:uFill>
                  <a:solidFill>
                    <a:srgbClr val="0000FF"/>
                  </a:solidFill>
                </a:uFill>
                <a:latin typeface="Calibri"/>
                <a:cs typeface="Calibri"/>
              </a:rPr>
              <a:t>Komplemen</a:t>
            </a:r>
            <a:r>
              <a:rPr sz="2400" u="heavy" spc="-70" dirty="0">
                <a:solidFill>
                  <a:srgbClr val="0000FF"/>
                </a:solidFill>
                <a:uFill>
                  <a:solidFill>
                    <a:srgbClr val="0000FF"/>
                  </a:solidFill>
                </a:uFill>
                <a:latin typeface="Calibri"/>
                <a:cs typeface="Calibri"/>
              </a:rPr>
              <a:t> </a:t>
            </a:r>
            <a:r>
              <a:rPr sz="2400" u="heavy" spc="-10" dirty="0">
                <a:solidFill>
                  <a:srgbClr val="0000FF"/>
                </a:solidFill>
                <a:uFill>
                  <a:solidFill>
                    <a:srgbClr val="0000FF"/>
                  </a:solidFill>
                </a:uFill>
                <a:latin typeface="Calibri"/>
                <a:cs typeface="Calibri"/>
              </a:rPr>
              <a:t>Suatu  Kejadian</a:t>
            </a:r>
            <a:endParaRPr sz="2400">
              <a:latin typeface="Calibri"/>
              <a:cs typeface="Calibri"/>
            </a:endParaRPr>
          </a:p>
          <a:p>
            <a:pPr marL="355600" indent="-342900">
              <a:lnSpc>
                <a:spcPct val="100000"/>
              </a:lnSpc>
              <a:spcBef>
                <a:spcPts val="580"/>
              </a:spcBef>
              <a:buClr>
                <a:srgbClr val="000000"/>
              </a:buClr>
              <a:buFont typeface="Arial"/>
              <a:buChar char="•"/>
              <a:tabLst>
                <a:tab pos="354965" algn="l"/>
                <a:tab pos="355600" algn="l"/>
              </a:tabLst>
            </a:pPr>
            <a:r>
              <a:rPr sz="2400" u="heavy" spc="-15" dirty="0">
                <a:solidFill>
                  <a:srgbClr val="0000FF"/>
                </a:solidFill>
                <a:uFill>
                  <a:solidFill>
                    <a:srgbClr val="0000FF"/>
                  </a:solidFill>
                </a:uFill>
                <a:latin typeface="Calibri"/>
                <a:cs typeface="Calibri"/>
              </a:rPr>
              <a:t>Interseksi </a:t>
            </a:r>
            <a:r>
              <a:rPr sz="2400" u="heavy" spc="-5" dirty="0">
                <a:solidFill>
                  <a:srgbClr val="0000FF"/>
                </a:solidFill>
                <a:uFill>
                  <a:solidFill>
                    <a:srgbClr val="0000FF"/>
                  </a:solidFill>
                </a:uFill>
                <a:latin typeface="Calibri"/>
                <a:cs typeface="Calibri"/>
              </a:rPr>
              <a:t>Dua</a:t>
            </a:r>
            <a:r>
              <a:rPr sz="2400" u="heavy" spc="-30" dirty="0">
                <a:solidFill>
                  <a:srgbClr val="0000FF"/>
                </a:solidFill>
                <a:uFill>
                  <a:solidFill>
                    <a:srgbClr val="0000FF"/>
                  </a:solidFill>
                </a:uFill>
                <a:latin typeface="Calibri"/>
                <a:cs typeface="Calibri"/>
              </a:rPr>
              <a:t> </a:t>
            </a:r>
            <a:r>
              <a:rPr sz="2400" u="heavy" spc="-10" dirty="0">
                <a:solidFill>
                  <a:srgbClr val="0000FF"/>
                </a:solidFill>
                <a:uFill>
                  <a:solidFill>
                    <a:srgbClr val="0000FF"/>
                  </a:solidFill>
                </a:uFill>
                <a:latin typeface="Calibri"/>
                <a:cs typeface="Calibri"/>
              </a:rPr>
              <a:t>Kejadian</a:t>
            </a:r>
            <a:endParaRPr sz="2400">
              <a:latin typeface="Calibri"/>
              <a:cs typeface="Calibri"/>
            </a:endParaRPr>
          </a:p>
          <a:p>
            <a:pPr marL="355600" indent="-342900">
              <a:lnSpc>
                <a:spcPct val="100000"/>
              </a:lnSpc>
              <a:spcBef>
                <a:spcPts val="575"/>
              </a:spcBef>
              <a:buClr>
                <a:srgbClr val="000000"/>
              </a:buClr>
              <a:buFont typeface="Arial"/>
              <a:buChar char="•"/>
              <a:tabLst>
                <a:tab pos="354965" algn="l"/>
                <a:tab pos="355600" algn="l"/>
              </a:tabLst>
            </a:pPr>
            <a:r>
              <a:rPr sz="2400" u="heavy" spc="-5" dirty="0">
                <a:solidFill>
                  <a:srgbClr val="0000FF"/>
                </a:solidFill>
                <a:uFill>
                  <a:solidFill>
                    <a:srgbClr val="0000FF"/>
                  </a:solidFill>
                </a:uFill>
                <a:latin typeface="Calibri"/>
                <a:cs typeface="Calibri"/>
              </a:rPr>
              <a:t>Union Dua</a:t>
            </a:r>
            <a:r>
              <a:rPr sz="2400" u="heavy" spc="-25" dirty="0">
                <a:solidFill>
                  <a:srgbClr val="0000FF"/>
                </a:solidFill>
                <a:uFill>
                  <a:solidFill>
                    <a:srgbClr val="0000FF"/>
                  </a:solidFill>
                </a:uFill>
                <a:latin typeface="Calibri"/>
                <a:cs typeface="Calibri"/>
              </a:rPr>
              <a:t> </a:t>
            </a:r>
            <a:r>
              <a:rPr sz="2400" u="heavy" spc="-10" dirty="0">
                <a:solidFill>
                  <a:srgbClr val="0000FF"/>
                </a:solidFill>
                <a:uFill>
                  <a:solidFill>
                    <a:srgbClr val="0000FF"/>
                  </a:solidFill>
                </a:uFill>
                <a:latin typeface="Calibri"/>
                <a:cs typeface="Calibri"/>
              </a:rPr>
              <a:t>Kejadian</a:t>
            </a:r>
            <a:endParaRPr sz="2400">
              <a:latin typeface="Calibri"/>
              <a:cs typeface="Calibri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3670553" y="705992"/>
            <a:ext cx="1801495" cy="63500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4000" spc="-114" dirty="0"/>
              <a:t>F</a:t>
            </a:r>
            <a:r>
              <a:rPr sz="4000" spc="-5" dirty="0"/>
              <a:t>a</a:t>
            </a:r>
            <a:r>
              <a:rPr sz="4000" spc="-30" dirty="0"/>
              <a:t>k</a:t>
            </a:r>
            <a:r>
              <a:rPr sz="4000" spc="-40" dirty="0"/>
              <a:t>t</a:t>
            </a:r>
            <a:r>
              <a:rPr sz="4000" spc="-10" dirty="0"/>
              <a:t>orial</a:t>
            </a:r>
            <a:endParaRPr sz="4000"/>
          </a:p>
        </p:txBody>
      </p:sp>
      <p:sp>
        <p:nvSpPr>
          <p:cNvPr id="3" name="object 3"/>
          <p:cNvSpPr txBox="1"/>
          <p:nvPr/>
        </p:nvSpPr>
        <p:spPr>
          <a:xfrm>
            <a:off x="1219200" y="1676400"/>
            <a:ext cx="6411595" cy="3929379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 marR="5080">
              <a:lnSpc>
                <a:spcPct val="100000"/>
              </a:lnSpc>
              <a:spcBef>
                <a:spcPts val="105"/>
              </a:spcBef>
            </a:pPr>
            <a:r>
              <a:rPr sz="3200" spc="-20" dirty="0">
                <a:latin typeface="Calibri"/>
                <a:cs typeface="Calibri"/>
              </a:rPr>
              <a:t>Faktorial </a:t>
            </a:r>
            <a:r>
              <a:rPr sz="3200" spc="-10" dirty="0">
                <a:latin typeface="Calibri"/>
                <a:cs typeface="Calibri"/>
              </a:rPr>
              <a:t>merupakan </a:t>
            </a:r>
            <a:r>
              <a:rPr sz="3200" spc="-5" dirty="0">
                <a:latin typeface="Calibri"/>
                <a:cs typeface="Calibri"/>
              </a:rPr>
              <a:t>hasil </a:t>
            </a:r>
            <a:r>
              <a:rPr sz="3200" spc="-20" dirty="0">
                <a:latin typeface="Calibri"/>
                <a:cs typeface="Calibri"/>
              </a:rPr>
              <a:t>kali </a:t>
            </a:r>
            <a:r>
              <a:rPr sz="3200" spc="-10" dirty="0">
                <a:latin typeface="Calibri"/>
                <a:cs typeface="Calibri"/>
              </a:rPr>
              <a:t>bilangan  </a:t>
            </a:r>
            <a:r>
              <a:rPr sz="3200" dirty="0">
                <a:latin typeface="Calibri"/>
                <a:cs typeface="Calibri"/>
              </a:rPr>
              <a:t>asli </a:t>
            </a:r>
            <a:r>
              <a:rPr sz="3200" spc="-5" dirty="0">
                <a:latin typeface="Calibri"/>
                <a:cs typeface="Calibri"/>
              </a:rPr>
              <a:t>dari </a:t>
            </a:r>
            <a:r>
              <a:rPr sz="3200" dirty="0">
                <a:latin typeface="Calibri"/>
                <a:cs typeface="Calibri"/>
              </a:rPr>
              <a:t>1 </a:t>
            </a:r>
            <a:r>
              <a:rPr sz="3200" spc="-5" dirty="0">
                <a:latin typeface="Calibri"/>
                <a:cs typeface="Calibri"/>
              </a:rPr>
              <a:t>sampai </a:t>
            </a:r>
            <a:r>
              <a:rPr sz="3200" spc="-15" dirty="0">
                <a:latin typeface="Calibri"/>
                <a:cs typeface="Calibri"/>
              </a:rPr>
              <a:t>dengan</a:t>
            </a:r>
            <a:r>
              <a:rPr sz="3200" spc="50" dirty="0">
                <a:latin typeface="Calibri"/>
                <a:cs typeface="Calibri"/>
              </a:rPr>
              <a:t> </a:t>
            </a:r>
            <a:r>
              <a:rPr sz="3200" dirty="0">
                <a:latin typeface="Calibri"/>
                <a:cs typeface="Calibri"/>
              </a:rPr>
              <a:t>n</a:t>
            </a:r>
          </a:p>
          <a:p>
            <a:pPr marL="12700" marR="879475">
              <a:lnSpc>
                <a:spcPct val="239400"/>
              </a:lnSpc>
              <a:spcBef>
                <a:spcPts val="50"/>
              </a:spcBef>
            </a:pPr>
            <a:r>
              <a:rPr sz="3200" dirty="0">
                <a:latin typeface="Calibri"/>
                <a:cs typeface="Calibri"/>
              </a:rPr>
              <a:t>n! = n (n-1)(n-2)(n-3)…3 </a:t>
            </a:r>
            <a:r>
              <a:rPr sz="3200" spc="-10" dirty="0">
                <a:latin typeface="Calibri"/>
                <a:cs typeface="Calibri"/>
              </a:rPr>
              <a:t>.2.1, </a:t>
            </a:r>
            <a:r>
              <a:rPr sz="3200" spc="-5" dirty="0">
                <a:latin typeface="Calibri"/>
                <a:cs typeface="Calibri"/>
              </a:rPr>
              <a:t>n</a:t>
            </a:r>
            <a:r>
              <a:rPr sz="3200" spc="-5" dirty="0">
                <a:latin typeface="Cambria Math"/>
                <a:cs typeface="Cambria Math"/>
              </a:rPr>
              <a:t>∈</a:t>
            </a:r>
            <a:r>
              <a:rPr sz="3200" spc="-5" dirty="0">
                <a:latin typeface="Calibri"/>
                <a:cs typeface="Calibri"/>
              </a:rPr>
              <a:t>A  </a:t>
            </a:r>
            <a:r>
              <a:rPr sz="3200" dirty="0">
                <a:latin typeface="Calibri"/>
                <a:cs typeface="Calibri"/>
              </a:rPr>
              <a:t>4!=4 </a:t>
            </a:r>
            <a:r>
              <a:rPr sz="3200" spc="-5" dirty="0">
                <a:latin typeface="Calibri"/>
                <a:cs typeface="Calibri"/>
              </a:rPr>
              <a:t>.3 .2</a:t>
            </a:r>
            <a:r>
              <a:rPr sz="3200" spc="-10" dirty="0">
                <a:latin typeface="Calibri"/>
                <a:cs typeface="Calibri"/>
              </a:rPr>
              <a:t> </a:t>
            </a:r>
            <a:r>
              <a:rPr sz="3200" spc="-5" dirty="0">
                <a:latin typeface="Calibri"/>
                <a:cs typeface="Calibri"/>
              </a:rPr>
              <a:t>.1</a:t>
            </a:r>
            <a:endParaRPr sz="3200" dirty="0">
              <a:latin typeface="Calibri"/>
              <a:cs typeface="Calibri"/>
            </a:endParaRPr>
          </a:p>
          <a:p>
            <a:pPr marL="12700">
              <a:lnSpc>
                <a:spcPct val="100000"/>
              </a:lnSpc>
              <a:spcBef>
                <a:spcPts val="770"/>
              </a:spcBef>
            </a:pPr>
            <a:r>
              <a:rPr sz="3200" dirty="0">
                <a:latin typeface="Calibri"/>
                <a:cs typeface="Calibri"/>
              </a:rPr>
              <a:t>5!=5 </a:t>
            </a:r>
            <a:r>
              <a:rPr sz="3200" spc="-5" dirty="0">
                <a:latin typeface="Calibri"/>
                <a:cs typeface="Calibri"/>
              </a:rPr>
              <a:t>.4 .3 .2</a:t>
            </a:r>
            <a:r>
              <a:rPr sz="3200" dirty="0">
                <a:latin typeface="Calibri"/>
                <a:cs typeface="Calibri"/>
              </a:rPr>
              <a:t> </a:t>
            </a:r>
            <a:r>
              <a:rPr sz="3200" spc="-5" dirty="0">
                <a:latin typeface="Calibri"/>
                <a:cs typeface="Calibri"/>
              </a:rPr>
              <a:t>.1</a:t>
            </a:r>
            <a:endParaRPr sz="3200" dirty="0">
              <a:latin typeface="Calibri"/>
              <a:cs typeface="Calibri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2706751" y="598373"/>
            <a:ext cx="3513454" cy="697230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z="4400" spc="-15" dirty="0">
                <a:latin typeface="Calibri"/>
                <a:cs typeface="Calibri"/>
              </a:rPr>
              <a:t>Diagram</a:t>
            </a:r>
            <a:r>
              <a:rPr sz="4400" spc="-70" dirty="0">
                <a:latin typeface="Calibri"/>
                <a:cs typeface="Calibri"/>
              </a:rPr>
              <a:t> </a:t>
            </a:r>
            <a:r>
              <a:rPr sz="4400" spc="-15" dirty="0">
                <a:latin typeface="Calibri"/>
                <a:cs typeface="Calibri"/>
              </a:rPr>
              <a:t>Pohon</a:t>
            </a:r>
            <a:endParaRPr sz="4400">
              <a:latin typeface="Calibri"/>
              <a:cs typeface="Calibri"/>
            </a:endParaRPr>
          </a:p>
        </p:txBody>
      </p:sp>
      <p:sp>
        <p:nvSpPr>
          <p:cNvPr id="3" name="object 3"/>
          <p:cNvSpPr txBox="1"/>
          <p:nvPr/>
        </p:nvSpPr>
        <p:spPr>
          <a:xfrm>
            <a:off x="1050442" y="1607261"/>
            <a:ext cx="6770370" cy="514350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z="3200" spc="-5" dirty="0">
                <a:latin typeface="Calibri"/>
                <a:cs typeface="Calibri"/>
              </a:rPr>
              <a:t>Misal </a:t>
            </a:r>
            <a:r>
              <a:rPr sz="3200" spc="-10" dirty="0">
                <a:latin typeface="Calibri"/>
                <a:cs typeface="Calibri"/>
              </a:rPr>
              <a:t>pelemparan </a:t>
            </a:r>
            <a:r>
              <a:rPr sz="3200" spc="-30" dirty="0">
                <a:latin typeface="Calibri"/>
                <a:cs typeface="Calibri"/>
              </a:rPr>
              <a:t>koin </a:t>
            </a:r>
            <a:r>
              <a:rPr sz="3200" spc="-20" dirty="0">
                <a:latin typeface="Calibri"/>
                <a:cs typeface="Calibri"/>
              </a:rPr>
              <a:t>sebanyak </a:t>
            </a:r>
            <a:r>
              <a:rPr sz="3200" spc="-5" dirty="0">
                <a:latin typeface="Calibri"/>
                <a:cs typeface="Calibri"/>
              </a:rPr>
              <a:t>dua</a:t>
            </a:r>
            <a:r>
              <a:rPr sz="3200" spc="95" dirty="0">
                <a:latin typeface="Calibri"/>
                <a:cs typeface="Calibri"/>
              </a:rPr>
              <a:t> </a:t>
            </a:r>
            <a:r>
              <a:rPr sz="3200" spc="-20" dirty="0">
                <a:latin typeface="Calibri"/>
                <a:cs typeface="Calibri"/>
              </a:rPr>
              <a:t>kali</a:t>
            </a:r>
            <a:endParaRPr sz="3200">
              <a:latin typeface="Calibri"/>
              <a:cs typeface="Calibri"/>
            </a:endParaRPr>
          </a:p>
        </p:txBody>
      </p:sp>
      <p:sp>
        <p:nvSpPr>
          <p:cNvPr id="4" name="object 4"/>
          <p:cNvSpPr/>
          <p:nvPr/>
        </p:nvSpPr>
        <p:spPr>
          <a:xfrm>
            <a:off x="1836420" y="2206751"/>
            <a:ext cx="5759196" cy="3526536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1909064" y="741934"/>
            <a:ext cx="5395595" cy="63500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4000" spc="-20" dirty="0"/>
              <a:t>Diagram </a:t>
            </a:r>
            <a:r>
              <a:rPr sz="4000" spc="-25" dirty="0"/>
              <a:t>Pohon</a:t>
            </a:r>
            <a:r>
              <a:rPr sz="4000" spc="-5" dirty="0"/>
              <a:t> </a:t>
            </a:r>
            <a:r>
              <a:rPr sz="4000" spc="-10" dirty="0"/>
              <a:t>(Lanjutan)</a:t>
            </a:r>
            <a:endParaRPr sz="4000"/>
          </a:p>
        </p:txBody>
      </p:sp>
      <p:sp>
        <p:nvSpPr>
          <p:cNvPr id="3" name="object 3"/>
          <p:cNvSpPr txBox="1"/>
          <p:nvPr/>
        </p:nvSpPr>
        <p:spPr>
          <a:xfrm>
            <a:off x="868476" y="1607261"/>
            <a:ext cx="6518909" cy="3246120"/>
          </a:xfrm>
          <a:prstGeom prst="rect">
            <a:avLst/>
          </a:prstGeom>
        </p:spPr>
        <p:txBody>
          <a:bodyPr vert="horz" wrap="square" lIns="0" tIns="10160" rIns="0" bIns="0" rtlCol="0">
            <a:spAutoFit/>
          </a:bodyPr>
          <a:lstStyle/>
          <a:p>
            <a:pPr marL="50800" marR="43180">
              <a:lnSpc>
                <a:spcPct val="100699"/>
              </a:lnSpc>
              <a:spcBef>
                <a:spcPts val="80"/>
              </a:spcBef>
            </a:pPr>
            <a:r>
              <a:rPr sz="3200" spc="-20" dirty="0">
                <a:latin typeface="Calibri"/>
                <a:cs typeface="Calibri"/>
              </a:rPr>
              <a:t>Banyak </a:t>
            </a:r>
            <a:r>
              <a:rPr sz="3200" spc="-15" dirty="0">
                <a:latin typeface="Calibri"/>
                <a:cs typeface="Calibri"/>
              </a:rPr>
              <a:t>kemungkinan </a:t>
            </a:r>
            <a:r>
              <a:rPr sz="3200" spc="-5" dirty="0">
                <a:latin typeface="Calibri"/>
                <a:cs typeface="Calibri"/>
              </a:rPr>
              <a:t>hasil </a:t>
            </a:r>
            <a:r>
              <a:rPr sz="3200" spc="-10" dirty="0">
                <a:latin typeface="Calibri"/>
                <a:cs typeface="Calibri"/>
              </a:rPr>
              <a:t>pelemparan  </a:t>
            </a:r>
            <a:r>
              <a:rPr sz="3200" spc="-30" dirty="0">
                <a:latin typeface="Calibri"/>
                <a:cs typeface="Calibri"/>
              </a:rPr>
              <a:t>koin </a:t>
            </a:r>
            <a:r>
              <a:rPr sz="3200" spc="-10" dirty="0">
                <a:latin typeface="Calibri"/>
                <a:cs typeface="Calibri"/>
              </a:rPr>
              <a:t>dapat </a:t>
            </a:r>
            <a:r>
              <a:rPr sz="3200" spc="-30" dirty="0">
                <a:latin typeface="Calibri"/>
                <a:cs typeface="Calibri"/>
              </a:rPr>
              <a:t>dinyatakan </a:t>
            </a:r>
            <a:r>
              <a:rPr sz="3200" spc="-15" dirty="0">
                <a:latin typeface="Calibri"/>
                <a:cs typeface="Calibri"/>
              </a:rPr>
              <a:t>dengan</a:t>
            </a:r>
            <a:r>
              <a:rPr sz="3200" spc="145" dirty="0">
                <a:latin typeface="Calibri"/>
                <a:cs typeface="Calibri"/>
              </a:rPr>
              <a:t> </a:t>
            </a:r>
            <a:r>
              <a:rPr sz="3200" spc="20" dirty="0">
                <a:latin typeface="Cambria Math"/>
                <a:cs typeface="Cambria Math"/>
              </a:rPr>
              <a:t>2</a:t>
            </a:r>
            <a:r>
              <a:rPr sz="3525" spc="30" baseline="28368" dirty="0">
                <a:latin typeface="Cambria Math"/>
                <a:cs typeface="Cambria Math"/>
              </a:rPr>
              <a:t>𝑁</a:t>
            </a:r>
            <a:endParaRPr sz="3525" baseline="28368" dirty="0">
              <a:latin typeface="Cambria Math"/>
              <a:cs typeface="Cambria Math"/>
            </a:endParaRPr>
          </a:p>
          <a:p>
            <a:pPr>
              <a:lnSpc>
                <a:spcPct val="100000"/>
              </a:lnSpc>
              <a:spcBef>
                <a:spcPts val="15"/>
              </a:spcBef>
            </a:pPr>
            <a:endParaRPr sz="4550" dirty="0">
              <a:latin typeface="Cambria Math"/>
              <a:cs typeface="Cambria Math"/>
            </a:endParaRPr>
          </a:p>
          <a:p>
            <a:pPr marL="671830" algn="ctr">
              <a:lnSpc>
                <a:spcPct val="100000"/>
              </a:lnSpc>
            </a:pPr>
            <a:r>
              <a:rPr sz="3200" spc="-35" dirty="0">
                <a:latin typeface="Calibri"/>
                <a:cs typeface="Calibri"/>
              </a:rPr>
              <a:t>Atau</a:t>
            </a:r>
            <a:endParaRPr sz="3200" dirty="0">
              <a:latin typeface="Calibri"/>
              <a:cs typeface="Calibri"/>
            </a:endParaRPr>
          </a:p>
          <a:p>
            <a:pPr>
              <a:lnSpc>
                <a:spcPct val="100000"/>
              </a:lnSpc>
              <a:spcBef>
                <a:spcPts val="30"/>
              </a:spcBef>
            </a:pPr>
            <a:endParaRPr sz="3750" dirty="0">
              <a:latin typeface="Calibri"/>
              <a:cs typeface="Calibri"/>
            </a:endParaRPr>
          </a:p>
          <a:p>
            <a:pPr marL="651510" algn="ctr">
              <a:lnSpc>
                <a:spcPct val="100000"/>
              </a:lnSpc>
              <a:spcBef>
                <a:spcPts val="5"/>
              </a:spcBef>
              <a:tabLst>
                <a:tab pos="2919095" algn="l"/>
              </a:tabLst>
            </a:pPr>
            <a:r>
              <a:rPr sz="3200" spc="-10" dirty="0">
                <a:latin typeface="Cambria Math"/>
                <a:cs typeface="Cambria Math"/>
              </a:rPr>
              <a:t>𝑛</a:t>
            </a:r>
            <a:r>
              <a:rPr sz="3525" spc="-15" baseline="-15366" dirty="0">
                <a:latin typeface="Cambria Math"/>
                <a:cs typeface="Cambria Math"/>
              </a:rPr>
              <a:t>1  </a:t>
            </a:r>
            <a:r>
              <a:rPr sz="3200" dirty="0">
                <a:latin typeface="Cambria Math"/>
                <a:cs typeface="Cambria Math"/>
              </a:rPr>
              <a:t>. </a:t>
            </a:r>
            <a:r>
              <a:rPr sz="3200" spc="25" dirty="0">
                <a:latin typeface="Cambria Math"/>
                <a:cs typeface="Cambria Math"/>
              </a:rPr>
              <a:t>𝑛</a:t>
            </a:r>
            <a:r>
              <a:rPr sz="3525" spc="37" baseline="-15366" dirty="0">
                <a:latin typeface="Cambria Math"/>
                <a:cs typeface="Cambria Math"/>
              </a:rPr>
              <a:t>2 </a:t>
            </a:r>
            <a:r>
              <a:rPr sz="3200" dirty="0">
                <a:latin typeface="Cambria Math"/>
                <a:cs typeface="Cambria Math"/>
              </a:rPr>
              <a:t>.</a:t>
            </a:r>
            <a:r>
              <a:rPr sz="3200" spc="-240" dirty="0">
                <a:latin typeface="Cambria Math"/>
                <a:cs typeface="Cambria Math"/>
              </a:rPr>
              <a:t> </a:t>
            </a:r>
            <a:r>
              <a:rPr sz="3200" spc="25" dirty="0">
                <a:latin typeface="Cambria Math"/>
                <a:cs typeface="Cambria Math"/>
              </a:rPr>
              <a:t>𝑛</a:t>
            </a:r>
            <a:r>
              <a:rPr sz="3525" spc="37" baseline="-15366" dirty="0">
                <a:latin typeface="Cambria Math"/>
                <a:cs typeface="Cambria Math"/>
              </a:rPr>
              <a:t>3</a:t>
            </a:r>
            <a:r>
              <a:rPr sz="3525" spc="232" baseline="-15366" dirty="0">
                <a:latin typeface="Cambria Math"/>
                <a:cs typeface="Cambria Math"/>
              </a:rPr>
              <a:t> </a:t>
            </a:r>
            <a:r>
              <a:rPr sz="3200" dirty="0">
                <a:latin typeface="Cambria Math"/>
                <a:cs typeface="Cambria Math"/>
              </a:rPr>
              <a:t>…	</a:t>
            </a:r>
            <a:r>
              <a:rPr sz="3200" spc="80" dirty="0">
                <a:latin typeface="Cambria Math"/>
                <a:cs typeface="Cambria Math"/>
              </a:rPr>
              <a:t>𝑛</a:t>
            </a:r>
            <a:r>
              <a:rPr sz="3525" spc="120" baseline="-15366" dirty="0">
                <a:latin typeface="Cambria Math"/>
                <a:cs typeface="Cambria Math"/>
              </a:rPr>
              <a:t>𝑛</a:t>
            </a:r>
            <a:endParaRPr sz="3525" baseline="-15366" dirty="0">
              <a:latin typeface="Cambria Math"/>
              <a:cs typeface="Cambria Math"/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1742313" y="635000"/>
            <a:ext cx="5668645" cy="696595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z="4400" spc="-30" dirty="0"/>
              <a:t>Aturan </a:t>
            </a:r>
            <a:r>
              <a:rPr sz="4400" spc="-5" dirty="0"/>
              <a:t>Pengisian</a:t>
            </a:r>
            <a:r>
              <a:rPr sz="4400" spc="-50" dirty="0"/>
              <a:t> </a:t>
            </a:r>
            <a:r>
              <a:rPr sz="4400" spc="-70" dirty="0"/>
              <a:t>Tempat</a:t>
            </a:r>
            <a:endParaRPr sz="4400"/>
          </a:p>
        </p:txBody>
      </p:sp>
      <p:sp>
        <p:nvSpPr>
          <p:cNvPr id="3" name="object 3"/>
          <p:cNvSpPr txBox="1"/>
          <p:nvPr/>
        </p:nvSpPr>
        <p:spPr>
          <a:xfrm>
            <a:off x="1012342" y="1607261"/>
            <a:ext cx="7035165" cy="4221480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50800" marR="584200">
              <a:lnSpc>
                <a:spcPct val="100000"/>
              </a:lnSpc>
              <a:spcBef>
                <a:spcPts val="105"/>
              </a:spcBef>
            </a:pPr>
            <a:r>
              <a:rPr sz="3200" spc="-5" dirty="0">
                <a:latin typeface="Calibri"/>
                <a:cs typeface="Calibri"/>
              </a:rPr>
              <a:t>Misal </a:t>
            </a:r>
            <a:r>
              <a:rPr sz="3200" spc="-25" dirty="0">
                <a:latin typeface="Calibri"/>
                <a:cs typeface="Calibri"/>
              </a:rPr>
              <a:t>cara </a:t>
            </a:r>
            <a:r>
              <a:rPr sz="3200" spc="-5" dirty="0">
                <a:latin typeface="Calibri"/>
                <a:cs typeface="Calibri"/>
              </a:rPr>
              <a:t>memasangkan </a:t>
            </a:r>
            <a:r>
              <a:rPr sz="3200" dirty="0">
                <a:latin typeface="Calibri"/>
                <a:cs typeface="Calibri"/>
              </a:rPr>
              <a:t>3 </a:t>
            </a:r>
            <a:r>
              <a:rPr sz="3200" spc="-5" dirty="0">
                <a:latin typeface="Calibri"/>
                <a:cs typeface="Calibri"/>
              </a:rPr>
              <a:t>warna baju  (merah,kuning,hijau) dan </a:t>
            </a:r>
            <a:r>
              <a:rPr sz="3200" dirty="0">
                <a:latin typeface="Calibri"/>
                <a:cs typeface="Calibri"/>
              </a:rPr>
              <a:t>2 celana  </a:t>
            </a:r>
            <a:r>
              <a:rPr sz="3200" spc="-5" dirty="0">
                <a:latin typeface="Calibri"/>
                <a:cs typeface="Calibri"/>
              </a:rPr>
              <a:t>(putih,biru).</a:t>
            </a:r>
            <a:endParaRPr sz="3200">
              <a:latin typeface="Calibri"/>
              <a:cs typeface="Calibri"/>
            </a:endParaRPr>
          </a:p>
          <a:p>
            <a:pPr>
              <a:lnSpc>
                <a:spcPct val="100000"/>
              </a:lnSpc>
              <a:spcBef>
                <a:spcPts val="10"/>
              </a:spcBef>
            </a:pPr>
            <a:endParaRPr sz="4400">
              <a:latin typeface="Calibri"/>
              <a:cs typeface="Calibri"/>
            </a:endParaRPr>
          </a:p>
          <a:p>
            <a:pPr marL="50800" marR="43180">
              <a:lnSpc>
                <a:spcPct val="100000"/>
              </a:lnSpc>
              <a:tabLst>
                <a:tab pos="895350" algn="l"/>
              </a:tabLst>
            </a:pPr>
            <a:r>
              <a:rPr sz="3200" spc="-20" dirty="0">
                <a:latin typeface="Calibri"/>
                <a:cs typeface="Calibri"/>
              </a:rPr>
              <a:t>Banyak </a:t>
            </a:r>
            <a:r>
              <a:rPr sz="3200" spc="-10" dirty="0">
                <a:latin typeface="Calibri"/>
                <a:cs typeface="Calibri"/>
              </a:rPr>
              <a:t>pasangan </a:t>
            </a:r>
            <a:r>
              <a:rPr sz="3200" spc="-5" dirty="0">
                <a:latin typeface="Calibri"/>
                <a:cs typeface="Calibri"/>
              </a:rPr>
              <a:t>baju dan </a:t>
            </a:r>
            <a:r>
              <a:rPr sz="3200" dirty="0">
                <a:latin typeface="Calibri"/>
                <a:cs typeface="Calibri"/>
              </a:rPr>
              <a:t>celana ada </a:t>
            </a:r>
            <a:r>
              <a:rPr sz="3200" dirty="0">
                <a:latin typeface="Cambria Math"/>
                <a:cs typeface="Cambria Math"/>
              </a:rPr>
              <a:t>3 ×  2</a:t>
            </a:r>
            <a:r>
              <a:rPr sz="3200" spc="185" dirty="0">
                <a:latin typeface="Cambria Math"/>
                <a:cs typeface="Cambria Math"/>
              </a:rPr>
              <a:t> </a:t>
            </a:r>
            <a:r>
              <a:rPr sz="3200" dirty="0">
                <a:latin typeface="Cambria Math"/>
                <a:cs typeface="Cambria Math"/>
              </a:rPr>
              <a:t>=	6</a:t>
            </a:r>
            <a:r>
              <a:rPr sz="3200" spc="5" dirty="0">
                <a:latin typeface="Cambria Math"/>
                <a:cs typeface="Cambria Math"/>
              </a:rPr>
              <a:t> </a:t>
            </a:r>
            <a:r>
              <a:rPr sz="3200" spc="10" dirty="0">
                <a:latin typeface="Cambria Math"/>
                <a:cs typeface="Cambria Math"/>
              </a:rPr>
              <a:t>𝑐𝑎𝑟𝑎.</a:t>
            </a:r>
            <a:endParaRPr sz="3200">
              <a:latin typeface="Cambria Math"/>
              <a:cs typeface="Cambria Math"/>
            </a:endParaRPr>
          </a:p>
          <a:p>
            <a:pPr marL="1335405">
              <a:lnSpc>
                <a:spcPct val="100000"/>
              </a:lnSpc>
              <a:spcBef>
                <a:spcPts val="770"/>
              </a:spcBef>
            </a:pPr>
            <a:r>
              <a:rPr sz="3200" spc="-20" dirty="0">
                <a:latin typeface="Calibri"/>
                <a:cs typeface="Calibri"/>
              </a:rPr>
              <a:t>Banyak cara</a:t>
            </a:r>
            <a:r>
              <a:rPr sz="3200" spc="-5" dirty="0">
                <a:latin typeface="Calibri"/>
                <a:cs typeface="Calibri"/>
              </a:rPr>
              <a:t> memasangkan</a:t>
            </a:r>
            <a:endParaRPr sz="3200">
              <a:latin typeface="Calibri"/>
              <a:cs typeface="Calibri"/>
            </a:endParaRPr>
          </a:p>
          <a:p>
            <a:pPr marL="62230" algn="ctr">
              <a:lnSpc>
                <a:spcPct val="100000"/>
              </a:lnSpc>
              <a:tabLst>
                <a:tab pos="2329815" algn="l"/>
              </a:tabLst>
            </a:pPr>
            <a:r>
              <a:rPr sz="3200" spc="-10" dirty="0">
                <a:latin typeface="Cambria Math"/>
                <a:cs typeface="Cambria Math"/>
              </a:rPr>
              <a:t>𝑛</a:t>
            </a:r>
            <a:r>
              <a:rPr sz="3525" spc="-15" baseline="-15366" dirty="0">
                <a:latin typeface="Cambria Math"/>
                <a:cs typeface="Cambria Math"/>
              </a:rPr>
              <a:t>1  </a:t>
            </a:r>
            <a:r>
              <a:rPr sz="3200" dirty="0">
                <a:latin typeface="Cambria Math"/>
                <a:cs typeface="Cambria Math"/>
              </a:rPr>
              <a:t>. </a:t>
            </a:r>
            <a:r>
              <a:rPr sz="3200" spc="25" dirty="0">
                <a:latin typeface="Cambria Math"/>
                <a:cs typeface="Cambria Math"/>
              </a:rPr>
              <a:t>𝑛</a:t>
            </a:r>
            <a:r>
              <a:rPr sz="3525" spc="37" baseline="-15366" dirty="0">
                <a:latin typeface="Cambria Math"/>
                <a:cs typeface="Cambria Math"/>
              </a:rPr>
              <a:t>2 </a:t>
            </a:r>
            <a:r>
              <a:rPr sz="3200" dirty="0">
                <a:latin typeface="Cambria Math"/>
                <a:cs typeface="Cambria Math"/>
              </a:rPr>
              <a:t>.</a:t>
            </a:r>
            <a:r>
              <a:rPr sz="3200" spc="-240" dirty="0">
                <a:latin typeface="Cambria Math"/>
                <a:cs typeface="Cambria Math"/>
              </a:rPr>
              <a:t> </a:t>
            </a:r>
            <a:r>
              <a:rPr sz="3200" spc="25" dirty="0">
                <a:latin typeface="Cambria Math"/>
                <a:cs typeface="Cambria Math"/>
              </a:rPr>
              <a:t>𝑛</a:t>
            </a:r>
            <a:r>
              <a:rPr sz="3525" spc="37" baseline="-15366" dirty="0">
                <a:latin typeface="Cambria Math"/>
                <a:cs typeface="Cambria Math"/>
              </a:rPr>
              <a:t>3</a:t>
            </a:r>
            <a:r>
              <a:rPr sz="3525" spc="209" baseline="-15366" dirty="0">
                <a:latin typeface="Cambria Math"/>
                <a:cs typeface="Cambria Math"/>
              </a:rPr>
              <a:t> </a:t>
            </a:r>
            <a:r>
              <a:rPr sz="3200" dirty="0">
                <a:latin typeface="Cambria Math"/>
                <a:cs typeface="Cambria Math"/>
              </a:rPr>
              <a:t>…	</a:t>
            </a:r>
            <a:r>
              <a:rPr sz="3200" spc="80" dirty="0">
                <a:latin typeface="Cambria Math"/>
                <a:cs typeface="Cambria Math"/>
              </a:rPr>
              <a:t>𝑛</a:t>
            </a:r>
            <a:r>
              <a:rPr sz="3525" spc="120" baseline="-15366" dirty="0">
                <a:latin typeface="Cambria Math"/>
                <a:cs typeface="Cambria Math"/>
              </a:rPr>
              <a:t>𝑛</a:t>
            </a:r>
            <a:endParaRPr sz="3525" baseline="-15366">
              <a:latin typeface="Cambria Math"/>
              <a:cs typeface="Cambria Math"/>
            </a:endParaRPr>
          </a:p>
        </p:txBody>
      </p:sp>
      <p:graphicFrame>
        <p:nvGraphicFramePr>
          <p:cNvPr id="4" name="object 4"/>
          <p:cNvGraphicFramePr>
            <a:graphicFrameLocks noGrp="1"/>
          </p:cNvGraphicFramePr>
          <p:nvPr/>
        </p:nvGraphicFramePr>
        <p:xfrm>
          <a:off x="3413505" y="2558542"/>
          <a:ext cx="4392295" cy="1050035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213995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25234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558165">
                <a:tc>
                  <a:txBody>
                    <a:bodyPr/>
                    <a:lstStyle/>
                    <a:p>
                      <a:pPr marL="457200" algn="ctr">
                        <a:lnSpc>
                          <a:spcPct val="100000"/>
                        </a:lnSpc>
                        <a:spcBef>
                          <a:spcPts val="105"/>
                        </a:spcBef>
                      </a:pPr>
                      <a:r>
                        <a:rPr sz="2800" b="1" spc="-5" dirty="0">
                          <a:solidFill>
                            <a:srgbClr val="FFFFFF"/>
                          </a:solidFill>
                          <a:latin typeface="Calibri"/>
                          <a:cs typeface="Calibri"/>
                        </a:rPr>
                        <a:t>Baju</a:t>
                      </a:r>
                      <a:endParaRPr sz="2800">
                        <a:latin typeface="Calibri"/>
                        <a:cs typeface="Calibri"/>
                      </a:endParaRPr>
                    </a:p>
                  </a:txBody>
                  <a:tcPr marL="0" marR="0" marT="13335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38100">
                      <a:solidFill>
                        <a:srgbClr val="FFFFFF"/>
                      </a:solidFill>
                      <a:prstDash val="solid"/>
                    </a:lnB>
                    <a:solidFill>
                      <a:srgbClr val="4F81BC"/>
                    </a:solidFill>
                  </a:tcPr>
                </a:tc>
                <a:tc>
                  <a:txBody>
                    <a:bodyPr/>
                    <a:lstStyle/>
                    <a:p>
                      <a:pPr marL="459740" algn="ctr">
                        <a:lnSpc>
                          <a:spcPct val="100000"/>
                        </a:lnSpc>
                        <a:spcBef>
                          <a:spcPts val="105"/>
                        </a:spcBef>
                      </a:pPr>
                      <a:r>
                        <a:rPr sz="2800" b="1" spc="-10" dirty="0">
                          <a:solidFill>
                            <a:srgbClr val="FFFFFF"/>
                          </a:solidFill>
                          <a:latin typeface="Calibri"/>
                          <a:cs typeface="Calibri"/>
                        </a:rPr>
                        <a:t>Celana</a:t>
                      </a:r>
                      <a:endParaRPr sz="2800">
                        <a:latin typeface="Calibri"/>
                        <a:cs typeface="Calibri"/>
                      </a:endParaRPr>
                    </a:p>
                  </a:txBody>
                  <a:tcPr marL="0" marR="0" marT="13335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38100">
                      <a:solidFill>
                        <a:srgbClr val="FFFFFF"/>
                      </a:solidFill>
                      <a:prstDash val="solid"/>
                    </a:lnB>
                    <a:solidFill>
                      <a:srgbClr val="4F81B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91870">
                <a:tc>
                  <a:txBody>
                    <a:bodyPr/>
                    <a:lstStyle/>
                    <a:p>
                      <a:pPr marL="455295" algn="ctr">
                        <a:lnSpc>
                          <a:spcPct val="100000"/>
                        </a:lnSpc>
                        <a:spcBef>
                          <a:spcPts val="110"/>
                        </a:spcBef>
                      </a:pPr>
                      <a:r>
                        <a:rPr sz="2800" b="1" spc="-5" dirty="0">
                          <a:solidFill>
                            <a:srgbClr val="FFFFFF"/>
                          </a:solidFill>
                          <a:latin typeface="Calibri"/>
                          <a:cs typeface="Calibri"/>
                        </a:rPr>
                        <a:t>3</a:t>
                      </a:r>
                      <a:r>
                        <a:rPr sz="2800" b="1" spc="-20" dirty="0">
                          <a:solidFill>
                            <a:srgbClr val="FFFFFF"/>
                          </a:solidFill>
                          <a:latin typeface="Calibri"/>
                          <a:cs typeface="Calibri"/>
                        </a:rPr>
                        <a:t> </a:t>
                      </a:r>
                      <a:r>
                        <a:rPr sz="2800" b="1" spc="-10" dirty="0">
                          <a:solidFill>
                            <a:srgbClr val="FFFFFF"/>
                          </a:solidFill>
                          <a:latin typeface="Calibri"/>
                          <a:cs typeface="Calibri"/>
                        </a:rPr>
                        <a:t>macam</a:t>
                      </a:r>
                      <a:endParaRPr sz="2800">
                        <a:latin typeface="Calibri"/>
                        <a:cs typeface="Calibri"/>
                      </a:endParaRPr>
                    </a:p>
                  </a:txBody>
                  <a:tcPr marL="0" marR="0" marT="13970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381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4F81BC"/>
                    </a:solidFill>
                  </a:tcPr>
                </a:tc>
                <a:tc>
                  <a:txBody>
                    <a:bodyPr/>
                    <a:lstStyle/>
                    <a:p>
                      <a:pPr marL="457200" algn="ctr">
                        <a:lnSpc>
                          <a:spcPct val="100000"/>
                        </a:lnSpc>
                        <a:spcBef>
                          <a:spcPts val="110"/>
                        </a:spcBef>
                      </a:pPr>
                      <a:r>
                        <a:rPr sz="2800" spc="-5" dirty="0">
                          <a:latin typeface="Calibri"/>
                          <a:cs typeface="Calibri"/>
                        </a:rPr>
                        <a:t>2</a:t>
                      </a:r>
                      <a:r>
                        <a:rPr sz="2800" spc="-15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2800" spc="-10" dirty="0">
                          <a:latin typeface="Calibri"/>
                          <a:cs typeface="Calibri"/>
                        </a:rPr>
                        <a:t>macam</a:t>
                      </a:r>
                      <a:endParaRPr sz="2800">
                        <a:latin typeface="Calibri"/>
                        <a:cs typeface="Calibri"/>
                      </a:endParaRPr>
                    </a:p>
                  </a:txBody>
                  <a:tcPr marL="0" marR="0" marT="13970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381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D0D7E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3521202" y="741934"/>
            <a:ext cx="2101850" cy="63500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4000" spc="-20" dirty="0"/>
              <a:t>Permutasi</a:t>
            </a:r>
            <a:endParaRPr sz="4000"/>
          </a:p>
        </p:txBody>
      </p:sp>
      <p:sp>
        <p:nvSpPr>
          <p:cNvPr id="3" name="object 3"/>
          <p:cNvSpPr txBox="1"/>
          <p:nvPr/>
        </p:nvSpPr>
        <p:spPr>
          <a:xfrm>
            <a:off x="978509" y="1607261"/>
            <a:ext cx="4222115" cy="514350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355600" indent="-343535">
              <a:lnSpc>
                <a:spcPct val="100000"/>
              </a:lnSpc>
              <a:spcBef>
                <a:spcPts val="105"/>
              </a:spcBef>
              <a:buFont typeface="Arial"/>
              <a:buChar char="•"/>
              <a:tabLst>
                <a:tab pos="354965" algn="l"/>
                <a:tab pos="356235" algn="l"/>
              </a:tabLst>
            </a:pPr>
            <a:r>
              <a:rPr sz="3200" spc="-10" dirty="0">
                <a:latin typeface="Calibri"/>
                <a:cs typeface="Calibri"/>
              </a:rPr>
              <a:t>Memperhatikan</a:t>
            </a:r>
            <a:r>
              <a:rPr sz="3200" spc="-55" dirty="0">
                <a:latin typeface="Calibri"/>
                <a:cs typeface="Calibri"/>
              </a:rPr>
              <a:t> </a:t>
            </a:r>
            <a:r>
              <a:rPr sz="3200" spc="-10" dirty="0">
                <a:latin typeface="Calibri"/>
                <a:cs typeface="Calibri"/>
              </a:rPr>
              <a:t>urutan</a:t>
            </a:r>
            <a:endParaRPr sz="3200">
              <a:latin typeface="Calibri"/>
              <a:cs typeface="Calibri"/>
            </a:endParaRPr>
          </a:p>
        </p:txBody>
      </p:sp>
      <p:sp>
        <p:nvSpPr>
          <p:cNvPr id="4" name="object 4"/>
          <p:cNvSpPr txBox="1"/>
          <p:nvPr/>
        </p:nvSpPr>
        <p:spPr>
          <a:xfrm>
            <a:off x="2685669" y="2545207"/>
            <a:ext cx="182880" cy="382270"/>
          </a:xfrm>
          <a:prstGeom prst="rect">
            <a:avLst/>
          </a:prstGeom>
        </p:spPr>
        <p:txBody>
          <a:bodyPr vert="horz" wrap="square" lIns="0" tIns="1143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0"/>
              </a:spcBef>
            </a:pPr>
            <a:r>
              <a:rPr sz="2350" spc="250" dirty="0">
                <a:latin typeface="Cambria Math"/>
                <a:cs typeface="Cambria Math"/>
              </a:rPr>
              <a:t>𝑟</a:t>
            </a:r>
            <a:endParaRPr sz="2350">
              <a:latin typeface="Cambria Math"/>
              <a:cs typeface="Cambria Math"/>
            </a:endParaRPr>
          </a:p>
        </p:txBody>
      </p:sp>
      <p:sp>
        <p:nvSpPr>
          <p:cNvPr id="5" name="object 5"/>
          <p:cNvSpPr txBox="1"/>
          <p:nvPr/>
        </p:nvSpPr>
        <p:spPr>
          <a:xfrm>
            <a:off x="2486532" y="2353182"/>
            <a:ext cx="970280" cy="513715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105"/>
              </a:spcBef>
              <a:tabLst>
                <a:tab pos="627380" algn="l"/>
              </a:tabLst>
            </a:pPr>
            <a:r>
              <a:rPr sz="3200" spc="125" dirty="0">
                <a:latin typeface="Cambria Math"/>
                <a:cs typeface="Cambria Math"/>
              </a:rPr>
              <a:t>𝑃</a:t>
            </a:r>
            <a:r>
              <a:rPr sz="3525" spc="187" baseline="28368" dirty="0">
                <a:latin typeface="Cambria Math"/>
                <a:cs typeface="Cambria Math"/>
              </a:rPr>
              <a:t>𝑛	</a:t>
            </a:r>
            <a:r>
              <a:rPr sz="3200" dirty="0">
                <a:latin typeface="Cambria Math"/>
                <a:cs typeface="Cambria Math"/>
              </a:rPr>
              <a:t>=</a:t>
            </a:r>
            <a:endParaRPr sz="3200">
              <a:latin typeface="Cambria Math"/>
              <a:cs typeface="Cambria Math"/>
            </a:endParaRPr>
          </a:p>
        </p:txBody>
      </p:sp>
      <p:sp>
        <p:nvSpPr>
          <p:cNvPr id="6" name="object 6"/>
          <p:cNvSpPr/>
          <p:nvPr/>
        </p:nvSpPr>
        <p:spPr>
          <a:xfrm>
            <a:off x="3618357" y="2644139"/>
            <a:ext cx="1379220" cy="26034"/>
          </a:xfrm>
          <a:custGeom>
            <a:avLst/>
            <a:gdLst/>
            <a:ahLst/>
            <a:cxnLst/>
            <a:rect l="l" t="t" r="r" b="b"/>
            <a:pathLst>
              <a:path w="1379220" h="26035">
                <a:moveTo>
                  <a:pt x="1379219" y="0"/>
                </a:moveTo>
                <a:lnTo>
                  <a:pt x="0" y="0"/>
                </a:lnTo>
                <a:lnTo>
                  <a:pt x="0" y="25908"/>
                </a:lnTo>
                <a:lnTo>
                  <a:pt x="1379219" y="25908"/>
                </a:lnTo>
                <a:lnTo>
                  <a:pt x="1379219" y="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7" name="object 7"/>
          <p:cNvSpPr txBox="1"/>
          <p:nvPr/>
        </p:nvSpPr>
        <p:spPr>
          <a:xfrm>
            <a:off x="4116704" y="2045335"/>
            <a:ext cx="384810" cy="513715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z="3200" spc="70" dirty="0">
                <a:latin typeface="Cambria Math"/>
                <a:cs typeface="Cambria Math"/>
              </a:rPr>
              <a:t>𝑛</a:t>
            </a:r>
            <a:r>
              <a:rPr sz="3200" dirty="0">
                <a:latin typeface="Cambria Math"/>
                <a:cs typeface="Cambria Math"/>
              </a:rPr>
              <a:t>!</a:t>
            </a:r>
            <a:endParaRPr sz="3200">
              <a:latin typeface="Cambria Math"/>
              <a:cs typeface="Cambria Math"/>
            </a:endParaRPr>
          </a:p>
        </p:txBody>
      </p:sp>
      <p:sp>
        <p:nvSpPr>
          <p:cNvPr id="8" name="object 8"/>
          <p:cNvSpPr txBox="1"/>
          <p:nvPr/>
        </p:nvSpPr>
        <p:spPr>
          <a:xfrm>
            <a:off x="3606165" y="2625979"/>
            <a:ext cx="1407160" cy="513715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z="3200" dirty="0">
                <a:latin typeface="Cambria Math"/>
                <a:cs typeface="Cambria Math"/>
              </a:rPr>
              <a:t>(𝑛 −</a:t>
            </a:r>
            <a:r>
              <a:rPr sz="3200" spc="-15" dirty="0">
                <a:latin typeface="Cambria Math"/>
                <a:cs typeface="Cambria Math"/>
              </a:rPr>
              <a:t> </a:t>
            </a:r>
            <a:r>
              <a:rPr sz="3200" spc="20" dirty="0">
                <a:latin typeface="Cambria Math"/>
                <a:cs typeface="Cambria Math"/>
              </a:rPr>
              <a:t>𝑟)!</a:t>
            </a:r>
            <a:endParaRPr sz="3200">
              <a:latin typeface="Cambria Math"/>
              <a:cs typeface="Cambria Math"/>
            </a:endParaRPr>
          </a:p>
        </p:txBody>
      </p:sp>
      <p:sp>
        <p:nvSpPr>
          <p:cNvPr id="9" name="object 9"/>
          <p:cNvSpPr txBox="1"/>
          <p:nvPr/>
        </p:nvSpPr>
        <p:spPr>
          <a:xfrm>
            <a:off x="5409438" y="2353182"/>
            <a:ext cx="1144905" cy="513715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z="3200" dirty="0">
                <a:latin typeface="Cambria Math"/>
                <a:cs typeface="Cambria Math"/>
              </a:rPr>
              <a:t>, 𝑟 ≤</a:t>
            </a:r>
            <a:r>
              <a:rPr sz="3200" spc="185" dirty="0">
                <a:latin typeface="Cambria Math"/>
                <a:cs typeface="Cambria Math"/>
              </a:rPr>
              <a:t> </a:t>
            </a:r>
            <a:r>
              <a:rPr sz="3200" dirty="0">
                <a:latin typeface="Cambria Math"/>
                <a:cs typeface="Cambria Math"/>
              </a:rPr>
              <a:t>𝑛</a:t>
            </a:r>
            <a:endParaRPr sz="3200">
              <a:latin typeface="Cambria Math"/>
              <a:cs typeface="Cambria Math"/>
            </a:endParaRPr>
          </a:p>
        </p:txBody>
      </p:sp>
      <p:sp>
        <p:nvSpPr>
          <p:cNvPr id="10" name="object 10"/>
          <p:cNvSpPr txBox="1"/>
          <p:nvPr/>
        </p:nvSpPr>
        <p:spPr>
          <a:xfrm>
            <a:off x="2891789" y="3501390"/>
            <a:ext cx="2880360" cy="864235"/>
          </a:xfrm>
          <a:prstGeom prst="rect">
            <a:avLst/>
          </a:prstGeom>
          <a:solidFill>
            <a:srgbClr val="4F81BC"/>
          </a:solidFill>
          <a:ln w="25907">
            <a:solidFill>
              <a:srgbClr val="385D89"/>
            </a:solidFill>
          </a:ln>
        </p:spPr>
        <p:txBody>
          <a:bodyPr vert="horz" wrap="square" lIns="0" tIns="195580" rIns="0" bIns="0" rtlCol="0">
            <a:spAutoFit/>
          </a:bodyPr>
          <a:lstStyle/>
          <a:p>
            <a:pPr marL="572135">
              <a:lnSpc>
                <a:spcPct val="100000"/>
              </a:lnSpc>
              <a:spcBef>
                <a:spcPts val="1540"/>
              </a:spcBef>
            </a:pPr>
            <a:r>
              <a:rPr sz="2800" spc="-15" dirty="0">
                <a:solidFill>
                  <a:srgbClr val="FFFFFF"/>
                </a:solidFill>
                <a:latin typeface="Calibri"/>
                <a:cs typeface="Calibri"/>
              </a:rPr>
              <a:t>Contoh</a:t>
            </a:r>
            <a:r>
              <a:rPr sz="2800" spc="-5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2800" spc="-10" dirty="0">
                <a:solidFill>
                  <a:srgbClr val="FFFFFF"/>
                </a:solidFill>
                <a:latin typeface="Calibri"/>
                <a:cs typeface="Calibri"/>
              </a:rPr>
              <a:t>Soal</a:t>
            </a:r>
            <a:endParaRPr sz="2800">
              <a:latin typeface="Calibri"/>
              <a:cs typeface="Calibri"/>
            </a:endParaRP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1986152" y="635000"/>
            <a:ext cx="5170805" cy="696595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z="4400" spc="-15" dirty="0"/>
              <a:t>Contoh </a:t>
            </a:r>
            <a:r>
              <a:rPr sz="4400" dirty="0"/>
              <a:t>Soal</a:t>
            </a:r>
            <a:r>
              <a:rPr sz="4400" spc="-50" dirty="0"/>
              <a:t> </a:t>
            </a:r>
            <a:r>
              <a:rPr sz="4400" spc="-15" dirty="0"/>
              <a:t>Permutasi</a:t>
            </a:r>
            <a:endParaRPr sz="4400"/>
          </a:p>
        </p:txBody>
      </p:sp>
      <p:sp>
        <p:nvSpPr>
          <p:cNvPr id="3" name="object 3"/>
          <p:cNvSpPr txBox="1"/>
          <p:nvPr/>
        </p:nvSpPr>
        <p:spPr>
          <a:xfrm>
            <a:off x="978509" y="1607261"/>
            <a:ext cx="7239000" cy="3148330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 marR="5080">
              <a:lnSpc>
                <a:spcPct val="100000"/>
              </a:lnSpc>
              <a:spcBef>
                <a:spcPts val="105"/>
              </a:spcBef>
            </a:pPr>
            <a:r>
              <a:rPr sz="3200" spc="-10" dirty="0">
                <a:latin typeface="Calibri"/>
                <a:cs typeface="Calibri"/>
              </a:rPr>
              <a:t>Seorang presiden, wakil presiden, </a:t>
            </a:r>
            <a:r>
              <a:rPr sz="3200" spc="-5" dirty="0">
                <a:latin typeface="Calibri"/>
                <a:cs typeface="Calibri"/>
              </a:rPr>
              <a:t>dan  </a:t>
            </a:r>
            <a:r>
              <a:rPr sz="3200" spc="-10" dirty="0">
                <a:latin typeface="Calibri"/>
                <a:cs typeface="Calibri"/>
              </a:rPr>
              <a:t>bendahara </a:t>
            </a:r>
            <a:r>
              <a:rPr sz="3200" spc="-5" dirty="0">
                <a:latin typeface="Calibri"/>
                <a:cs typeface="Calibri"/>
              </a:rPr>
              <a:t>harus dipilih dari </a:t>
            </a:r>
            <a:r>
              <a:rPr sz="3200" spc="-15" dirty="0">
                <a:latin typeface="Calibri"/>
                <a:cs typeface="Calibri"/>
              </a:rPr>
              <a:t>sekelompok </a:t>
            </a:r>
            <a:r>
              <a:rPr sz="3200" dirty="0">
                <a:latin typeface="Calibri"/>
                <a:cs typeface="Calibri"/>
              </a:rPr>
              <a:t>10  </a:t>
            </a:r>
            <a:r>
              <a:rPr sz="3200" spc="-10" dirty="0">
                <a:latin typeface="Calibri"/>
                <a:cs typeface="Calibri"/>
              </a:rPr>
              <a:t>orang. Berapa </a:t>
            </a:r>
            <a:r>
              <a:rPr sz="3200" spc="-20" dirty="0">
                <a:latin typeface="Calibri"/>
                <a:cs typeface="Calibri"/>
              </a:rPr>
              <a:t>banyak </a:t>
            </a:r>
            <a:r>
              <a:rPr sz="3200" spc="-5" dirty="0">
                <a:latin typeface="Calibri"/>
                <a:cs typeface="Calibri"/>
              </a:rPr>
              <a:t>pilihan </a:t>
            </a:r>
            <a:r>
              <a:rPr sz="3200" spc="-15" dirty="0">
                <a:latin typeface="Calibri"/>
                <a:cs typeface="Calibri"/>
              </a:rPr>
              <a:t>yang </a:t>
            </a:r>
            <a:r>
              <a:rPr sz="3200" spc="-5" dirty="0">
                <a:latin typeface="Calibri"/>
                <a:cs typeface="Calibri"/>
              </a:rPr>
              <a:t>berbeda  </a:t>
            </a:r>
            <a:r>
              <a:rPr sz="3200" spc="-10" dirty="0">
                <a:latin typeface="Calibri"/>
                <a:cs typeface="Calibri"/>
              </a:rPr>
              <a:t>yang</a:t>
            </a:r>
            <a:r>
              <a:rPr sz="3200" spc="-5" dirty="0">
                <a:latin typeface="Calibri"/>
                <a:cs typeface="Calibri"/>
              </a:rPr>
              <a:t> </a:t>
            </a:r>
            <a:r>
              <a:rPr sz="3200" dirty="0">
                <a:latin typeface="Calibri"/>
                <a:cs typeface="Calibri"/>
              </a:rPr>
              <a:t>mungkin?</a:t>
            </a:r>
            <a:endParaRPr sz="3200">
              <a:latin typeface="Calibri"/>
              <a:cs typeface="Calibri"/>
            </a:endParaRPr>
          </a:p>
          <a:p>
            <a:pPr>
              <a:lnSpc>
                <a:spcPct val="100000"/>
              </a:lnSpc>
              <a:spcBef>
                <a:spcPts val="10"/>
              </a:spcBef>
            </a:pPr>
            <a:endParaRPr sz="4400">
              <a:latin typeface="Calibri"/>
              <a:cs typeface="Calibri"/>
            </a:endParaRPr>
          </a:p>
          <a:p>
            <a:pPr marL="12700">
              <a:lnSpc>
                <a:spcPct val="100000"/>
              </a:lnSpc>
            </a:pPr>
            <a:r>
              <a:rPr sz="3200" spc="-5" dirty="0">
                <a:latin typeface="Calibri"/>
                <a:cs typeface="Calibri"/>
              </a:rPr>
              <a:t>Dari </a:t>
            </a:r>
            <a:r>
              <a:rPr sz="3200" dirty="0">
                <a:latin typeface="Calibri"/>
                <a:cs typeface="Calibri"/>
              </a:rPr>
              <a:t>10 </a:t>
            </a:r>
            <a:r>
              <a:rPr sz="3200" spc="-15" dirty="0">
                <a:latin typeface="Calibri"/>
                <a:cs typeface="Calibri"/>
              </a:rPr>
              <a:t>orang </a:t>
            </a:r>
            <a:r>
              <a:rPr sz="3200" spc="-20" dirty="0">
                <a:latin typeface="Calibri"/>
                <a:cs typeface="Calibri"/>
              </a:rPr>
              <a:t>akan </a:t>
            </a:r>
            <a:r>
              <a:rPr sz="3200" spc="-5" dirty="0">
                <a:latin typeface="Calibri"/>
                <a:cs typeface="Calibri"/>
              </a:rPr>
              <a:t>dipilih </a:t>
            </a:r>
            <a:r>
              <a:rPr sz="3200" dirty="0">
                <a:latin typeface="Calibri"/>
                <a:cs typeface="Calibri"/>
              </a:rPr>
              <a:t>3 </a:t>
            </a:r>
            <a:r>
              <a:rPr sz="3200" spc="-15" dirty="0">
                <a:latin typeface="Calibri"/>
                <a:cs typeface="Calibri"/>
              </a:rPr>
              <a:t>orang</a:t>
            </a:r>
            <a:r>
              <a:rPr sz="3200" spc="85" dirty="0">
                <a:latin typeface="Calibri"/>
                <a:cs typeface="Calibri"/>
              </a:rPr>
              <a:t> </a:t>
            </a:r>
            <a:r>
              <a:rPr sz="3200" spc="-10" dirty="0">
                <a:latin typeface="Calibri"/>
                <a:cs typeface="Calibri"/>
              </a:rPr>
              <a:t>berarti</a:t>
            </a:r>
            <a:endParaRPr sz="3200">
              <a:latin typeface="Calibri"/>
              <a:cs typeface="Calibri"/>
            </a:endParaRPr>
          </a:p>
        </p:txBody>
      </p:sp>
      <p:sp>
        <p:nvSpPr>
          <p:cNvPr id="4" name="object 4"/>
          <p:cNvSpPr txBox="1"/>
          <p:nvPr/>
        </p:nvSpPr>
        <p:spPr>
          <a:xfrm>
            <a:off x="1187297" y="5199126"/>
            <a:ext cx="197485" cy="382270"/>
          </a:xfrm>
          <a:prstGeom prst="rect">
            <a:avLst/>
          </a:prstGeom>
        </p:spPr>
        <p:txBody>
          <a:bodyPr vert="horz" wrap="square" lIns="0" tIns="1143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0"/>
              </a:spcBef>
            </a:pPr>
            <a:r>
              <a:rPr sz="2350" spc="50" dirty="0">
                <a:latin typeface="Cambria Math"/>
                <a:cs typeface="Cambria Math"/>
              </a:rPr>
              <a:t>3</a:t>
            </a:r>
            <a:endParaRPr sz="2350">
              <a:latin typeface="Cambria Math"/>
              <a:cs typeface="Cambria Math"/>
            </a:endParaRPr>
          </a:p>
        </p:txBody>
      </p:sp>
      <p:sp>
        <p:nvSpPr>
          <p:cNvPr id="5" name="object 5"/>
          <p:cNvSpPr txBox="1"/>
          <p:nvPr/>
        </p:nvSpPr>
        <p:spPr>
          <a:xfrm>
            <a:off x="953109" y="4839080"/>
            <a:ext cx="1107440" cy="51371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100"/>
              </a:spcBef>
              <a:tabLst>
                <a:tab pos="764540" algn="l"/>
              </a:tabLst>
            </a:pPr>
            <a:r>
              <a:rPr sz="4800" spc="60" baseline="-21701" dirty="0">
                <a:latin typeface="Cambria Math"/>
                <a:cs typeface="Cambria Math"/>
              </a:rPr>
              <a:t>𝑃</a:t>
            </a:r>
            <a:r>
              <a:rPr sz="2350" spc="40" dirty="0">
                <a:latin typeface="Cambria Math"/>
                <a:cs typeface="Cambria Math"/>
              </a:rPr>
              <a:t>10	</a:t>
            </a:r>
            <a:r>
              <a:rPr sz="4800" baseline="-21701" dirty="0">
                <a:latin typeface="Cambria Math"/>
                <a:cs typeface="Cambria Math"/>
              </a:rPr>
              <a:t>=</a:t>
            </a:r>
            <a:endParaRPr sz="4800" baseline="-21701">
              <a:latin typeface="Cambria Math"/>
              <a:cs typeface="Cambria Math"/>
            </a:endParaRPr>
          </a:p>
        </p:txBody>
      </p:sp>
      <p:sp>
        <p:nvSpPr>
          <p:cNvPr id="6" name="object 6"/>
          <p:cNvSpPr/>
          <p:nvPr/>
        </p:nvSpPr>
        <p:spPr>
          <a:xfrm>
            <a:off x="2222373" y="5288279"/>
            <a:ext cx="1062355" cy="26034"/>
          </a:xfrm>
          <a:custGeom>
            <a:avLst/>
            <a:gdLst/>
            <a:ahLst/>
            <a:cxnLst/>
            <a:rect l="l" t="t" r="r" b="b"/>
            <a:pathLst>
              <a:path w="1062354" h="26035">
                <a:moveTo>
                  <a:pt x="1062227" y="0"/>
                </a:moveTo>
                <a:lnTo>
                  <a:pt x="0" y="0"/>
                </a:lnTo>
                <a:lnTo>
                  <a:pt x="0" y="25908"/>
                </a:lnTo>
                <a:lnTo>
                  <a:pt x="1062227" y="25908"/>
                </a:lnTo>
                <a:lnTo>
                  <a:pt x="1062227" y="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7" name="object 7"/>
          <p:cNvSpPr txBox="1"/>
          <p:nvPr/>
        </p:nvSpPr>
        <p:spPr>
          <a:xfrm>
            <a:off x="2527173" y="4869256"/>
            <a:ext cx="455295" cy="382905"/>
          </a:xfrm>
          <a:prstGeom prst="rect">
            <a:avLst/>
          </a:prstGeom>
        </p:spPr>
        <p:txBody>
          <a:bodyPr vert="horz" wrap="square" lIns="0" tIns="1143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0"/>
              </a:spcBef>
            </a:pPr>
            <a:r>
              <a:rPr sz="2350" spc="50" dirty="0">
                <a:latin typeface="Cambria Math"/>
                <a:cs typeface="Cambria Math"/>
              </a:rPr>
              <a:t>10</a:t>
            </a:r>
            <a:r>
              <a:rPr sz="2350" spc="-5" dirty="0">
                <a:latin typeface="Cambria Math"/>
                <a:cs typeface="Cambria Math"/>
              </a:rPr>
              <a:t>!</a:t>
            </a:r>
            <a:endParaRPr sz="2350">
              <a:latin typeface="Cambria Math"/>
              <a:cs typeface="Cambria Math"/>
            </a:endParaRPr>
          </a:p>
        </p:txBody>
      </p:sp>
      <p:sp>
        <p:nvSpPr>
          <p:cNvPr id="8" name="object 8"/>
          <p:cNvSpPr txBox="1"/>
          <p:nvPr/>
        </p:nvSpPr>
        <p:spPr>
          <a:xfrm>
            <a:off x="2210180" y="5311851"/>
            <a:ext cx="1089025" cy="382270"/>
          </a:xfrm>
          <a:prstGeom prst="rect">
            <a:avLst/>
          </a:prstGeom>
        </p:spPr>
        <p:txBody>
          <a:bodyPr vert="horz" wrap="square" lIns="0" tIns="1143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0"/>
              </a:spcBef>
            </a:pPr>
            <a:r>
              <a:rPr sz="2350" spc="-5" dirty="0">
                <a:latin typeface="Cambria Math"/>
                <a:cs typeface="Cambria Math"/>
              </a:rPr>
              <a:t>(</a:t>
            </a:r>
            <a:r>
              <a:rPr sz="2350" spc="50" dirty="0">
                <a:latin typeface="Cambria Math"/>
                <a:cs typeface="Cambria Math"/>
              </a:rPr>
              <a:t>10</a:t>
            </a:r>
            <a:r>
              <a:rPr sz="2350" spc="-55" dirty="0">
                <a:latin typeface="Cambria Math"/>
                <a:cs typeface="Cambria Math"/>
              </a:rPr>
              <a:t>−</a:t>
            </a:r>
            <a:r>
              <a:rPr sz="2350" spc="40" dirty="0">
                <a:latin typeface="Cambria Math"/>
                <a:cs typeface="Cambria Math"/>
              </a:rPr>
              <a:t>3</a:t>
            </a:r>
            <a:r>
              <a:rPr sz="2350" spc="-5" dirty="0">
                <a:latin typeface="Cambria Math"/>
                <a:cs typeface="Cambria Math"/>
              </a:rPr>
              <a:t>)!</a:t>
            </a:r>
            <a:endParaRPr sz="2350">
              <a:latin typeface="Cambria Math"/>
              <a:cs typeface="Cambria Math"/>
            </a:endParaRPr>
          </a:p>
        </p:txBody>
      </p:sp>
      <p:sp>
        <p:nvSpPr>
          <p:cNvPr id="9" name="object 9"/>
          <p:cNvSpPr txBox="1"/>
          <p:nvPr/>
        </p:nvSpPr>
        <p:spPr>
          <a:xfrm>
            <a:off x="3363848" y="4997958"/>
            <a:ext cx="3957320" cy="51371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3200" dirty="0">
                <a:latin typeface="Calibri"/>
                <a:cs typeface="Calibri"/>
              </a:rPr>
              <a:t>= </a:t>
            </a:r>
            <a:r>
              <a:rPr sz="3200" dirty="0">
                <a:latin typeface="Cambria Math"/>
                <a:cs typeface="Cambria Math"/>
              </a:rPr>
              <a:t>10 × 9 × 8 </a:t>
            </a:r>
            <a:r>
              <a:rPr sz="3200" dirty="0">
                <a:latin typeface="Calibri"/>
                <a:cs typeface="Calibri"/>
              </a:rPr>
              <a:t>= </a:t>
            </a:r>
            <a:r>
              <a:rPr sz="3200" spc="-5" dirty="0">
                <a:latin typeface="Calibri"/>
                <a:cs typeface="Calibri"/>
              </a:rPr>
              <a:t>720</a:t>
            </a:r>
            <a:r>
              <a:rPr sz="3200" dirty="0">
                <a:latin typeface="Calibri"/>
                <a:cs typeface="Calibri"/>
              </a:rPr>
              <a:t> </a:t>
            </a:r>
            <a:r>
              <a:rPr sz="3200" spc="-25" dirty="0">
                <a:latin typeface="Calibri"/>
                <a:cs typeface="Calibri"/>
              </a:rPr>
              <a:t>cara</a:t>
            </a:r>
            <a:endParaRPr sz="3200">
              <a:latin typeface="Calibri"/>
              <a:cs typeface="Calibri"/>
            </a:endParaRP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1390269" y="635000"/>
            <a:ext cx="6365875" cy="696595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z="4400" spc="-15" dirty="0"/>
              <a:t>Permutasi </a:t>
            </a:r>
            <a:r>
              <a:rPr sz="4400" dirty="0"/>
              <a:t>Unsur </a:t>
            </a:r>
            <a:r>
              <a:rPr sz="4400" spc="-20" dirty="0"/>
              <a:t>yang</a:t>
            </a:r>
            <a:r>
              <a:rPr sz="4400" spc="-40" dirty="0"/>
              <a:t> </a:t>
            </a:r>
            <a:r>
              <a:rPr sz="4400" dirty="0"/>
              <a:t>Sama</a:t>
            </a:r>
            <a:endParaRPr sz="4400"/>
          </a:p>
        </p:txBody>
      </p:sp>
      <p:sp>
        <p:nvSpPr>
          <p:cNvPr id="3" name="object 3"/>
          <p:cNvSpPr/>
          <p:nvPr/>
        </p:nvSpPr>
        <p:spPr>
          <a:xfrm>
            <a:off x="2962655" y="2156460"/>
            <a:ext cx="3446145" cy="26034"/>
          </a:xfrm>
          <a:custGeom>
            <a:avLst/>
            <a:gdLst/>
            <a:ahLst/>
            <a:cxnLst/>
            <a:rect l="l" t="t" r="r" b="b"/>
            <a:pathLst>
              <a:path w="3446145" h="26035">
                <a:moveTo>
                  <a:pt x="3445764" y="0"/>
                </a:moveTo>
                <a:lnTo>
                  <a:pt x="0" y="0"/>
                </a:lnTo>
                <a:lnTo>
                  <a:pt x="0" y="25907"/>
                </a:lnTo>
                <a:lnTo>
                  <a:pt x="3445764" y="25907"/>
                </a:lnTo>
                <a:lnTo>
                  <a:pt x="3445764" y="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" name="object 4"/>
          <p:cNvSpPr txBox="1"/>
          <p:nvPr/>
        </p:nvSpPr>
        <p:spPr>
          <a:xfrm>
            <a:off x="4494403" y="1556969"/>
            <a:ext cx="384810" cy="514350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z="3200" spc="75" dirty="0">
                <a:latin typeface="Cambria Math"/>
                <a:cs typeface="Cambria Math"/>
              </a:rPr>
              <a:t>𝑛</a:t>
            </a:r>
            <a:r>
              <a:rPr sz="3200" dirty="0">
                <a:latin typeface="Cambria Math"/>
                <a:cs typeface="Cambria Math"/>
              </a:rPr>
              <a:t>!</a:t>
            </a:r>
            <a:endParaRPr sz="3200">
              <a:latin typeface="Cambria Math"/>
              <a:cs typeface="Cambria Math"/>
            </a:endParaRPr>
          </a:p>
        </p:txBody>
      </p:sp>
      <p:sp>
        <p:nvSpPr>
          <p:cNvPr id="5" name="object 5"/>
          <p:cNvSpPr txBox="1"/>
          <p:nvPr/>
        </p:nvSpPr>
        <p:spPr>
          <a:xfrm>
            <a:off x="2925191" y="2138299"/>
            <a:ext cx="3434715" cy="513715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105"/>
              </a:spcBef>
              <a:tabLst>
                <a:tab pos="895985" algn="l"/>
                <a:tab pos="1762760" algn="l"/>
                <a:tab pos="2831465" algn="l"/>
              </a:tabLst>
            </a:pPr>
            <a:r>
              <a:rPr sz="3200" spc="35" dirty="0">
                <a:latin typeface="Cambria Math"/>
                <a:cs typeface="Cambria Math"/>
              </a:rPr>
              <a:t>𝑛</a:t>
            </a:r>
            <a:r>
              <a:rPr sz="3525" spc="52" baseline="-15366" dirty="0">
                <a:latin typeface="Cambria Math"/>
                <a:cs typeface="Cambria Math"/>
              </a:rPr>
              <a:t>1</a:t>
            </a:r>
            <a:r>
              <a:rPr sz="3200" spc="35" dirty="0">
                <a:latin typeface="Cambria Math"/>
                <a:cs typeface="Cambria Math"/>
              </a:rPr>
              <a:t>!</a:t>
            </a:r>
            <a:r>
              <a:rPr sz="3200" dirty="0">
                <a:latin typeface="Cambria Math"/>
                <a:cs typeface="Cambria Math"/>
              </a:rPr>
              <a:t> .	</a:t>
            </a:r>
            <a:r>
              <a:rPr sz="3200" spc="60" dirty="0">
                <a:latin typeface="Cambria Math"/>
                <a:cs typeface="Cambria Math"/>
              </a:rPr>
              <a:t>𝑛</a:t>
            </a:r>
            <a:r>
              <a:rPr sz="3525" spc="89" baseline="-15366" dirty="0">
                <a:latin typeface="Cambria Math"/>
                <a:cs typeface="Cambria Math"/>
              </a:rPr>
              <a:t>2</a:t>
            </a:r>
            <a:r>
              <a:rPr sz="3200" spc="60" dirty="0">
                <a:latin typeface="Cambria Math"/>
                <a:cs typeface="Cambria Math"/>
              </a:rPr>
              <a:t>!</a:t>
            </a:r>
            <a:r>
              <a:rPr sz="3200" dirty="0">
                <a:latin typeface="Cambria Math"/>
                <a:cs typeface="Cambria Math"/>
              </a:rPr>
              <a:t> .	</a:t>
            </a:r>
            <a:r>
              <a:rPr sz="3200" spc="60" dirty="0">
                <a:latin typeface="Cambria Math"/>
                <a:cs typeface="Cambria Math"/>
              </a:rPr>
              <a:t>𝑛</a:t>
            </a:r>
            <a:r>
              <a:rPr sz="3525" spc="89" baseline="-15366" dirty="0">
                <a:latin typeface="Cambria Math"/>
                <a:cs typeface="Cambria Math"/>
              </a:rPr>
              <a:t>3</a:t>
            </a:r>
            <a:r>
              <a:rPr sz="3200" spc="60" dirty="0">
                <a:latin typeface="Cambria Math"/>
                <a:cs typeface="Cambria Math"/>
              </a:rPr>
              <a:t>!</a:t>
            </a:r>
            <a:r>
              <a:rPr sz="3200" spc="-180" dirty="0">
                <a:latin typeface="Cambria Math"/>
                <a:cs typeface="Cambria Math"/>
              </a:rPr>
              <a:t> </a:t>
            </a:r>
            <a:r>
              <a:rPr sz="3200" dirty="0">
                <a:latin typeface="Cambria Math"/>
                <a:cs typeface="Cambria Math"/>
              </a:rPr>
              <a:t>…	</a:t>
            </a:r>
            <a:r>
              <a:rPr sz="3200" spc="110" dirty="0">
                <a:latin typeface="Cambria Math"/>
                <a:cs typeface="Cambria Math"/>
              </a:rPr>
              <a:t>𝑛</a:t>
            </a:r>
            <a:r>
              <a:rPr sz="3525" spc="165" baseline="-15366" dirty="0">
                <a:latin typeface="Cambria Math"/>
                <a:cs typeface="Cambria Math"/>
              </a:rPr>
              <a:t>𝑛</a:t>
            </a:r>
            <a:r>
              <a:rPr sz="3200" spc="110" dirty="0">
                <a:latin typeface="Cambria Math"/>
                <a:cs typeface="Cambria Math"/>
              </a:rPr>
              <a:t>!</a:t>
            </a:r>
            <a:endParaRPr sz="3200">
              <a:latin typeface="Cambria Math"/>
              <a:cs typeface="Cambria Math"/>
            </a:endParaRPr>
          </a:p>
        </p:txBody>
      </p:sp>
      <p:sp>
        <p:nvSpPr>
          <p:cNvPr id="6" name="object 6"/>
          <p:cNvSpPr txBox="1"/>
          <p:nvPr/>
        </p:nvSpPr>
        <p:spPr>
          <a:xfrm>
            <a:off x="2070861" y="1864817"/>
            <a:ext cx="4770120" cy="514350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  <a:tabLst>
                <a:tab pos="4673600" algn="l"/>
              </a:tabLst>
            </a:pPr>
            <a:r>
              <a:rPr sz="3200" spc="5" dirty="0">
                <a:latin typeface="Cambria Math"/>
                <a:cs typeface="Cambria Math"/>
              </a:rPr>
              <a:t>𝑃</a:t>
            </a:r>
            <a:r>
              <a:rPr sz="3200" spc="254" dirty="0">
                <a:latin typeface="Cambria Math"/>
                <a:cs typeface="Cambria Math"/>
              </a:rPr>
              <a:t> </a:t>
            </a:r>
            <a:r>
              <a:rPr sz="3200" dirty="0">
                <a:latin typeface="Cambria Math"/>
                <a:cs typeface="Cambria Math"/>
              </a:rPr>
              <a:t>=	,</a:t>
            </a:r>
            <a:endParaRPr sz="3200">
              <a:latin typeface="Cambria Math"/>
              <a:cs typeface="Cambria Math"/>
            </a:endParaRPr>
          </a:p>
        </p:txBody>
      </p:sp>
      <p:sp>
        <p:nvSpPr>
          <p:cNvPr id="7" name="object 7"/>
          <p:cNvSpPr txBox="1"/>
          <p:nvPr/>
        </p:nvSpPr>
        <p:spPr>
          <a:xfrm>
            <a:off x="843076" y="2702179"/>
            <a:ext cx="6789420" cy="2171065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76200">
              <a:lnSpc>
                <a:spcPct val="100000"/>
              </a:lnSpc>
              <a:spcBef>
                <a:spcPts val="105"/>
              </a:spcBef>
              <a:tabLst>
                <a:tab pos="5716905" algn="l"/>
              </a:tabLst>
            </a:pPr>
            <a:r>
              <a:rPr sz="3200" spc="-5" dirty="0">
                <a:latin typeface="Cambria Math"/>
                <a:cs typeface="Cambria Math"/>
              </a:rPr>
              <a:t>𝑑𝑒𝑛𝑔𝑎𝑛 </a:t>
            </a:r>
            <a:r>
              <a:rPr sz="3200" spc="-10" dirty="0">
                <a:latin typeface="Cambria Math"/>
                <a:cs typeface="Cambria Math"/>
              </a:rPr>
              <a:t>𝑛</a:t>
            </a:r>
            <a:r>
              <a:rPr sz="3525" spc="-15" baseline="-15366" dirty="0">
                <a:latin typeface="Cambria Math"/>
                <a:cs typeface="Cambria Math"/>
              </a:rPr>
              <a:t>1  </a:t>
            </a:r>
            <a:r>
              <a:rPr sz="3200" dirty="0">
                <a:latin typeface="Cambria Math"/>
                <a:cs typeface="Cambria Math"/>
              </a:rPr>
              <a:t>+ </a:t>
            </a:r>
            <a:r>
              <a:rPr sz="3200" spc="25" dirty="0">
                <a:latin typeface="Cambria Math"/>
                <a:cs typeface="Cambria Math"/>
              </a:rPr>
              <a:t>𝑛</a:t>
            </a:r>
            <a:r>
              <a:rPr sz="3525" spc="37" baseline="-15366" dirty="0">
                <a:latin typeface="Cambria Math"/>
                <a:cs typeface="Cambria Math"/>
              </a:rPr>
              <a:t>2 </a:t>
            </a:r>
            <a:r>
              <a:rPr sz="3200" dirty="0">
                <a:latin typeface="Cambria Math"/>
                <a:cs typeface="Cambria Math"/>
              </a:rPr>
              <a:t>+ </a:t>
            </a:r>
            <a:r>
              <a:rPr sz="3200" spc="25" dirty="0">
                <a:latin typeface="Cambria Math"/>
                <a:cs typeface="Cambria Math"/>
              </a:rPr>
              <a:t>𝑛</a:t>
            </a:r>
            <a:r>
              <a:rPr sz="3525" spc="37" baseline="-15366" dirty="0">
                <a:latin typeface="Cambria Math"/>
                <a:cs typeface="Cambria Math"/>
              </a:rPr>
              <a:t>3 </a:t>
            </a:r>
            <a:r>
              <a:rPr sz="3200" dirty="0">
                <a:latin typeface="Cambria Math"/>
                <a:cs typeface="Cambria Math"/>
              </a:rPr>
              <a:t>+ ⋯</a:t>
            </a:r>
            <a:r>
              <a:rPr sz="3200" spc="315" dirty="0">
                <a:latin typeface="Cambria Math"/>
                <a:cs typeface="Cambria Math"/>
              </a:rPr>
              <a:t> </a:t>
            </a:r>
            <a:r>
              <a:rPr sz="3200" dirty="0">
                <a:latin typeface="Cambria Math"/>
                <a:cs typeface="Cambria Math"/>
              </a:rPr>
              <a:t>+ </a:t>
            </a:r>
            <a:r>
              <a:rPr sz="3200" spc="80" dirty="0">
                <a:latin typeface="Cambria Math"/>
                <a:cs typeface="Cambria Math"/>
              </a:rPr>
              <a:t>𝑛</a:t>
            </a:r>
            <a:r>
              <a:rPr sz="3525" spc="120" baseline="-15366" dirty="0">
                <a:latin typeface="Cambria Math"/>
                <a:cs typeface="Cambria Math"/>
              </a:rPr>
              <a:t>𝑛	</a:t>
            </a:r>
            <a:r>
              <a:rPr sz="3200" dirty="0">
                <a:latin typeface="Cambria Math"/>
                <a:cs typeface="Cambria Math"/>
              </a:rPr>
              <a:t>≤</a:t>
            </a:r>
            <a:r>
              <a:rPr sz="3200" spc="165" dirty="0">
                <a:latin typeface="Cambria Math"/>
                <a:cs typeface="Cambria Math"/>
              </a:rPr>
              <a:t> </a:t>
            </a:r>
            <a:r>
              <a:rPr sz="3200" dirty="0">
                <a:latin typeface="Cambria Math"/>
                <a:cs typeface="Cambria Math"/>
              </a:rPr>
              <a:t>𝑛</a:t>
            </a:r>
            <a:endParaRPr sz="3200">
              <a:latin typeface="Cambria Math"/>
              <a:cs typeface="Cambria Math"/>
            </a:endParaRPr>
          </a:p>
          <a:p>
            <a:pPr>
              <a:lnSpc>
                <a:spcPct val="100000"/>
              </a:lnSpc>
            </a:pPr>
            <a:endParaRPr sz="4700">
              <a:latin typeface="Cambria Math"/>
              <a:cs typeface="Cambria Math"/>
            </a:endParaRPr>
          </a:p>
          <a:p>
            <a:pPr marL="76200" marR="55880">
              <a:lnSpc>
                <a:spcPts val="3829"/>
              </a:lnSpc>
            </a:pPr>
            <a:r>
              <a:rPr sz="3200" spc="-10" dirty="0">
                <a:latin typeface="Cambria Math"/>
                <a:cs typeface="Cambria Math"/>
              </a:rPr>
              <a:t>𝑛</a:t>
            </a:r>
            <a:r>
              <a:rPr sz="3525" spc="-15" baseline="-15366" dirty="0">
                <a:latin typeface="Cambria Math"/>
                <a:cs typeface="Cambria Math"/>
              </a:rPr>
              <a:t>1 </a:t>
            </a:r>
            <a:r>
              <a:rPr sz="3200" dirty="0">
                <a:latin typeface="Calibri"/>
                <a:cs typeface="Calibri"/>
              </a:rPr>
              <a:t>, </a:t>
            </a:r>
            <a:r>
              <a:rPr sz="3200" spc="60" dirty="0">
                <a:latin typeface="Cambria Math"/>
                <a:cs typeface="Cambria Math"/>
              </a:rPr>
              <a:t>𝑛</a:t>
            </a:r>
            <a:r>
              <a:rPr sz="3525" spc="89" baseline="-15366" dirty="0">
                <a:latin typeface="Cambria Math"/>
                <a:cs typeface="Cambria Math"/>
              </a:rPr>
              <a:t>2</a:t>
            </a:r>
            <a:r>
              <a:rPr sz="3200" spc="60" dirty="0">
                <a:latin typeface="Calibri"/>
                <a:cs typeface="Calibri"/>
              </a:rPr>
              <a:t>, </a:t>
            </a:r>
            <a:r>
              <a:rPr sz="3200" spc="20" dirty="0">
                <a:latin typeface="Cambria Math"/>
                <a:cs typeface="Cambria Math"/>
              </a:rPr>
              <a:t>𝑛</a:t>
            </a:r>
            <a:r>
              <a:rPr sz="3525" spc="30" baseline="-15366" dirty="0">
                <a:latin typeface="Cambria Math"/>
                <a:cs typeface="Cambria Math"/>
              </a:rPr>
              <a:t>3</a:t>
            </a:r>
            <a:r>
              <a:rPr sz="3200" spc="20" dirty="0">
                <a:latin typeface="Cambria Math"/>
                <a:cs typeface="Cambria Math"/>
              </a:rPr>
              <a:t>,</a:t>
            </a:r>
            <a:r>
              <a:rPr sz="3200" spc="20" dirty="0">
                <a:latin typeface="Calibri"/>
                <a:cs typeface="Calibri"/>
              </a:rPr>
              <a:t>..., </a:t>
            </a:r>
            <a:r>
              <a:rPr sz="3200" spc="80" dirty="0">
                <a:latin typeface="Cambria Math"/>
                <a:cs typeface="Cambria Math"/>
              </a:rPr>
              <a:t>𝑛</a:t>
            </a:r>
            <a:r>
              <a:rPr sz="3525" spc="120" baseline="-15366" dirty="0">
                <a:latin typeface="Cambria Math"/>
                <a:cs typeface="Cambria Math"/>
              </a:rPr>
              <a:t>𝑛 </a:t>
            </a:r>
            <a:r>
              <a:rPr sz="3200" spc="-10" dirty="0">
                <a:latin typeface="Calibri"/>
                <a:cs typeface="Calibri"/>
              </a:rPr>
              <a:t>merupakan </a:t>
            </a:r>
            <a:r>
              <a:rPr sz="3200" spc="-5" dirty="0">
                <a:latin typeface="Calibri"/>
                <a:cs typeface="Calibri"/>
              </a:rPr>
              <a:t>unsur </a:t>
            </a:r>
            <a:r>
              <a:rPr sz="3200" spc="-15" dirty="0">
                <a:latin typeface="Calibri"/>
                <a:cs typeface="Calibri"/>
              </a:rPr>
              <a:t>yang  </a:t>
            </a:r>
            <a:r>
              <a:rPr sz="3200" spc="-5" dirty="0">
                <a:latin typeface="Calibri"/>
                <a:cs typeface="Calibri"/>
              </a:rPr>
              <a:t>sama</a:t>
            </a:r>
            <a:endParaRPr sz="3200">
              <a:latin typeface="Calibri"/>
              <a:cs typeface="Calibri"/>
            </a:endParaRPr>
          </a:p>
        </p:txBody>
      </p:sp>
      <p:sp>
        <p:nvSpPr>
          <p:cNvPr id="8" name="object 8"/>
          <p:cNvSpPr txBox="1"/>
          <p:nvPr/>
        </p:nvSpPr>
        <p:spPr>
          <a:xfrm>
            <a:off x="3132582" y="4725161"/>
            <a:ext cx="2880360" cy="864235"/>
          </a:xfrm>
          <a:prstGeom prst="rect">
            <a:avLst/>
          </a:prstGeom>
          <a:solidFill>
            <a:srgbClr val="4F81BC"/>
          </a:solidFill>
          <a:ln w="25907">
            <a:solidFill>
              <a:srgbClr val="385D89"/>
            </a:solidFill>
          </a:ln>
        </p:spPr>
        <p:txBody>
          <a:bodyPr vert="horz" wrap="square" lIns="0" tIns="196215" rIns="0" bIns="0" rtlCol="0">
            <a:spAutoFit/>
          </a:bodyPr>
          <a:lstStyle/>
          <a:p>
            <a:pPr marL="572770">
              <a:lnSpc>
                <a:spcPct val="100000"/>
              </a:lnSpc>
              <a:spcBef>
                <a:spcPts val="1545"/>
              </a:spcBef>
            </a:pPr>
            <a:r>
              <a:rPr sz="2800" spc="-15" dirty="0">
                <a:solidFill>
                  <a:srgbClr val="FFFFFF"/>
                </a:solidFill>
                <a:latin typeface="Calibri"/>
                <a:cs typeface="Calibri"/>
              </a:rPr>
              <a:t>Contoh</a:t>
            </a:r>
            <a:r>
              <a:rPr sz="2800" spc="-5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2800" spc="-10" dirty="0">
                <a:solidFill>
                  <a:srgbClr val="FFFFFF"/>
                </a:solidFill>
                <a:latin typeface="Calibri"/>
                <a:cs typeface="Calibri"/>
              </a:rPr>
              <a:t>Soal</a:t>
            </a:r>
            <a:endParaRPr sz="2800">
              <a:latin typeface="Calibri"/>
              <a:cs typeface="Calibri"/>
            </a:endParaRP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2996565" marR="5080" indent="-2984500">
              <a:lnSpc>
                <a:spcPct val="100000"/>
              </a:lnSpc>
              <a:spcBef>
                <a:spcPts val="95"/>
              </a:spcBef>
            </a:pPr>
            <a:r>
              <a:rPr sz="4000" spc="-15" dirty="0"/>
              <a:t>Contoh </a:t>
            </a:r>
            <a:r>
              <a:rPr sz="4000" spc="-5" dirty="0"/>
              <a:t>Soal </a:t>
            </a:r>
            <a:r>
              <a:rPr sz="4000" spc="-20" dirty="0"/>
              <a:t>Permutasi </a:t>
            </a:r>
            <a:r>
              <a:rPr sz="4000" spc="-5" dirty="0"/>
              <a:t>Unsur </a:t>
            </a:r>
            <a:r>
              <a:rPr sz="4000" spc="-70" dirty="0"/>
              <a:t>Yang  </a:t>
            </a:r>
            <a:r>
              <a:rPr sz="4000" spc="-10" dirty="0"/>
              <a:t>Sama</a:t>
            </a:r>
            <a:endParaRPr sz="4000"/>
          </a:p>
        </p:txBody>
      </p:sp>
      <p:sp>
        <p:nvSpPr>
          <p:cNvPr id="3" name="object 3"/>
          <p:cNvSpPr txBox="1"/>
          <p:nvPr/>
        </p:nvSpPr>
        <p:spPr>
          <a:xfrm>
            <a:off x="940409" y="1717929"/>
            <a:ext cx="7192009" cy="2921000"/>
          </a:xfrm>
          <a:prstGeom prst="rect">
            <a:avLst/>
          </a:prstGeom>
        </p:spPr>
        <p:txBody>
          <a:bodyPr vert="horz" wrap="square" lIns="0" tIns="85725" rIns="0" bIns="0" rtlCol="0">
            <a:spAutoFit/>
          </a:bodyPr>
          <a:lstStyle/>
          <a:p>
            <a:pPr marL="50800" marR="43180">
              <a:lnSpc>
                <a:spcPts val="2400"/>
              </a:lnSpc>
              <a:spcBef>
                <a:spcPts val="675"/>
              </a:spcBef>
            </a:pPr>
            <a:r>
              <a:rPr sz="2500" spc="-15" dirty="0">
                <a:latin typeface="Calibri"/>
                <a:cs typeface="Calibri"/>
              </a:rPr>
              <a:t>Dengan </a:t>
            </a:r>
            <a:r>
              <a:rPr sz="2500" spc="-10" dirty="0">
                <a:latin typeface="Calibri"/>
                <a:cs typeface="Calibri"/>
              </a:rPr>
              <a:t>berapa </a:t>
            </a:r>
            <a:r>
              <a:rPr sz="2500" spc="-20" dirty="0">
                <a:latin typeface="Calibri"/>
                <a:cs typeface="Calibri"/>
              </a:rPr>
              <a:t>cara </a:t>
            </a:r>
            <a:r>
              <a:rPr sz="2500" spc="-5" dirty="0">
                <a:latin typeface="Calibri"/>
                <a:cs typeface="Calibri"/>
              </a:rPr>
              <a:t>huruf-huruf </a:t>
            </a:r>
            <a:r>
              <a:rPr sz="2500" dirty="0">
                <a:latin typeface="Calibri"/>
                <a:cs typeface="Calibri"/>
              </a:rPr>
              <a:t>dari </a:t>
            </a:r>
            <a:r>
              <a:rPr sz="2500" spc="-30" dirty="0">
                <a:latin typeface="Calibri"/>
                <a:cs typeface="Calibri"/>
              </a:rPr>
              <a:t>kata </a:t>
            </a:r>
            <a:r>
              <a:rPr sz="2500" spc="-65" dirty="0">
                <a:latin typeface="Calibri"/>
                <a:cs typeface="Calibri"/>
              </a:rPr>
              <a:t>“ASA” </a:t>
            </a:r>
            <a:r>
              <a:rPr sz="2500" spc="-10" dirty="0">
                <a:latin typeface="Calibri"/>
                <a:cs typeface="Calibri"/>
              </a:rPr>
              <a:t>dapat  disusun?</a:t>
            </a:r>
            <a:endParaRPr sz="2500">
              <a:latin typeface="Calibri"/>
              <a:cs typeface="Calibri"/>
            </a:endParaRPr>
          </a:p>
          <a:p>
            <a:pPr marL="50800" marR="548640">
              <a:lnSpc>
                <a:spcPct val="200100"/>
              </a:lnSpc>
              <a:spcBef>
                <a:spcPts val="15"/>
              </a:spcBef>
            </a:pPr>
            <a:r>
              <a:rPr sz="2500" spc="-5" dirty="0">
                <a:latin typeface="Calibri"/>
                <a:cs typeface="Calibri"/>
              </a:rPr>
              <a:t>Bila </a:t>
            </a:r>
            <a:r>
              <a:rPr sz="2500" spc="-10" dirty="0">
                <a:latin typeface="Calibri"/>
                <a:cs typeface="Calibri"/>
              </a:rPr>
              <a:t>disusun Satu-satu: AAS, </a:t>
            </a:r>
            <a:r>
              <a:rPr sz="2500" spc="-5" dirty="0">
                <a:latin typeface="Calibri"/>
                <a:cs typeface="Calibri"/>
              </a:rPr>
              <a:t>ASA, </a:t>
            </a:r>
            <a:r>
              <a:rPr sz="2500" spc="-10" dirty="0">
                <a:latin typeface="Calibri"/>
                <a:cs typeface="Calibri"/>
              </a:rPr>
              <a:t>SAA </a:t>
            </a:r>
            <a:r>
              <a:rPr sz="2500" spc="-5" dirty="0">
                <a:latin typeface="Wingdings"/>
                <a:cs typeface="Wingdings"/>
              </a:rPr>
              <a:t></a:t>
            </a:r>
            <a:r>
              <a:rPr sz="2500" spc="-5" dirty="0">
                <a:latin typeface="Times New Roman"/>
                <a:cs typeface="Times New Roman"/>
              </a:rPr>
              <a:t> </a:t>
            </a:r>
            <a:r>
              <a:rPr sz="2500" spc="-5" dirty="0">
                <a:latin typeface="Calibri"/>
                <a:cs typeface="Calibri"/>
              </a:rPr>
              <a:t>ada 3 </a:t>
            </a:r>
            <a:r>
              <a:rPr sz="2500" spc="-20" dirty="0">
                <a:latin typeface="Calibri"/>
                <a:cs typeface="Calibri"/>
              </a:rPr>
              <a:t>cara  </a:t>
            </a:r>
            <a:r>
              <a:rPr sz="2500" spc="-5" dirty="0">
                <a:latin typeface="Calibri"/>
                <a:cs typeface="Calibri"/>
              </a:rPr>
              <a:t>Bila menggunakan rumus</a:t>
            </a:r>
            <a:r>
              <a:rPr sz="2500" spc="35" dirty="0">
                <a:latin typeface="Calibri"/>
                <a:cs typeface="Calibri"/>
              </a:rPr>
              <a:t> </a:t>
            </a:r>
            <a:r>
              <a:rPr sz="2500" spc="-10" dirty="0">
                <a:latin typeface="Calibri"/>
                <a:cs typeface="Calibri"/>
              </a:rPr>
              <a:t>permutasi:</a:t>
            </a:r>
            <a:endParaRPr sz="2500">
              <a:latin typeface="Calibri"/>
              <a:cs typeface="Calibri"/>
            </a:endParaRPr>
          </a:p>
          <a:p>
            <a:pPr marL="50800" marR="43180">
              <a:lnSpc>
                <a:spcPts val="2400"/>
              </a:lnSpc>
              <a:spcBef>
                <a:spcPts val="580"/>
              </a:spcBef>
              <a:tabLst>
                <a:tab pos="1114425" algn="l"/>
                <a:tab pos="1972310" algn="l"/>
                <a:tab pos="3214370" algn="l"/>
                <a:tab pos="4142740" algn="l"/>
                <a:tab pos="4778375" algn="l"/>
                <a:tab pos="5701030" algn="l"/>
                <a:tab pos="6457950" algn="l"/>
              </a:tabLst>
            </a:pPr>
            <a:r>
              <a:rPr sz="2500" spc="-5" dirty="0">
                <a:latin typeface="Calibri"/>
                <a:cs typeface="Calibri"/>
              </a:rPr>
              <a:t>Juml</a:t>
            </a:r>
            <a:r>
              <a:rPr sz="2500" dirty="0">
                <a:latin typeface="Calibri"/>
                <a:cs typeface="Calibri"/>
              </a:rPr>
              <a:t>a</a:t>
            </a:r>
            <a:r>
              <a:rPr sz="2500" spc="-5" dirty="0">
                <a:latin typeface="Calibri"/>
                <a:cs typeface="Calibri"/>
              </a:rPr>
              <a:t>h</a:t>
            </a:r>
            <a:r>
              <a:rPr sz="2500" dirty="0">
                <a:latin typeface="Calibri"/>
                <a:cs typeface="Calibri"/>
              </a:rPr>
              <a:t>	</a:t>
            </a:r>
            <a:r>
              <a:rPr sz="2500" spc="-10" dirty="0">
                <a:latin typeface="Calibri"/>
                <a:cs typeface="Calibri"/>
              </a:rPr>
              <a:t>hu</a:t>
            </a:r>
            <a:r>
              <a:rPr sz="2500" spc="5" dirty="0">
                <a:latin typeface="Calibri"/>
                <a:cs typeface="Calibri"/>
              </a:rPr>
              <a:t>r</a:t>
            </a:r>
            <a:r>
              <a:rPr sz="2500" spc="-10" dirty="0">
                <a:latin typeface="Calibri"/>
                <a:cs typeface="Calibri"/>
              </a:rPr>
              <a:t>u</a:t>
            </a:r>
            <a:r>
              <a:rPr sz="2500" spc="-5" dirty="0">
                <a:latin typeface="Calibri"/>
                <a:cs typeface="Calibri"/>
              </a:rPr>
              <a:t>f</a:t>
            </a:r>
            <a:r>
              <a:rPr sz="2500" dirty="0">
                <a:latin typeface="Calibri"/>
                <a:cs typeface="Calibri"/>
              </a:rPr>
              <a:t>	</a:t>
            </a:r>
            <a:r>
              <a:rPr sz="2500" spc="-25" dirty="0">
                <a:latin typeface="Calibri"/>
                <a:cs typeface="Calibri"/>
              </a:rPr>
              <a:t>t</a:t>
            </a:r>
            <a:r>
              <a:rPr sz="2500" spc="-5" dirty="0">
                <a:latin typeface="Calibri"/>
                <a:cs typeface="Calibri"/>
              </a:rPr>
              <a:t>e</a:t>
            </a:r>
            <a:r>
              <a:rPr sz="2500" spc="-45" dirty="0">
                <a:latin typeface="Calibri"/>
                <a:cs typeface="Calibri"/>
              </a:rPr>
              <a:t>r</a:t>
            </a:r>
            <a:r>
              <a:rPr sz="2500" spc="-10" dirty="0">
                <a:latin typeface="Calibri"/>
                <a:cs typeface="Calibri"/>
              </a:rPr>
              <a:t>se</a:t>
            </a:r>
            <a:r>
              <a:rPr sz="2500" dirty="0">
                <a:latin typeface="Calibri"/>
                <a:cs typeface="Calibri"/>
              </a:rPr>
              <a:t>b</a:t>
            </a:r>
            <a:r>
              <a:rPr sz="2500" spc="-10" dirty="0">
                <a:latin typeface="Calibri"/>
                <a:cs typeface="Calibri"/>
              </a:rPr>
              <a:t>u</a:t>
            </a:r>
            <a:r>
              <a:rPr sz="2500" spc="-5" dirty="0">
                <a:latin typeface="Calibri"/>
                <a:cs typeface="Calibri"/>
              </a:rPr>
              <a:t>t</a:t>
            </a:r>
            <a:r>
              <a:rPr sz="2500" dirty="0">
                <a:latin typeface="Calibri"/>
                <a:cs typeface="Calibri"/>
              </a:rPr>
              <a:t>	</a:t>
            </a:r>
            <a:r>
              <a:rPr sz="2500" spc="-5" dirty="0">
                <a:latin typeface="Cambria Math"/>
                <a:cs typeface="Cambria Math"/>
              </a:rPr>
              <a:t>𝑛</a:t>
            </a:r>
            <a:r>
              <a:rPr sz="2500" spc="190" dirty="0">
                <a:latin typeface="Cambria Math"/>
                <a:cs typeface="Cambria Math"/>
              </a:rPr>
              <a:t> </a:t>
            </a:r>
            <a:r>
              <a:rPr sz="2500" spc="-5" dirty="0">
                <a:latin typeface="Cambria Math"/>
                <a:cs typeface="Cambria Math"/>
              </a:rPr>
              <a:t>=</a:t>
            </a:r>
            <a:r>
              <a:rPr sz="2500" spc="150" dirty="0">
                <a:latin typeface="Cambria Math"/>
                <a:cs typeface="Cambria Math"/>
              </a:rPr>
              <a:t> </a:t>
            </a:r>
            <a:r>
              <a:rPr sz="2500" spc="-5" dirty="0">
                <a:latin typeface="Cambria Math"/>
                <a:cs typeface="Cambria Math"/>
              </a:rPr>
              <a:t>3</a:t>
            </a:r>
            <a:r>
              <a:rPr sz="2500" dirty="0">
                <a:latin typeface="Cambria Math"/>
                <a:cs typeface="Cambria Math"/>
              </a:rPr>
              <a:t>	</a:t>
            </a:r>
            <a:r>
              <a:rPr sz="2500" spc="-10" dirty="0">
                <a:latin typeface="Calibri"/>
                <a:cs typeface="Calibri"/>
              </a:rPr>
              <a:t>da</a:t>
            </a:r>
            <a:r>
              <a:rPr sz="2500" spc="-5" dirty="0">
                <a:latin typeface="Calibri"/>
                <a:cs typeface="Calibri"/>
              </a:rPr>
              <a:t>n</a:t>
            </a:r>
            <a:r>
              <a:rPr sz="2500" dirty="0">
                <a:latin typeface="Calibri"/>
                <a:cs typeface="Calibri"/>
              </a:rPr>
              <a:t>	</a:t>
            </a:r>
            <a:r>
              <a:rPr sz="2500" spc="-5" dirty="0">
                <a:latin typeface="Calibri"/>
                <a:cs typeface="Calibri"/>
              </a:rPr>
              <a:t>U</a:t>
            </a:r>
            <a:r>
              <a:rPr sz="2500" spc="-15" dirty="0">
                <a:latin typeface="Calibri"/>
                <a:cs typeface="Calibri"/>
              </a:rPr>
              <a:t>n</a:t>
            </a:r>
            <a:r>
              <a:rPr sz="2500" spc="-5" dirty="0">
                <a:latin typeface="Calibri"/>
                <a:cs typeface="Calibri"/>
              </a:rPr>
              <a:t>s</a:t>
            </a:r>
            <a:r>
              <a:rPr sz="2500" spc="-10" dirty="0">
                <a:latin typeface="Calibri"/>
                <a:cs typeface="Calibri"/>
              </a:rPr>
              <a:t>u</a:t>
            </a:r>
            <a:r>
              <a:rPr sz="2500" spc="-5" dirty="0">
                <a:latin typeface="Calibri"/>
                <a:cs typeface="Calibri"/>
              </a:rPr>
              <a:t>r</a:t>
            </a:r>
            <a:r>
              <a:rPr sz="2500" dirty="0">
                <a:latin typeface="Calibri"/>
                <a:cs typeface="Calibri"/>
              </a:rPr>
              <a:t>	</a:t>
            </a:r>
            <a:r>
              <a:rPr sz="2500" spc="-45" dirty="0">
                <a:latin typeface="Calibri"/>
                <a:cs typeface="Calibri"/>
              </a:rPr>
              <a:t>y</a:t>
            </a:r>
            <a:r>
              <a:rPr sz="2500" spc="-5" dirty="0">
                <a:latin typeface="Calibri"/>
                <a:cs typeface="Calibri"/>
              </a:rPr>
              <a:t>ang</a:t>
            </a:r>
            <a:r>
              <a:rPr sz="2500" dirty="0">
                <a:latin typeface="Calibri"/>
                <a:cs typeface="Calibri"/>
              </a:rPr>
              <a:t>	</a:t>
            </a:r>
            <a:r>
              <a:rPr sz="2500" spc="-10" dirty="0">
                <a:latin typeface="Calibri"/>
                <a:cs typeface="Calibri"/>
              </a:rPr>
              <a:t>s</a:t>
            </a:r>
            <a:r>
              <a:rPr sz="2500" dirty="0">
                <a:latin typeface="Calibri"/>
                <a:cs typeface="Calibri"/>
              </a:rPr>
              <a:t>a</a:t>
            </a:r>
            <a:r>
              <a:rPr sz="2500" spc="-5" dirty="0">
                <a:latin typeface="Calibri"/>
                <a:cs typeface="Calibri"/>
              </a:rPr>
              <a:t>ma  </a:t>
            </a:r>
            <a:r>
              <a:rPr sz="2500" spc="-10" dirty="0">
                <a:latin typeface="Calibri"/>
                <a:cs typeface="Calibri"/>
              </a:rPr>
              <a:t>dari huruf </a:t>
            </a:r>
            <a:r>
              <a:rPr sz="2500" spc="-15" dirty="0">
                <a:latin typeface="Calibri"/>
                <a:cs typeface="Calibri"/>
              </a:rPr>
              <a:t>tersebut </a:t>
            </a:r>
            <a:r>
              <a:rPr sz="2500" spc="-10" dirty="0">
                <a:latin typeface="Calibri"/>
                <a:cs typeface="Calibri"/>
              </a:rPr>
              <a:t>yaitu huruf </a:t>
            </a:r>
            <a:r>
              <a:rPr sz="2500" spc="-5" dirty="0">
                <a:latin typeface="Calibri"/>
                <a:cs typeface="Calibri"/>
              </a:rPr>
              <a:t>A </a:t>
            </a:r>
            <a:r>
              <a:rPr sz="2500" spc="-10" dirty="0">
                <a:latin typeface="Calibri"/>
                <a:cs typeface="Calibri"/>
              </a:rPr>
              <a:t>berarti </a:t>
            </a:r>
            <a:r>
              <a:rPr sz="2500" spc="-5" dirty="0">
                <a:latin typeface="Cambria Math"/>
                <a:cs typeface="Cambria Math"/>
              </a:rPr>
              <a:t>𝑛</a:t>
            </a:r>
            <a:r>
              <a:rPr sz="2700" spc="-7" baseline="-15432" dirty="0">
                <a:latin typeface="Cambria Math"/>
                <a:cs typeface="Cambria Math"/>
              </a:rPr>
              <a:t>1 </a:t>
            </a:r>
            <a:r>
              <a:rPr sz="2500" spc="-5" dirty="0">
                <a:latin typeface="Cambria Math"/>
                <a:cs typeface="Cambria Math"/>
              </a:rPr>
              <a:t>=</a:t>
            </a:r>
            <a:r>
              <a:rPr sz="2500" spc="275" dirty="0">
                <a:latin typeface="Cambria Math"/>
                <a:cs typeface="Cambria Math"/>
              </a:rPr>
              <a:t> </a:t>
            </a:r>
            <a:r>
              <a:rPr sz="2500" spc="-5" dirty="0">
                <a:latin typeface="Cambria Math"/>
                <a:cs typeface="Cambria Math"/>
              </a:rPr>
              <a:t>2</a:t>
            </a:r>
            <a:endParaRPr sz="2500">
              <a:latin typeface="Cambria Math"/>
              <a:cs typeface="Cambria Math"/>
            </a:endParaRPr>
          </a:p>
        </p:txBody>
      </p:sp>
      <p:sp>
        <p:nvSpPr>
          <p:cNvPr id="4" name="object 4"/>
          <p:cNvSpPr/>
          <p:nvPr/>
        </p:nvSpPr>
        <p:spPr>
          <a:xfrm>
            <a:off x="1678304" y="5332857"/>
            <a:ext cx="200025" cy="21590"/>
          </a:xfrm>
          <a:custGeom>
            <a:avLst/>
            <a:gdLst/>
            <a:ahLst/>
            <a:cxnLst/>
            <a:rect l="l" t="t" r="r" b="b"/>
            <a:pathLst>
              <a:path w="200025" h="21589">
                <a:moveTo>
                  <a:pt x="199644" y="0"/>
                </a:moveTo>
                <a:lnTo>
                  <a:pt x="0" y="0"/>
                </a:lnTo>
                <a:lnTo>
                  <a:pt x="0" y="21336"/>
                </a:lnTo>
                <a:lnTo>
                  <a:pt x="199644" y="21336"/>
                </a:lnTo>
                <a:lnTo>
                  <a:pt x="199644" y="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" name="object 5"/>
          <p:cNvSpPr txBox="1"/>
          <p:nvPr/>
        </p:nvSpPr>
        <p:spPr>
          <a:xfrm>
            <a:off x="1665858" y="5350255"/>
            <a:ext cx="226060" cy="303530"/>
          </a:xfrm>
          <a:prstGeom prst="rect">
            <a:avLst/>
          </a:prstGeom>
        </p:spPr>
        <p:txBody>
          <a:bodyPr vert="horz" wrap="square" lIns="0" tIns="1524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20"/>
              </a:spcBef>
            </a:pPr>
            <a:r>
              <a:rPr sz="1800" spc="55" dirty="0">
                <a:latin typeface="Cambria Math"/>
                <a:cs typeface="Cambria Math"/>
              </a:rPr>
              <a:t>2</a:t>
            </a:r>
            <a:r>
              <a:rPr sz="1800" spc="5" dirty="0">
                <a:latin typeface="Cambria Math"/>
                <a:cs typeface="Cambria Math"/>
              </a:rPr>
              <a:t>!</a:t>
            </a:r>
            <a:endParaRPr sz="1800">
              <a:latin typeface="Cambria Math"/>
              <a:cs typeface="Cambria Math"/>
            </a:endParaRPr>
          </a:p>
        </p:txBody>
      </p:sp>
      <p:sp>
        <p:nvSpPr>
          <p:cNvPr id="6" name="object 6"/>
          <p:cNvSpPr txBox="1"/>
          <p:nvPr/>
        </p:nvSpPr>
        <p:spPr>
          <a:xfrm>
            <a:off x="953109" y="5104891"/>
            <a:ext cx="2037080" cy="40640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95"/>
              </a:spcBef>
              <a:tabLst>
                <a:tab pos="725170" algn="l"/>
              </a:tabLst>
            </a:pPr>
            <a:r>
              <a:rPr sz="2500" spc="-5" dirty="0">
                <a:latin typeface="Cambria Math"/>
                <a:cs typeface="Cambria Math"/>
              </a:rPr>
              <a:t>𝑃</a:t>
            </a:r>
            <a:r>
              <a:rPr sz="2500" spc="204" dirty="0">
                <a:latin typeface="Cambria Math"/>
                <a:cs typeface="Cambria Math"/>
              </a:rPr>
              <a:t> </a:t>
            </a:r>
            <a:r>
              <a:rPr sz="2500" spc="-5" dirty="0">
                <a:latin typeface="Cambria Math"/>
                <a:cs typeface="Cambria Math"/>
              </a:rPr>
              <a:t>=	</a:t>
            </a:r>
            <a:r>
              <a:rPr sz="2700" spc="44" baseline="44753" dirty="0">
                <a:latin typeface="Cambria Math"/>
                <a:cs typeface="Cambria Math"/>
              </a:rPr>
              <a:t>3! </a:t>
            </a:r>
            <a:r>
              <a:rPr sz="2500" spc="-5" dirty="0">
                <a:latin typeface="Calibri"/>
                <a:cs typeface="Calibri"/>
              </a:rPr>
              <a:t>= 3</a:t>
            </a:r>
            <a:r>
              <a:rPr sz="2500" spc="55" dirty="0">
                <a:latin typeface="Calibri"/>
                <a:cs typeface="Calibri"/>
              </a:rPr>
              <a:t> </a:t>
            </a:r>
            <a:r>
              <a:rPr sz="2500" spc="-20" dirty="0">
                <a:latin typeface="Calibri"/>
                <a:cs typeface="Calibri"/>
              </a:rPr>
              <a:t>cara</a:t>
            </a:r>
            <a:endParaRPr sz="2500">
              <a:latin typeface="Calibri"/>
              <a:cs typeface="Calibri"/>
            </a:endParaRP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2960370" y="705992"/>
            <a:ext cx="3223895" cy="63500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4000" spc="-20" dirty="0"/>
              <a:t>Permutasi</a:t>
            </a:r>
            <a:r>
              <a:rPr sz="4000" spc="-70" dirty="0"/>
              <a:t> </a:t>
            </a:r>
            <a:r>
              <a:rPr sz="4000" spc="-10" dirty="0"/>
              <a:t>Siklis</a:t>
            </a:r>
            <a:endParaRPr sz="4000"/>
          </a:p>
        </p:txBody>
      </p:sp>
      <p:sp>
        <p:nvSpPr>
          <p:cNvPr id="3" name="object 3"/>
          <p:cNvSpPr txBox="1"/>
          <p:nvPr/>
        </p:nvSpPr>
        <p:spPr>
          <a:xfrm>
            <a:off x="965809" y="1608785"/>
            <a:ext cx="7211695" cy="139954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25400" marR="17780">
              <a:lnSpc>
                <a:spcPct val="100000"/>
              </a:lnSpc>
              <a:spcBef>
                <a:spcPts val="100"/>
              </a:spcBef>
              <a:tabLst>
                <a:tab pos="1355725" algn="l"/>
                <a:tab pos="3146425" algn="l"/>
                <a:tab pos="4104004" algn="l"/>
                <a:tab pos="4928235" algn="l"/>
                <a:tab pos="5352415" algn="l"/>
                <a:tab pos="6457315" algn="l"/>
              </a:tabLst>
            </a:pPr>
            <a:r>
              <a:rPr sz="3000" dirty="0">
                <a:latin typeface="Calibri"/>
                <a:cs typeface="Calibri"/>
              </a:rPr>
              <a:t>Ba</a:t>
            </a:r>
            <a:r>
              <a:rPr sz="3000" spc="-55" dirty="0">
                <a:latin typeface="Calibri"/>
                <a:cs typeface="Calibri"/>
              </a:rPr>
              <a:t>n</a:t>
            </a:r>
            <a:r>
              <a:rPr sz="3000" spc="-50" dirty="0">
                <a:latin typeface="Calibri"/>
                <a:cs typeface="Calibri"/>
              </a:rPr>
              <a:t>y</a:t>
            </a:r>
            <a:r>
              <a:rPr sz="3000" dirty="0">
                <a:latin typeface="Calibri"/>
                <a:cs typeface="Calibri"/>
              </a:rPr>
              <a:t>ak	</a:t>
            </a:r>
            <a:r>
              <a:rPr sz="3000" spc="-20" dirty="0">
                <a:latin typeface="Calibri"/>
                <a:cs typeface="Calibri"/>
              </a:rPr>
              <a:t>p</a:t>
            </a:r>
            <a:r>
              <a:rPr sz="3000" dirty="0">
                <a:latin typeface="Calibri"/>
                <a:cs typeface="Calibri"/>
              </a:rPr>
              <a:t>e</a:t>
            </a:r>
            <a:r>
              <a:rPr sz="3000" spc="-15" dirty="0">
                <a:latin typeface="Calibri"/>
                <a:cs typeface="Calibri"/>
              </a:rPr>
              <a:t>r</a:t>
            </a:r>
            <a:r>
              <a:rPr sz="3000" dirty="0">
                <a:latin typeface="Calibri"/>
                <a:cs typeface="Calibri"/>
              </a:rPr>
              <a:t>mu</a:t>
            </a:r>
            <a:r>
              <a:rPr sz="3000" spc="-40" dirty="0">
                <a:latin typeface="Calibri"/>
                <a:cs typeface="Calibri"/>
              </a:rPr>
              <a:t>t</a:t>
            </a:r>
            <a:r>
              <a:rPr sz="3000" dirty="0">
                <a:latin typeface="Calibri"/>
                <a:cs typeface="Calibri"/>
              </a:rPr>
              <a:t>asi	</a:t>
            </a:r>
            <a:r>
              <a:rPr sz="3000" spc="-5" dirty="0">
                <a:latin typeface="Calibri"/>
                <a:cs typeface="Calibri"/>
              </a:rPr>
              <a:t>sikl</a:t>
            </a:r>
            <a:r>
              <a:rPr sz="3000" spc="-15" dirty="0">
                <a:latin typeface="Calibri"/>
                <a:cs typeface="Calibri"/>
              </a:rPr>
              <a:t>i</a:t>
            </a:r>
            <a:r>
              <a:rPr sz="3000" dirty="0">
                <a:latin typeface="Calibri"/>
                <a:cs typeface="Calibri"/>
              </a:rPr>
              <a:t>s	</a:t>
            </a:r>
            <a:r>
              <a:rPr sz="3000" spc="-20" dirty="0">
                <a:latin typeface="Calibri"/>
                <a:cs typeface="Calibri"/>
              </a:rPr>
              <a:t>d</a:t>
            </a:r>
            <a:r>
              <a:rPr sz="3000" dirty="0">
                <a:latin typeface="Calibri"/>
                <a:cs typeface="Calibri"/>
              </a:rPr>
              <a:t>ari	n	</a:t>
            </a:r>
            <a:r>
              <a:rPr sz="3000" spc="-5" dirty="0">
                <a:latin typeface="Calibri"/>
                <a:cs typeface="Calibri"/>
              </a:rPr>
              <a:t>uns</a:t>
            </a:r>
            <a:r>
              <a:rPr sz="3000" spc="-15" dirty="0">
                <a:latin typeface="Calibri"/>
                <a:cs typeface="Calibri"/>
              </a:rPr>
              <a:t>u</a:t>
            </a:r>
            <a:r>
              <a:rPr sz="3000" dirty="0">
                <a:latin typeface="Calibri"/>
                <a:cs typeface="Calibri"/>
              </a:rPr>
              <a:t>r	</a:t>
            </a:r>
            <a:r>
              <a:rPr sz="3000" spc="-50" dirty="0">
                <a:latin typeface="Calibri"/>
                <a:cs typeface="Calibri"/>
              </a:rPr>
              <a:t>y</a:t>
            </a:r>
            <a:r>
              <a:rPr sz="3000" dirty="0">
                <a:latin typeface="Calibri"/>
                <a:cs typeface="Calibri"/>
              </a:rPr>
              <a:t>ang  </a:t>
            </a:r>
            <a:r>
              <a:rPr sz="3000" spc="-10" dirty="0">
                <a:latin typeface="Calibri"/>
                <a:cs typeface="Calibri"/>
              </a:rPr>
              <a:t>berbeda</a:t>
            </a:r>
            <a:r>
              <a:rPr sz="3000" dirty="0">
                <a:latin typeface="Calibri"/>
                <a:cs typeface="Calibri"/>
              </a:rPr>
              <a:t> </a:t>
            </a:r>
            <a:r>
              <a:rPr sz="3000" spc="-5" dirty="0">
                <a:latin typeface="Calibri"/>
                <a:cs typeface="Calibri"/>
              </a:rPr>
              <a:t>adalah:</a:t>
            </a:r>
            <a:endParaRPr sz="3000">
              <a:latin typeface="Calibri"/>
              <a:cs typeface="Calibri"/>
            </a:endParaRPr>
          </a:p>
          <a:p>
            <a:pPr algn="ctr">
              <a:lnSpc>
                <a:spcPct val="100000"/>
              </a:lnSpc>
              <a:spcBef>
                <a:spcPts val="15"/>
              </a:spcBef>
              <a:tabLst>
                <a:tab pos="425450" algn="l"/>
              </a:tabLst>
            </a:pPr>
            <a:r>
              <a:rPr sz="3000" spc="-275" dirty="0">
                <a:latin typeface="Cambria Math"/>
                <a:cs typeface="Cambria Math"/>
              </a:rPr>
              <a:t>𝑃</a:t>
            </a:r>
            <a:r>
              <a:rPr sz="3300" spc="-412" baseline="-15151" dirty="0">
                <a:latin typeface="Cambria Math"/>
                <a:cs typeface="Cambria Math"/>
              </a:rPr>
              <a:t>𝑠	</a:t>
            </a:r>
            <a:r>
              <a:rPr sz="3000" dirty="0">
                <a:latin typeface="Cambria Math"/>
                <a:cs typeface="Cambria Math"/>
              </a:rPr>
              <a:t>= (𝑛 −</a:t>
            </a:r>
            <a:r>
              <a:rPr sz="3000" spc="210" dirty="0">
                <a:latin typeface="Cambria Math"/>
                <a:cs typeface="Cambria Math"/>
              </a:rPr>
              <a:t> </a:t>
            </a:r>
            <a:r>
              <a:rPr sz="3000" dirty="0">
                <a:latin typeface="Cambria Math"/>
                <a:cs typeface="Cambria Math"/>
              </a:rPr>
              <a:t>1)!</a:t>
            </a:r>
            <a:endParaRPr sz="3000">
              <a:latin typeface="Cambria Math"/>
              <a:cs typeface="Cambria Math"/>
            </a:endParaRPr>
          </a:p>
        </p:txBody>
      </p:sp>
      <p:sp>
        <p:nvSpPr>
          <p:cNvPr id="4" name="object 4"/>
          <p:cNvSpPr txBox="1"/>
          <p:nvPr/>
        </p:nvSpPr>
        <p:spPr>
          <a:xfrm>
            <a:off x="3060954" y="3862578"/>
            <a:ext cx="2880360" cy="864235"/>
          </a:xfrm>
          <a:prstGeom prst="rect">
            <a:avLst/>
          </a:prstGeom>
          <a:solidFill>
            <a:srgbClr val="4F81BC"/>
          </a:solidFill>
          <a:ln w="25907">
            <a:solidFill>
              <a:srgbClr val="385D89"/>
            </a:solidFill>
          </a:ln>
        </p:spPr>
        <p:txBody>
          <a:bodyPr vert="horz" wrap="square" lIns="0" tIns="194945" rIns="0" bIns="0" rtlCol="0">
            <a:spAutoFit/>
          </a:bodyPr>
          <a:lstStyle/>
          <a:p>
            <a:pPr marL="572135">
              <a:lnSpc>
                <a:spcPct val="100000"/>
              </a:lnSpc>
              <a:spcBef>
                <a:spcPts val="1535"/>
              </a:spcBef>
            </a:pPr>
            <a:r>
              <a:rPr sz="2800" spc="-15" dirty="0">
                <a:solidFill>
                  <a:srgbClr val="FFFFFF"/>
                </a:solidFill>
                <a:latin typeface="Calibri"/>
                <a:cs typeface="Calibri"/>
              </a:rPr>
              <a:t>Contoh</a:t>
            </a:r>
            <a:r>
              <a:rPr sz="2800" spc="-10" dirty="0">
                <a:solidFill>
                  <a:srgbClr val="FFFFFF"/>
                </a:solidFill>
                <a:latin typeface="Calibri"/>
                <a:cs typeface="Calibri"/>
              </a:rPr>
              <a:t> Soal</a:t>
            </a:r>
            <a:endParaRPr sz="2800">
              <a:latin typeface="Calibri"/>
              <a:cs typeface="Calibri"/>
            </a:endParaRP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2176017" y="909650"/>
            <a:ext cx="4670425" cy="514350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z="3200" spc="-15" dirty="0"/>
              <a:t>Contoh </a:t>
            </a:r>
            <a:r>
              <a:rPr sz="3200" spc="-5" dirty="0"/>
              <a:t>Soal </a:t>
            </a:r>
            <a:r>
              <a:rPr sz="3200" spc="-15" dirty="0"/>
              <a:t>Permutasi</a:t>
            </a:r>
            <a:r>
              <a:rPr sz="3200" spc="25" dirty="0"/>
              <a:t> </a:t>
            </a:r>
            <a:r>
              <a:rPr sz="3200" spc="-5" dirty="0"/>
              <a:t>Siklis</a:t>
            </a:r>
            <a:endParaRPr sz="3200"/>
          </a:p>
        </p:txBody>
      </p:sp>
      <p:sp>
        <p:nvSpPr>
          <p:cNvPr id="3" name="object 3"/>
          <p:cNvSpPr txBox="1"/>
          <p:nvPr/>
        </p:nvSpPr>
        <p:spPr>
          <a:xfrm>
            <a:off x="993444" y="1498472"/>
            <a:ext cx="6950709" cy="169354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 marR="5080">
              <a:lnSpc>
                <a:spcPct val="100000"/>
              </a:lnSpc>
              <a:spcBef>
                <a:spcPts val="100"/>
              </a:spcBef>
            </a:pPr>
            <a:r>
              <a:rPr sz="2400" spc="-10" dirty="0">
                <a:latin typeface="Calibri"/>
                <a:cs typeface="Calibri"/>
              </a:rPr>
              <a:t>Berapa </a:t>
            </a:r>
            <a:r>
              <a:rPr sz="2400" spc="-20" dirty="0">
                <a:latin typeface="Calibri"/>
                <a:cs typeface="Calibri"/>
              </a:rPr>
              <a:t>banyak </a:t>
            </a:r>
            <a:r>
              <a:rPr sz="2400" spc="-5" dirty="0">
                <a:latin typeface="Calibri"/>
                <a:cs typeface="Calibri"/>
              </a:rPr>
              <a:t>susunan </a:t>
            </a:r>
            <a:r>
              <a:rPr sz="2400" spc="-10" dirty="0">
                <a:latin typeface="Calibri"/>
                <a:cs typeface="Calibri"/>
              </a:rPr>
              <a:t>yang </a:t>
            </a:r>
            <a:r>
              <a:rPr sz="2400" spc="-5" dirty="0">
                <a:latin typeface="Calibri"/>
                <a:cs typeface="Calibri"/>
              </a:rPr>
              <a:t>terjadi </a:t>
            </a:r>
            <a:r>
              <a:rPr sz="2400" spc="-15" dirty="0">
                <a:latin typeface="Calibri"/>
                <a:cs typeface="Calibri"/>
              </a:rPr>
              <a:t>jika </a:t>
            </a:r>
            <a:r>
              <a:rPr sz="2400" spc="-5" dirty="0">
                <a:latin typeface="Calibri"/>
                <a:cs typeface="Calibri"/>
              </a:rPr>
              <a:t>A,B,C,D disusun  melingkar</a:t>
            </a:r>
            <a:r>
              <a:rPr sz="2400" spc="-25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?</a:t>
            </a:r>
            <a:endParaRPr sz="2400">
              <a:latin typeface="Calibri"/>
              <a:cs typeface="Calibri"/>
            </a:endParaRPr>
          </a:p>
          <a:p>
            <a:pPr marL="69215">
              <a:lnSpc>
                <a:spcPct val="100000"/>
              </a:lnSpc>
              <a:spcBef>
                <a:spcPts val="1610"/>
              </a:spcBef>
            </a:pPr>
            <a:r>
              <a:rPr sz="2400" dirty="0">
                <a:latin typeface="Calibri"/>
                <a:cs typeface="Calibri"/>
              </a:rPr>
              <a:t>Bila </a:t>
            </a:r>
            <a:r>
              <a:rPr sz="2400" spc="-15" dirty="0">
                <a:latin typeface="Calibri"/>
                <a:cs typeface="Calibri"/>
              </a:rPr>
              <a:t>contoh </a:t>
            </a:r>
            <a:r>
              <a:rPr sz="2400" spc="-10" dirty="0">
                <a:latin typeface="Calibri"/>
                <a:cs typeface="Calibri"/>
              </a:rPr>
              <a:t>diatas diselesaikan </a:t>
            </a:r>
            <a:r>
              <a:rPr sz="2400" spc="-15" dirty="0">
                <a:latin typeface="Calibri"/>
                <a:cs typeface="Calibri"/>
              </a:rPr>
              <a:t>dengan </a:t>
            </a:r>
            <a:r>
              <a:rPr sz="2400" spc="-20" dirty="0">
                <a:latin typeface="Calibri"/>
                <a:cs typeface="Calibri"/>
              </a:rPr>
              <a:t>cara</a:t>
            </a:r>
            <a:r>
              <a:rPr sz="2400" spc="-30" dirty="0">
                <a:latin typeface="Calibri"/>
                <a:cs typeface="Calibri"/>
              </a:rPr>
              <a:t> </a:t>
            </a:r>
            <a:r>
              <a:rPr sz="2400" spc="-5" dirty="0">
                <a:latin typeface="Calibri"/>
                <a:cs typeface="Calibri"/>
              </a:rPr>
              <a:t>menyusun</a:t>
            </a:r>
            <a:endParaRPr sz="2400">
              <a:latin typeface="Calibri"/>
              <a:cs typeface="Calibri"/>
            </a:endParaRPr>
          </a:p>
          <a:p>
            <a:pPr marL="69215">
              <a:lnSpc>
                <a:spcPct val="100000"/>
              </a:lnSpc>
            </a:pPr>
            <a:r>
              <a:rPr sz="2400" spc="-15" dirty="0">
                <a:latin typeface="Calibri"/>
                <a:cs typeface="Calibri"/>
              </a:rPr>
              <a:t>secara </a:t>
            </a:r>
            <a:r>
              <a:rPr sz="2400" spc="-5" dirty="0">
                <a:latin typeface="Calibri"/>
                <a:cs typeface="Calibri"/>
              </a:rPr>
              <a:t>melingkar huruf </a:t>
            </a:r>
            <a:r>
              <a:rPr sz="2400" spc="-10" dirty="0">
                <a:latin typeface="Calibri"/>
                <a:cs typeface="Calibri"/>
              </a:rPr>
              <a:t>tersebut satu </a:t>
            </a:r>
            <a:r>
              <a:rPr sz="2400" spc="-5" dirty="0">
                <a:latin typeface="Calibri"/>
                <a:cs typeface="Calibri"/>
              </a:rPr>
              <a:t>per </a:t>
            </a:r>
            <a:r>
              <a:rPr sz="2400" spc="-10" dirty="0">
                <a:latin typeface="Calibri"/>
                <a:cs typeface="Calibri"/>
              </a:rPr>
              <a:t>satu</a:t>
            </a:r>
            <a:r>
              <a:rPr sz="2400" spc="-45" dirty="0">
                <a:latin typeface="Calibri"/>
                <a:cs typeface="Calibri"/>
              </a:rPr>
              <a:t> </a:t>
            </a:r>
            <a:r>
              <a:rPr sz="2400" spc="-5" dirty="0">
                <a:latin typeface="Calibri"/>
                <a:cs typeface="Calibri"/>
              </a:rPr>
              <a:t>maka:</a:t>
            </a:r>
            <a:endParaRPr sz="2400">
              <a:latin typeface="Calibri"/>
              <a:cs typeface="Calibri"/>
            </a:endParaRPr>
          </a:p>
        </p:txBody>
      </p:sp>
      <p:sp>
        <p:nvSpPr>
          <p:cNvPr id="4" name="object 4"/>
          <p:cNvSpPr/>
          <p:nvPr/>
        </p:nvSpPr>
        <p:spPr>
          <a:xfrm>
            <a:off x="1187196" y="3212592"/>
            <a:ext cx="6481572" cy="1040892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" name="object 5"/>
          <p:cNvSpPr/>
          <p:nvPr/>
        </p:nvSpPr>
        <p:spPr>
          <a:xfrm>
            <a:off x="2581020" y="5471159"/>
            <a:ext cx="899160" cy="282575"/>
          </a:xfrm>
          <a:custGeom>
            <a:avLst/>
            <a:gdLst/>
            <a:ahLst/>
            <a:cxnLst/>
            <a:rect l="l" t="t" r="r" b="b"/>
            <a:pathLst>
              <a:path w="899160" h="282575">
                <a:moveTo>
                  <a:pt x="808863" y="0"/>
                </a:moveTo>
                <a:lnTo>
                  <a:pt x="804926" y="11429"/>
                </a:lnTo>
                <a:lnTo>
                  <a:pt x="821233" y="18522"/>
                </a:lnTo>
                <a:lnTo>
                  <a:pt x="835279" y="28352"/>
                </a:lnTo>
                <a:lnTo>
                  <a:pt x="863822" y="73853"/>
                </a:lnTo>
                <a:lnTo>
                  <a:pt x="872204" y="115639"/>
                </a:lnTo>
                <a:lnTo>
                  <a:pt x="873252" y="139738"/>
                </a:lnTo>
                <a:lnTo>
                  <a:pt x="872204" y="164636"/>
                </a:lnTo>
                <a:lnTo>
                  <a:pt x="863822" y="207575"/>
                </a:lnTo>
                <a:lnTo>
                  <a:pt x="835326" y="253811"/>
                </a:lnTo>
                <a:lnTo>
                  <a:pt x="805307" y="270852"/>
                </a:lnTo>
                <a:lnTo>
                  <a:pt x="808863" y="282308"/>
                </a:lnTo>
                <a:lnTo>
                  <a:pt x="847423" y="264250"/>
                </a:lnTo>
                <a:lnTo>
                  <a:pt x="875792" y="232981"/>
                </a:lnTo>
                <a:lnTo>
                  <a:pt x="893111" y="191098"/>
                </a:lnTo>
                <a:lnTo>
                  <a:pt x="898906" y="141223"/>
                </a:lnTo>
                <a:lnTo>
                  <a:pt x="897453" y="115341"/>
                </a:lnTo>
                <a:lnTo>
                  <a:pt x="885832" y="69482"/>
                </a:lnTo>
                <a:lnTo>
                  <a:pt x="862780" y="32146"/>
                </a:lnTo>
                <a:lnTo>
                  <a:pt x="829391" y="7381"/>
                </a:lnTo>
                <a:lnTo>
                  <a:pt x="808863" y="0"/>
                </a:lnTo>
                <a:close/>
              </a:path>
              <a:path w="899160" h="282575">
                <a:moveTo>
                  <a:pt x="90043" y="0"/>
                </a:moveTo>
                <a:lnTo>
                  <a:pt x="51657" y="18097"/>
                </a:lnTo>
                <a:lnTo>
                  <a:pt x="23368" y="49529"/>
                </a:lnTo>
                <a:lnTo>
                  <a:pt x="5826" y="91424"/>
                </a:lnTo>
                <a:lnTo>
                  <a:pt x="0" y="141223"/>
                </a:lnTo>
                <a:lnTo>
                  <a:pt x="1452" y="167160"/>
                </a:lnTo>
                <a:lnTo>
                  <a:pt x="13073" y="213038"/>
                </a:lnTo>
                <a:lnTo>
                  <a:pt x="36125" y="250266"/>
                </a:lnTo>
                <a:lnTo>
                  <a:pt x="69514" y="274931"/>
                </a:lnTo>
                <a:lnTo>
                  <a:pt x="90043" y="282308"/>
                </a:lnTo>
                <a:lnTo>
                  <a:pt x="93599" y="270852"/>
                </a:lnTo>
                <a:lnTo>
                  <a:pt x="77549" y="263725"/>
                </a:lnTo>
                <a:lnTo>
                  <a:pt x="63690" y="253811"/>
                </a:lnTo>
                <a:lnTo>
                  <a:pt x="35210" y="207575"/>
                </a:lnTo>
                <a:lnTo>
                  <a:pt x="26828" y="164636"/>
                </a:lnTo>
                <a:lnTo>
                  <a:pt x="25781" y="139738"/>
                </a:lnTo>
                <a:lnTo>
                  <a:pt x="26828" y="115639"/>
                </a:lnTo>
                <a:lnTo>
                  <a:pt x="35210" y="73853"/>
                </a:lnTo>
                <a:lnTo>
                  <a:pt x="63801" y="28352"/>
                </a:lnTo>
                <a:lnTo>
                  <a:pt x="94106" y="11429"/>
                </a:lnTo>
                <a:lnTo>
                  <a:pt x="90043" y="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6" name="object 6"/>
          <p:cNvSpPr txBox="1"/>
          <p:nvPr/>
        </p:nvSpPr>
        <p:spPr>
          <a:xfrm>
            <a:off x="1682750" y="4283202"/>
            <a:ext cx="5477510" cy="149034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021080" indent="-982980">
              <a:lnSpc>
                <a:spcPct val="100000"/>
              </a:lnSpc>
              <a:spcBef>
                <a:spcPts val="100"/>
              </a:spcBef>
            </a:pPr>
            <a:r>
              <a:rPr sz="2400" dirty="0">
                <a:latin typeface="Calibri"/>
                <a:cs typeface="Calibri"/>
              </a:rPr>
              <a:t>Jadi, </a:t>
            </a:r>
            <a:r>
              <a:rPr sz="2400" spc="-20" dirty="0">
                <a:latin typeface="Calibri"/>
                <a:cs typeface="Calibri"/>
              </a:rPr>
              <a:t>banyak </a:t>
            </a:r>
            <a:r>
              <a:rPr sz="2400" spc="-15" dirty="0">
                <a:latin typeface="Calibri"/>
                <a:cs typeface="Calibri"/>
              </a:rPr>
              <a:t>penyusunannya </a:t>
            </a:r>
            <a:r>
              <a:rPr sz="2400" dirty="0">
                <a:latin typeface="Calibri"/>
                <a:cs typeface="Calibri"/>
              </a:rPr>
              <a:t>ada 6 </a:t>
            </a:r>
            <a:r>
              <a:rPr sz="2400" spc="-15" dirty="0">
                <a:latin typeface="Calibri"/>
                <a:cs typeface="Calibri"/>
              </a:rPr>
              <a:t>cara.</a:t>
            </a:r>
            <a:endParaRPr sz="2400">
              <a:latin typeface="Calibri"/>
              <a:cs typeface="Calibri"/>
            </a:endParaRPr>
          </a:p>
          <a:p>
            <a:pPr marL="38100" marR="589280" indent="982980">
              <a:lnSpc>
                <a:spcPct val="100000"/>
              </a:lnSpc>
            </a:pPr>
            <a:r>
              <a:rPr sz="2400" dirty="0">
                <a:latin typeface="Calibri"/>
                <a:cs typeface="Calibri"/>
              </a:rPr>
              <a:t>Bila </a:t>
            </a:r>
            <a:r>
              <a:rPr sz="2400" spc="-10" dirty="0">
                <a:latin typeface="Calibri"/>
                <a:cs typeface="Calibri"/>
              </a:rPr>
              <a:t>diselesaikan </a:t>
            </a:r>
            <a:r>
              <a:rPr sz="2400" spc="-15" dirty="0">
                <a:latin typeface="Calibri"/>
                <a:cs typeface="Calibri"/>
              </a:rPr>
              <a:t>dengan </a:t>
            </a:r>
            <a:r>
              <a:rPr sz="2400" dirty="0">
                <a:latin typeface="Calibri"/>
                <a:cs typeface="Calibri"/>
              </a:rPr>
              <a:t>rumus  </a:t>
            </a:r>
            <a:r>
              <a:rPr sz="2400" spc="-5" dirty="0">
                <a:latin typeface="Calibri"/>
                <a:cs typeface="Calibri"/>
              </a:rPr>
              <a:t>permutasi siklis</a:t>
            </a:r>
            <a:r>
              <a:rPr sz="2400" spc="-40" dirty="0">
                <a:latin typeface="Calibri"/>
                <a:cs typeface="Calibri"/>
              </a:rPr>
              <a:t> </a:t>
            </a:r>
            <a:r>
              <a:rPr sz="2400" spc="-10" dirty="0">
                <a:latin typeface="Calibri"/>
                <a:cs typeface="Calibri"/>
              </a:rPr>
              <a:t>maka:</a:t>
            </a:r>
            <a:endParaRPr sz="2400">
              <a:latin typeface="Calibri"/>
              <a:cs typeface="Calibri"/>
            </a:endParaRPr>
          </a:p>
          <a:p>
            <a:pPr marL="220979">
              <a:lnSpc>
                <a:spcPct val="100000"/>
              </a:lnSpc>
              <a:spcBef>
                <a:spcPts val="10"/>
              </a:spcBef>
              <a:tabLst>
                <a:tab pos="997585" algn="l"/>
              </a:tabLst>
            </a:pPr>
            <a:r>
              <a:rPr sz="2400" spc="-220" dirty="0">
                <a:latin typeface="Cambria Math"/>
                <a:cs typeface="Cambria Math"/>
              </a:rPr>
              <a:t>𝑃</a:t>
            </a:r>
            <a:r>
              <a:rPr sz="2625" spc="-330" baseline="-15873" dirty="0">
                <a:latin typeface="Cambria Math"/>
                <a:cs typeface="Cambria Math"/>
              </a:rPr>
              <a:t>𝑠   </a:t>
            </a:r>
            <a:r>
              <a:rPr sz="2625" spc="-127" baseline="-15873" dirty="0">
                <a:latin typeface="Cambria Math"/>
                <a:cs typeface="Cambria Math"/>
              </a:rPr>
              <a:t> </a:t>
            </a:r>
            <a:r>
              <a:rPr sz="2400" dirty="0">
                <a:latin typeface="Cambria Math"/>
                <a:cs typeface="Cambria Math"/>
              </a:rPr>
              <a:t>=	4 − 1 ! = 3! = 3 × 2 × 1 = 6</a:t>
            </a:r>
            <a:r>
              <a:rPr sz="2400" spc="95" dirty="0">
                <a:latin typeface="Cambria Math"/>
                <a:cs typeface="Cambria Math"/>
              </a:rPr>
              <a:t> </a:t>
            </a:r>
            <a:r>
              <a:rPr sz="2400" spc="-5" dirty="0">
                <a:latin typeface="Cambria Math"/>
                <a:cs typeface="Cambria Math"/>
              </a:rPr>
              <a:t>𝑐𝑎𝑟𝑎</a:t>
            </a:r>
            <a:endParaRPr sz="2400">
              <a:latin typeface="Cambria Math"/>
              <a:cs typeface="Cambria Math"/>
            </a:endParaRP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3603116" y="872744"/>
            <a:ext cx="1960245" cy="57404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3600" dirty="0"/>
              <a:t>Kombi</a:t>
            </a:r>
            <a:r>
              <a:rPr sz="3600" spc="10" dirty="0"/>
              <a:t>n</a:t>
            </a:r>
            <a:r>
              <a:rPr sz="3600" dirty="0"/>
              <a:t>asi</a:t>
            </a:r>
            <a:endParaRPr sz="3600"/>
          </a:p>
        </p:txBody>
      </p:sp>
      <p:sp>
        <p:nvSpPr>
          <p:cNvPr id="3" name="object 3"/>
          <p:cNvSpPr txBox="1"/>
          <p:nvPr/>
        </p:nvSpPr>
        <p:spPr>
          <a:xfrm>
            <a:off x="1091285" y="1791461"/>
            <a:ext cx="6765925" cy="87884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 marR="5080">
              <a:lnSpc>
                <a:spcPct val="100000"/>
              </a:lnSpc>
              <a:spcBef>
                <a:spcPts val="95"/>
              </a:spcBef>
            </a:pPr>
            <a:r>
              <a:rPr sz="2800" spc="-20" dirty="0">
                <a:latin typeface="Calibri"/>
                <a:cs typeface="Calibri"/>
              </a:rPr>
              <a:t>Banyak kombinasi yang </a:t>
            </a:r>
            <a:r>
              <a:rPr sz="2800" spc="-15" dirty="0">
                <a:latin typeface="Calibri"/>
                <a:cs typeface="Calibri"/>
              </a:rPr>
              <a:t>terdiri </a:t>
            </a:r>
            <a:r>
              <a:rPr sz="2800" spc="-10" dirty="0">
                <a:latin typeface="Calibri"/>
                <a:cs typeface="Calibri"/>
              </a:rPr>
              <a:t>dari </a:t>
            </a:r>
            <a:r>
              <a:rPr sz="2800" spc="-5" dirty="0">
                <a:latin typeface="Calibri"/>
                <a:cs typeface="Calibri"/>
              </a:rPr>
              <a:t>n </a:t>
            </a:r>
            <a:r>
              <a:rPr sz="2800" spc="-10" dirty="0">
                <a:latin typeface="Calibri"/>
                <a:cs typeface="Calibri"/>
              </a:rPr>
              <a:t>unsur dan  disusun </a:t>
            </a:r>
            <a:r>
              <a:rPr sz="2800" spc="-5" dirty="0">
                <a:latin typeface="Calibri"/>
                <a:cs typeface="Calibri"/>
              </a:rPr>
              <a:t>r</a:t>
            </a:r>
            <a:r>
              <a:rPr sz="2800" spc="65" dirty="0">
                <a:latin typeface="Calibri"/>
                <a:cs typeface="Calibri"/>
              </a:rPr>
              <a:t> </a:t>
            </a:r>
            <a:r>
              <a:rPr sz="2800" spc="-55" dirty="0">
                <a:latin typeface="Calibri"/>
                <a:cs typeface="Calibri"/>
              </a:rPr>
              <a:t>unsur.</a:t>
            </a:r>
            <a:endParaRPr sz="2800">
              <a:latin typeface="Calibri"/>
              <a:cs typeface="Calibri"/>
            </a:endParaRPr>
          </a:p>
        </p:txBody>
      </p:sp>
      <p:sp>
        <p:nvSpPr>
          <p:cNvPr id="4" name="object 4"/>
          <p:cNvSpPr txBox="1"/>
          <p:nvPr/>
        </p:nvSpPr>
        <p:spPr>
          <a:xfrm>
            <a:off x="2725292" y="3091688"/>
            <a:ext cx="182880" cy="382270"/>
          </a:xfrm>
          <a:prstGeom prst="rect">
            <a:avLst/>
          </a:prstGeom>
        </p:spPr>
        <p:txBody>
          <a:bodyPr vert="horz" wrap="square" lIns="0" tIns="1143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0"/>
              </a:spcBef>
            </a:pPr>
            <a:r>
              <a:rPr sz="2350" spc="250" dirty="0">
                <a:latin typeface="Cambria Math"/>
                <a:cs typeface="Cambria Math"/>
              </a:rPr>
              <a:t>𝑟</a:t>
            </a:r>
            <a:endParaRPr sz="2350">
              <a:latin typeface="Cambria Math"/>
              <a:cs typeface="Cambria Math"/>
            </a:endParaRPr>
          </a:p>
        </p:txBody>
      </p:sp>
      <p:sp>
        <p:nvSpPr>
          <p:cNvPr id="5" name="object 5"/>
          <p:cNvSpPr txBox="1"/>
          <p:nvPr/>
        </p:nvSpPr>
        <p:spPr>
          <a:xfrm>
            <a:off x="2481960" y="2899663"/>
            <a:ext cx="973455" cy="513715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105"/>
              </a:spcBef>
              <a:tabLst>
                <a:tab pos="630555" algn="l"/>
              </a:tabLst>
            </a:pPr>
            <a:r>
              <a:rPr sz="3200" spc="175" dirty="0">
                <a:latin typeface="Cambria Math"/>
                <a:cs typeface="Cambria Math"/>
              </a:rPr>
              <a:t>𝐶</a:t>
            </a:r>
            <a:r>
              <a:rPr sz="3525" spc="262" baseline="28368" dirty="0">
                <a:latin typeface="Cambria Math"/>
                <a:cs typeface="Cambria Math"/>
              </a:rPr>
              <a:t>𝑛	</a:t>
            </a:r>
            <a:r>
              <a:rPr sz="3200" dirty="0">
                <a:latin typeface="Cambria Math"/>
                <a:cs typeface="Cambria Math"/>
              </a:rPr>
              <a:t>=</a:t>
            </a:r>
            <a:endParaRPr sz="3200">
              <a:latin typeface="Cambria Math"/>
              <a:cs typeface="Cambria Math"/>
            </a:endParaRPr>
          </a:p>
        </p:txBody>
      </p:sp>
      <p:sp>
        <p:nvSpPr>
          <p:cNvPr id="6" name="object 6"/>
          <p:cNvSpPr/>
          <p:nvPr/>
        </p:nvSpPr>
        <p:spPr>
          <a:xfrm>
            <a:off x="3616833" y="3190494"/>
            <a:ext cx="1766570" cy="26034"/>
          </a:xfrm>
          <a:custGeom>
            <a:avLst/>
            <a:gdLst/>
            <a:ahLst/>
            <a:cxnLst/>
            <a:rect l="l" t="t" r="r" b="b"/>
            <a:pathLst>
              <a:path w="1766570" h="26035">
                <a:moveTo>
                  <a:pt x="1766315" y="0"/>
                </a:moveTo>
                <a:lnTo>
                  <a:pt x="0" y="0"/>
                </a:lnTo>
                <a:lnTo>
                  <a:pt x="0" y="25908"/>
                </a:lnTo>
                <a:lnTo>
                  <a:pt x="1766315" y="25908"/>
                </a:lnTo>
                <a:lnTo>
                  <a:pt x="1766315" y="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7" name="object 7"/>
          <p:cNvSpPr txBox="1"/>
          <p:nvPr/>
        </p:nvSpPr>
        <p:spPr>
          <a:xfrm>
            <a:off x="4309109" y="2591816"/>
            <a:ext cx="384175" cy="513715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z="3200" spc="65" dirty="0">
                <a:latin typeface="Cambria Math"/>
                <a:cs typeface="Cambria Math"/>
              </a:rPr>
              <a:t>𝑛</a:t>
            </a:r>
            <a:r>
              <a:rPr sz="3200" dirty="0">
                <a:latin typeface="Cambria Math"/>
                <a:cs typeface="Cambria Math"/>
              </a:rPr>
              <a:t>!</a:t>
            </a:r>
            <a:endParaRPr sz="3200">
              <a:latin typeface="Cambria Math"/>
              <a:cs typeface="Cambria Math"/>
            </a:endParaRPr>
          </a:p>
        </p:txBody>
      </p:sp>
      <p:sp>
        <p:nvSpPr>
          <p:cNvPr id="8" name="object 8"/>
          <p:cNvSpPr/>
          <p:nvPr/>
        </p:nvSpPr>
        <p:spPr>
          <a:xfrm>
            <a:off x="3652646" y="3287521"/>
            <a:ext cx="1193165" cy="377190"/>
          </a:xfrm>
          <a:custGeom>
            <a:avLst/>
            <a:gdLst/>
            <a:ahLst/>
            <a:cxnLst/>
            <a:rect l="l" t="t" r="r" b="b"/>
            <a:pathLst>
              <a:path w="1193164" h="377189">
                <a:moveTo>
                  <a:pt x="1072895" y="0"/>
                </a:moveTo>
                <a:lnTo>
                  <a:pt x="1067562" y="15239"/>
                </a:lnTo>
                <a:lnTo>
                  <a:pt x="1089374" y="24691"/>
                </a:lnTo>
                <a:lnTo>
                  <a:pt x="1108138" y="37798"/>
                </a:lnTo>
                <a:lnTo>
                  <a:pt x="1136523" y="74929"/>
                </a:lnTo>
                <a:lnTo>
                  <a:pt x="1153207" y="125031"/>
                </a:lnTo>
                <a:lnTo>
                  <a:pt x="1158748" y="186562"/>
                </a:lnTo>
                <a:lnTo>
                  <a:pt x="1157345" y="219803"/>
                </a:lnTo>
                <a:lnTo>
                  <a:pt x="1146157" y="277092"/>
                </a:lnTo>
                <a:lnTo>
                  <a:pt x="1123775" y="321831"/>
                </a:lnTo>
                <a:lnTo>
                  <a:pt x="1089675" y="352069"/>
                </a:lnTo>
                <a:lnTo>
                  <a:pt x="1068197" y="361569"/>
                </a:lnTo>
                <a:lnTo>
                  <a:pt x="1072895" y="376808"/>
                </a:lnTo>
                <a:lnTo>
                  <a:pt x="1124346" y="352726"/>
                </a:lnTo>
                <a:lnTo>
                  <a:pt x="1162177" y="311023"/>
                </a:lnTo>
                <a:lnTo>
                  <a:pt x="1185386" y="255079"/>
                </a:lnTo>
                <a:lnTo>
                  <a:pt x="1193164" y="188467"/>
                </a:lnTo>
                <a:lnTo>
                  <a:pt x="1191214" y="153943"/>
                </a:lnTo>
                <a:lnTo>
                  <a:pt x="1175644" y="92706"/>
                </a:lnTo>
                <a:lnTo>
                  <a:pt x="1144833" y="42844"/>
                </a:lnTo>
                <a:lnTo>
                  <a:pt x="1100256" y="9836"/>
                </a:lnTo>
                <a:lnTo>
                  <a:pt x="1072895" y="0"/>
                </a:lnTo>
                <a:close/>
              </a:path>
              <a:path w="1193164" h="377189">
                <a:moveTo>
                  <a:pt x="120268" y="0"/>
                </a:moveTo>
                <a:lnTo>
                  <a:pt x="68929" y="24114"/>
                </a:lnTo>
                <a:lnTo>
                  <a:pt x="31114" y="66039"/>
                </a:lnTo>
                <a:lnTo>
                  <a:pt x="7794" y="122015"/>
                </a:lnTo>
                <a:lnTo>
                  <a:pt x="0" y="188467"/>
                </a:lnTo>
                <a:lnTo>
                  <a:pt x="1930" y="223119"/>
                </a:lnTo>
                <a:lnTo>
                  <a:pt x="17412" y="284372"/>
                </a:lnTo>
                <a:lnTo>
                  <a:pt x="48206" y="334071"/>
                </a:lnTo>
                <a:lnTo>
                  <a:pt x="92835" y="366976"/>
                </a:lnTo>
                <a:lnTo>
                  <a:pt x="120268" y="376808"/>
                </a:lnTo>
                <a:lnTo>
                  <a:pt x="124967" y="361569"/>
                </a:lnTo>
                <a:lnTo>
                  <a:pt x="103489" y="352069"/>
                </a:lnTo>
                <a:lnTo>
                  <a:pt x="84962" y="338820"/>
                </a:lnTo>
                <a:lnTo>
                  <a:pt x="56768" y="301116"/>
                </a:lnTo>
                <a:lnTo>
                  <a:pt x="39973" y="249983"/>
                </a:lnTo>
                <a:lnTo>
                  <a:pt x="34416" y="186562"/>
                </a:lnTo>
                <a:lnTo>
                  <a:pt x="35802" y="154368"/>
                </a:lnTo>
                <a:lnTo>
                  <a:pt x="46954" y="98551"/>
                </a:lnTo>
                <a:lnTo>
                  <a:pt x="69435" y="54548"/>
                </a:lnTo>
                <a:lnTo>
                  <a:pt x="103864" y="24691"/>
                </a:lnTo>
                <a:lnTo>
                  <a:pt x="125602" y="15239"/>
                </a:lnTo>
                <a:lnTo>
                  <a:pt x="120268" y="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9" name="object 9"/>
          <p:cNvSpPr txBox="1"/>
          <p:nvPr/>
        </p:nvSpPr>
        <p:spPr>
          <a:xfrm>
            <a:off x="3773804" y="3172460"/>
            <a:ext cx="1623695" cy="513715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  <a:tabLst>
                <a:tab pos="1108710" algn="l"/>
              </a:tabLst>
            </a:pPr>
            <a:r>
              <a:rPr sz="3200" dirty="0">
                <a:latin typeface="Cambria Math"/>
                <a:cs typeface="Cambria Math"/>
              </a:rPr>
              <a:t>𝑛</a:t>
            </a:r>
            <a:r>
              <a:rPr sz="3200" spc="60" dirty="0">
                <a:latin typeface="Cambria Math"/>
                <a:cs typeface="Cambria Math"/>
              </a:rPr>
              <a:t> </a:t>
            </a:r>
            <a:r>
              <a:rPr sz="3200" dirty="0">
                <a:latin typeface="Cambria Math"/>
                <a:cs typeface="Cambria Math"/>
              </a:rPr>
              <a:t>− 𝑟	!</a:t>
            </a:r>
            <a:r>
              <a:rPr sz="3200" spc="-260" dirty="0">
                <a:latin typeface="Cambria Math"/>
                <a:cs typeface="Cambria Math"/>
              </a:rPr>
              <a:t> </a:t>
            </a:r>
            <a:r>
              <a:rPr sz="3200" spc="35" dirty="0">
                <a:latin typeface="Cambria Math"/>
                <a:cs typeface="Cambria Math"/>
              </a:rPr>
              <a:t>𝑟!</a:t>
            </a:r>
            <a:endParaRPr sz="3200">
              <a:latin typeface="Cambria Math"/>
              <a:cs typeface="Cambria Math"/>
            </a:endParaRPr>
          </a:p>
        </p:txBody>
      </p:sp>
      <p:sp>
        <p:nvSpPr>
          <p:cNvPr id="10" name="object 10"/>
          <p:cNvSpPr txBox="1"/>
          <p:nvPr/>
        </p:nvSpPr>
        <p:spPr>
          <a:xfrm>
            <a:off x="5795009" y="2899663"/>
            <a:ext cx="1144905" cy="513715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z="3200" dirty="0">
                <a:latin typeface="Cambria Math"/>
                <a:cs typeface="Cambria Math"/>
              </a:rPr>
              <a:t>, 𝑟 ≤</a:t>
            </a:r>
            <a:r>
              <a:rPr sz="3200" spc="180" dirty="0">
                <a:latin typeface="Cambria Math"/>
                <a:cs typeface="Cambria Math"/>
              </a:rPr>
              <a:t> </a:t>
            </a:r>
            <a:r>
              <a:rPr sz="3200" dirty="0">
                <a:latin typeface="Cambria Math"/>
                <a:cs typeface="Cambria Math"/>
              </a:rPr>
              <a:t>𝑛</a:t>
            </a:r>
            <a:endParaRPr sz="3200">
              <a:latin typeface="Cambria Math"/>
              <a:cs typeface="Cambria Math"/>
            </a:endParaRPr>
          </a:p>
        </p:txBody>
      </p:sp>
      <p:sp>
        <p:nvSpPr>
          <p:cNvPr id="11" name="object 11"/>
          <p:cNvSpPr txBox="1"/>
          <p:nvPr/>
        </p:nvSpPr>
        <p:spPr>
          <a:xfrm>
            <a:off x="3060954" y="3862578"/>
            <a:ext cx="2880360" cy="864235"/>
          </a:xfrm>
          <a:prstGeom prst="rect">
            <a:avLst/>
          </a:prstGeom>
          <a:solidFill>
            <a:srgbClr val="4F81BC"/>
          </a:solidFill>
          <a:ln w="25907">
            <a:solidFill>
              <a:srgbClr val="385D89"/>
            </a:solidFill>
          </a:ln>
        </p:spPr>
        <p:txBody>
          <a:bodyPr vert="horz" wrap="square" lIns="0" tIns="194945" rIns="0" bIns="0" rtlCol="0">
            <a:spAutoFit/>
          </a:bodyPr>
          <a:lstStyle/>
          <a:p>
            <a:pPr marL="572135">
              <a:lnSpc>
                <a:spcPct val="100000"/>
              </a:lnSpc>
              <a:spcBef>
                <a:spcPts val="1535"/>
              </a:spcBef>
            </a:pPr>
            <a:r>
              <a:rPr sz="2800" spc="-15" dirty="0">
                <a:solidFill>
                  <a:srgbClr val="FFFFFF"/>
                </a:solidFill>
                <a:latin typeface="Calibri"/>
                <a:cs typeface="Calibri"/>
              </a:rPr>
              <a:t>Contoh</a:t>
            </a:r>
            <a:r>
              <a:rPr sz="2800" spc="-10" dirty="0">
                <a:solidFill>
                  <a:srgbClr val="FFFFFF"/>
                </a:solidFill>
                <a:latin typeface="Calibri"/>
                <a:cs typeface="Calibri"/>
              </a:rPr>
              <a:t> Soal</a:t>
            </a:r>
            <a:endParaRPr sz="2800">
              <a:latin typeface="Calibri"/>
              <a:cs typeface="Calibri"/>
            </a:endParaRP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978509" y="622300"/>
            <a:ext cx="7101840" cy="1927225"/>
          </a:xfrm>
          <a:prstGeom prst="rect">
            <a:avLst/>
          </a:prstGeom>
        </p:spPr>
        <p:txBody>
          <a:bodyPr vert="horz" wrap="square" lIns="0" tIns="165735" rIns="0" bIns="0" rtlCol="0">
            <a:spAutoFit/>
          </a:bodyPr>
          <a:lstStyle/>
          <a:p>
            <a:pPr marL="104775" algn="ctr">
              <a:lnSpc>
                <a:spcPct val="100000"/>
              </a:lnSpc>
              <a:spcBef>
                <a:spcPts val="1305"/>
              </a:spcBef>
            </a:pPr>
            <a:r>
              <a:rPr sz="3600" spc="-15" dirty="0"/>
              <a:t>Contoh </a:t>
            </a:r>
            <a:r>
              <a:rPr sz="3600" spc="-5" dirty="0"/>
              <a:t>Soal</a:t>
            </a:r>
            <a:r>
              <a:rPr sz="3600" spc="10" dirty="0"/>
              <a:t> </a:t>
            </a:r>
            <a:r>
              <a:rPr sz="3600" spc="-10" dirty="0"/>
              <a:t>Kombinasi</a:t>
            </a:r>
            <a:endParaRPr sz="3600"/>
          </a:p>
          <a:p>
            <a:pPr marL="12700" marR="5080" algn="just">
              <a:lnSpc>
                <a:spcPct val="100000"/>
              </a:lnSpc>
              <a:spcBef>
                <a:spcPts val="805"/>
              </a:spcBef>
            </a:pPr>
            <a:r>
              <a:rPr sz="2400" spc="-30" dirty="0"/>
              <a:t>Tentukanlah </a:t>
            </a:r>
            <a:r>
              <a:rPr sz="2400" spc="-20" dirty="0"/>
              <a:t>banyaknya cara </a:t>
            </a:r>
            <a:r>
              <a:rPr sz="2400" spc="-10" dirty="0"/>
              <a:t>untuk </a:t>
            </a:r>
            <a:r>
              <a:rPr sz="2400" dirty="0"/>
              <a:t>memilih 3 </a:t>
            </a:r>
            <a:r>
              <a:rPr sz="2400" spc="-15" dirty="0"/>
              <a:t>orang siswa  </a:t>
            </a:r>
            <a:r>
              <a:rPr sz="2400" spc="-10" dirty="0"/>
              <a:t>sebagai petugas </a:t>
            </a:r>
            <a:r>
              <a:rPr sz="2400" spc="-5" dirty="0"/>
              <a:t>pengibar </a:t>
            </a:r>
            <a:r>
              <a:rPr sz="2400" spc="-10" dirty="0"/>
              <a:t>bendera </a:t>
            </a:r>
            <a:r>
              <a:rPr sz="2400" spc="-5" dirty="0"/>
              <a:t>hari Senin </a:t>
            </a:r>
            <a:r>
              <a:rPr sz="2400" spc="-10" dirty="0"/>
              <a:t>yang </a:t>
            </a:r>
            <a:r>
              <a:rPr sz="2400" spc="-5" dirty="0"/>
              <a:t>dipilih  dari </a:t>
            </a:r>
            <a:r>
              <a:rPr sz="2400" dirty="0"/>
              <a:t>20 </a:t>
            </a:r>
            <a:r>
              <a:rPr sz="2400" spc="-15" dirty="0"/>
              <a:t>orang siswa </a:t>
            </a:r>
            <a:r>
              <a:rPr sz="2400" spc="-5" dirty="0"/>
              <a:t>anggota </a:t>
            </a:r>
            <a:r>
              <a:rPr sz="2400" spc="-20" dirty="0"/>
              <a:t>Barata </a:t>
            </a:r>
            <a:r>
              <a:rPr sz="2400" spc="-15" dirty="0"/>
              <a:t>kelas</a:t>
            </a:r>
            <a:r>
              <a:rPr sz="2400" spc="-60" dirty="0"/>
              <a:t> </a:t>
            </a:r>
            <a:r>
              <a:rPr sz="2400" dirty="0"/>
              <a:t>I!</a:t>
            </a:r>
            <a:endParaRPr sz="2400"/>
          </a:p>
        </p:txBody>
      </p:sp>
      <p:sp>
        <p:nvSpPr>
          <p:cNvPr id="3" name="object 3"/>
          <p:cNvSpPr txBox="1"/>
          <p:nvPr/>
        </p:nvSpPr>
        <p:spPr>
          <a:xfrm>
            <a:off x="2303145" y="3370910"/>
            <a:ext cx="175895" cy="337185"/>
          </a:xfrm>
          <a:prstGeom prst="rect">
            <a:avLst/>
          </a:prstGeom>
        </p:spPr>
        <p:txBody>
          <a:bodyPr vert="horz" wrap="square" lIns="0" tIns="1143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0"/>
              </a:spcBef>
            </a:pPr>
            <a:r>
              <a:rPr sz="2050" spc="45" dirty="0">
                <a:latin typeface="Cambria Math"/>
                <a:cs typeface="Cambria Math"/>
              </a:rPr>
              <a:t>3</a:t>
            </a:r>
            <a:endParaRPr sz="2050">
              <a:latin typeface="Cambria Math"/>
              <a:cs typeface="Cambria Math"/>
            </a:endParaRPr>
          </a:p>
        </p:txBody>
      </p:sp>
      <p:sp>
        <p:nvSpPr>
          <p:cNvPr id="4" name="object 4"/>
          <p:cNvSpPr txBox="1"/>
          <p:nvPr/>
        </p:nvSpPr>
        <p:spPr>
          <a:xfrm>
            <a:off x="2086991" y="3055442"/>
            <a:ext cx="991235" cy="45212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95"/>
              </a:spcBef>
            </a:pPr>
            <a:r>
              <a:rPr sz="4200" spc="120" baseline="-21825" dirty="0">
                <a:latin typeface="Cambria Math"/>
                <a:cs typeface="Cambria Math"/>
              </a:rPr>
              <a:t>𝐶</a:t>
            </a:r>
            <a:r>
              <a:rPr sz="2050" spc="80" dirty="0">
                <a:latin typeface="Cambria Math"/>
                <a:cs typeface="Cambria Math"/>
              </a:rPr>
              <a:t>20</a:t>
            </a:r>
            <a:r>
              <a:rPr sz="2050" spc="400" dirty="0">
                <a:latin typeface="Cambria Math"/>
                <a:cs typeface="Cambria Math"/>
              </a:rPr>
              <a:t> </a:t>
            </a:r>
            <a:r>
              <a:rPr sz="4200" spc="-7" baseline="-21825" dirty="0">
                <a:latin typeface="Cambria Math"/>
                <a:cs typeface="Cambria Math"/>
              </a:rPr>
              <a:t>=</a:t>
            </a:r>
            <a:endParaRPr sz="4200" baseline="-21825">
              <a:latin typeface="Cambria Math"/>
              <a:cs typeface="Cambria Math"/>
            </a:endParaRPr>
          </a:p>
        </p:txBody>
      </p:sp>
      <p:sp>
        <p:nvSpPr>
          <p:cNvPr id="5" name="object 5"/>
          <p:cNvSpPr/>
          <p:nvPr/>
        </p:nvSpPr>
        <p:spPr>
          <a:xfrm>
            <a:off x="3216020" y="3447288"/>
            <a:ext cx="1156970" cy="22860"/>
          </a:xfrm>
          <a:custGeom>
            <a:avLst/>
            <a:gdLst/>
            <a:ahLst/>
            <a:cxnLst/>
            <a:rect l="l" t="t" r="r" b="b"/>
            <a:pathLst>
              <a:path w="1156970" h="22860">
                <a:moveTo>
                  <a:pt x="1156716" y="0"/>
                </a:moveTo>
                <a:lnTo>
                  <a:pt x="0" y="0"/>
                </a:lnTo>
                <a:lnTo>
                  <a:pt x="0" y="22860"/>
                </a:lnTo>
                <a:lnTo>
                  <a:pt x="1156716" y="22860"/>
                </a:lnTo>
                <a:lnTo>
                  <a:pt x="1156716" y="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6" name="object 6"/>
          <p:cNvSpPr txBox="1"/>
          <p:nvPr/>
        </p:nvSpPr>
        <p:spPr>
          <a:xfrm>
            <a:off x="3593972" y="3080130"/>
            <a:ext cx="401320" cy="336550"/>
          </a:xfrm>
          <a:prstGeom prst="rect">
            <a:avLst/>
          </a:prstGeom>
        </p:spPr>
        <p:txBody>
          <a:bodyPr vert="horz" wrap="square" lIns="0" tIns="1143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0"/>
              </a:spcBef>
            </a:pPr>
            <a:r>
              <a:rPr sz="2050" spc="40" dirty="0">
                <a:latin typeface="Cambria Math"/>
                <a:cs typeface="Cambria Math"/>
              </a:rPr>
              <a:t>2</a:t>
            </a:r>
            <a:r>
              <a:rPr sz="2050" spc="60" dirty="0">
                <a:latin typeface="Cambria Math"/>
                <a:cs typeface="Cambria Math"/>
              </a:rPr>
              <a:t>0</a:t>
            </a:r>
            <a:r>
              <a:rPr sz="2050" spc="-5" dirty="0">
                <a:latin typeface="Cambria Math"/>
                <a:cs typeface="Cambria Math"/>
              </a:rPr>
              <a:t>!</a:t>
            </a:r>
            <a:endParaRPr sz="2050">
              <a:latin typeface="Cambria Math"/>
              <a:cs typeface="Cambria Math"/>
            </a:endParaRPr>
          </a:p>
        </p:txBody>
      </p:sp>
      <p:sp>
        <p:nvSpPr>
          <p:cNvPr id="7" name="object 7"/>
          <p:cNvSpPr/>
          <p:nvPr/>
        </p:nvSpPr>
        <p:spPr>
          <a:xfrm>
            <a:off x="3238880" y="3543427"/>
            <a:ext cx="808990" cy="240029"/>
          </a:xfrm>
          <a:custGeom>
            <a:avLst/>
            <a:gdLst/>
            <a:ahLst/>
            <a:cxnLst/>
            <a:rect l="l" t="t" r="r" b="b"/>
            <a:pathLst>
              <a:path w="808989" h="240029">
                <a:moveTo>
                  <a:pt x="732155" y="0"/>
                </a:moveTo>
                <a:lnTo>
                  <a:pt x="728726" y="9778"/>
                </a:lnTo>
                <a:lnTo>
                  <a:pt x="742628" y="15783"/>
                </a:lnTo>
                <a:lnTo>
                  <a:pt x="754602" y="24098"/>
                </a:lnTo>
                <a:lnTo>
                  <a:pt x="778835" y="62773"/>
                </a:lnTo>
                <a:lnTo>
                  <a:pt x="786765" y="118745"/>
                </a:lnTo>
                <a:lnTo>
                  <a:pt x="785881" y="139942"/>
                </a:lnTo>
                <a:lnTo>
                  <a:pt x="772541" y="191770"/>
                </a:lnTo>
                <a:lnTo>
                  <a:pt x="742822" y="224202"/>
                </a:lnTo>
                <a:lnTo>
                  <a:pt x="729107" y="230250"/>
                </a:lnTo>
                <a:lnTo>
                  <a:pt x="732155" y="239903"/>
                </a:lnTo>
                <a:lnTo>
                  <a:pt x="778017" y="212685"/>
                </a:lnTo>
                <a:lnTo>
                  <a:pt x="803782" y="162433"/>
                </a:lnTo>
                <a:lnTo>
                  <a:pt x="808735" y="120015"/>
                </a:lnTo>
                <a:lnTo>
                  <a:pt x="807497" y="98008"/>
                </a:lnTo>
                <a:lnTo>
                  <a:pt x="797591" y="59043"/>
                </a:lnTo>
                <a:lnTo>
                  <a:pt x="764825" y="15351"/>
                </a:lnTo>
                <a:lnTo>
                  <a:pt x="749561" y="6264"/>
                </a:lnTo>
                <a:lnTo>
                  <a:pt x="732155" y="0"/>
                </a:lnTo>
                <a:close/>
              </a:path>
              <a:path w="808989" h="240029">
                <a:moveTo>
                  <a:pt x="76454" y="0"/>
                </a:moveTo>
                <a:lnTo>
                  <a:pt x="30769" y="27271"/>
                </a:lnTo>
                <a:lnTo>
                  <a:pt x="4952" y="77692"/>
                </a:lnTo>
                <a:lnTo>
                  <a:pt x="0" y="120015"/>
                </a:lnTo>
                <a:lnTo>
                  <a:pt x="1218" y="142093"/>
                </a:lnTo>
                <a:lnTo>
                  <a:pt x="11037" y="181058"/>
                </a:lnTo>
                <a:lnTo>
                  <a:pt x="43783" y="224567"/>
                </a:lnTo>
                <a:lnTo>
                  <a:pt x="76454" y="239903"/>
                </a:lnTo>
                <a:lnTo>
                  <a:pt x="79502" y="230250"/>
                </a:lnTo>
                <a:lnTo>
                  <a:pt x="65857" y="224202"/>
                </a:lnTo>
                <a:lnTo>
                  <a:pt x="54070" y="215773"/>
                </a:lnTo>
                <a:lnTo>
                  <a:pt x="29827" y="176430"/>
                </a:lnTo>
                <a:lnTo>
                  <a:pt x="21843" y="118745"/>
                </a:lnTo>
                <a:lnTo>
                  <a:pt x="22727" y="98294"/>
                </a:lnTo>
                <a:lnTo>
                  <a:pt x="36068" y="47751"/>
                </a:lnTo>
                <a:lnTo>
                  <a:pt x="66071" y="15783"/>
                </a:lnTo>
                <a:lnTo>
                  <a:pt x="79882" y="9778"/>
                </a:lnTo>
                <a:lnTo>
                  <a:pt x="76454" y="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8" name="object 8"/>
          <p:cNvSpPr/>
          <p:nvPr/>
        </p:nvSpPr>
        <p:spPr>
          <a:xfrm>
            <a:off x="4912233" y="3447288"/>
            <a:ext cx="601980" cy="22860"/>
          </a:xfrm>
          <a:custGeom>
            <a:avLst/>
            <a:gdLst/>
            <a:ahLst/>
            <a:cxnLst/>
            <a:rect l="l" t="t" r="r" b="b"/>
            <a:pathLst>
              <a:path w="601979" h="22860">
                <a:moveTo>
                  <a:pt x="601979" y="0"/>
                </a:moveTo>
                <a:lnTo>
                  <a:pt x="0" y="0"/>
                </a:lnTo>
                <a:lnTo>
                  <a:pt x="0" y="22860"/>
                </a:lnTo>
                <a:lnTo>
                  <a:pt x="601979" y="22860"/>
                </a:lnTo>
                <a:lnTo>
                  <a:pt x="601979" y="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9" name="object 9"/>
          <p:cNvSpPr txBox="1"/>
          <p:nvPr/>
        </p:nvSpPr>
        <p:spPr>
          <a:xfrm>
            <a:off x="5013197" y="3080130"/>
            <a:ext cx="401320" cy="336550"/>
          </a:xfrm>
          <a:prstGeom prst="rect">
            <a:avLst/>
          </a:prstGeom>
        </p:spPr>
        <p:txBody>
          <a:bodyPr vert="horz" wrap="square" lIns="0" tIns="1143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0"/>
              </a:spcBef>
            </a:pPr>
            <a:r>
              <a:rPr sz="2050" spc="40" dirty="0">
                <a:latin typeface="Cambria Math"/>
                <a:cs typeface="Cambria Math"/>
              </a:rPr>
              <a:t>2</a:t>
            </a:r>
            <a:r>
              <a:rPr sz="2050" spc="60" dirty="0">
                <a:latin typeface="Cambria Math"/>
                <a:cs typeface="Cambria Math"/>
              </a:rPr>
              <a:t>0</a:t>
            </a:r>
            <a:r>
              <a:rPr sz="2050" spc="-5" dirty="0">
                <a:latin typeface="Cambria Math"/>
                <a:cs typeface="Cambria Math"/>
              </a:rPr>
              <a:t>!</a:t>
            </a:r>
            <a:endParaRPr sz="2050">
              <a:latin typeface="Cambria Math"/>
              <a:cs typeface="Cambria Math"/>
            </a:endParaRPr>
          </a:p>
        </p:txBody>
      </p:sp>
      <p:sp>
        <p:nvSpPr>
          <p:cNvPr id="10" name="object 10"/>
          <p:cNvSpPr txBox="1"/>
          <p:nvPr/>
        </p:nvSpPr>
        <p:spPr>
          <a:xfrm>
            <a:off x="4458461" y="3192602"/>
            <a:ext cx="1416050" cy="45212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  <a:tabLst>
                <a:tab pos="1137285" algn="l"/>
              </a:tabLst>
            </a:pPr>
            <a:r>
              <a:rPr sz="2800" spc="-5" dirty="0">
                <a:latin typeface="Cambria Math"/>
                <a:cs typeface="Cambria Math"/>
              </a:rPr>
              <a:t>=	=</a:t>
            </a:r>
            <a:endParaRPr sz="2800">
              <a:latin typeface="Cambria Math"/>
              <a:cs typeface="Cambria Math"/>
            </a:endParaRPr>
          </a:p>
        </p:txBody>
      </p:sp>
      <p:sp>
        <p:nvSpPr>
          <p:cNvPr id="11" name="object 11"/>
          <p:cNvSpPr/>
          <p:nvPr/>
        </p:nvSpPr>
        <p:spPr>
          <a:xfrm>
            <a:off x="6036945" y="3447288"/>
            <a:ext cx="1268095" cy="22860"/>
          </a:xfrm>
          <a:custGeom>
            <a:avLst/>
            <a:gdLst/>
            <a:ahLst/>
            <a:cxnLst/>
            <a:rect l="l" t="t" r="r" b="b"/>
            <a:pathLst>
              <a:path w="1268095" h="22860">
                <a:moveTo>
                  <a:pt x="1267968" y="0"/>
                </a:moveTo>
                <a:lnTo>
                  <a:pt x="0" y="0"/>
                </a:lnTo>
                <a:lnTo>
                  <a:pt x="0" y="22860"/>
                </a:lnTo>
                <a:lnTo>
                  <a:pt x="1267968" y="22860"/>
                </a:lnTo>
                <a:lnTo>
                  <a:pt x="1267968" y="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2" name="object 12"/>
          <p:cNvSpPr txBox="1"/>
          <p:nvPr/>
        </p:nvSpPr>
        <p:spPr>
          <a:xfrm>
            <a:off x="6025134" y="3080130"/>
            <a:ext cx="1290955" cy="336550"/>
          </a:xfrm>
          <a:prstGeom prst="rect">
            <a:avLst/>
          </a:prstGeom>
        </p:spPr>
        <p:txBody>
          <a:bodyPr vert="horz" wrap="square" lIns="0" tIns="1143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0"/>
              </a:spcBef>
            </a:pPr>
            <a:r>
              <a:rPr sz="2050" spc="40" dirty="0">
                <a:latin typeface="Cambria Math"/>
                <a:cs typeface="Cambria Math"/>
              </a:rPr>
              <a:t>2</a:t>
            </a:r>
            <a:r>
              <a:rPr sz="2050" spc="65" dirty="0">
                <a:latin typeface="Cambria Math"/>
                <a:cs typeface="Cambria Math"/>
              </a:rPr>
              <a:t>0</a:t>
            </a:r>
            <a:r>
              <a:rPr sz="2050" spc="-5" dirty="0">
                <a:latin typeface="Cambria Math"/>
                <a:cs typeface="Cambria Math"/>
              </a:rPr>
              <a:t>×</a:t>
            </a:r>
            <a:r>
              <a:rPr sz="2050" spc="10" dirty="0">
                <a:latin typeface="Cambria Math"/>
                <a:cs typeface="Cambria Math"/>
              </a:rPr>
              <a:t>1</a:t>
            </a:r>
            <a:r>
              <a:rPr sz="2050" spc="30" dirty="0">
                <a:latin typeface="Cambria Math"/>
                <a:cs typeface="Cambria Math"/>
              </a:rPr>
              <a:t>9</a:t>
            </a:r>
            <a:r>
              <a:rPr sz="2050" spc="-20" dirty="0">
                <a:latin typeface="Cambria Math"/>
                <a:cs typeface="Cambria Math"/>
              </a:rPr>
              <a:t>×</a:t>
            </a:r>
            <a:r>
              <a:rPr sz="2050" spc="40" dirty="0">
                <a:latin typeface="Cambria Math"/>
                <a:cs typeface="Cambria Math"/>
              </a:rPr>
              <a:t>18</a:t>
            </a:r>
            <a:endParaRPr sz="2050">
              <a:latin typeface="Cambria Math"/>
              <a:cs typeface="Cambria Math"/>
            </a:endParaRPr>
          </a:p>
        </p:txBody>
      </p:sp>
      <p:sp>
        <p:nvSpPr>
          <p:cNvPr id="13" name="object 13"/>
          <p:cNvSpPr txBox="1"/>
          <p:nvPr/>
        </p:nvSpPr>
        <p:spPr>
          <a:xfrm>
            <a:off x="3312033" y="3467480"/>
            <a:ext cx="3785235" cy="336550"/>
          </a:xfrm>
          <a:prstGeom prst="rect">
            <a:avLst/>
          </a:prstGeom>
        </p:spPr>
        <p:txBody>
          <a:bodyPr vert="horz" wrap="square" lIns="0" tIns="1143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0"/>
              </a:spcBef>
              <a:tabLst>
                <a:tab pos="1600835" algn="l"/>
                <a:tab pos="2946400" algn="l"/>
              </a:tabLst>
            </a:pPr>
            <a:r>
              <a:rPr sz="2050" spc="40" dirty="0">
                <a:latin typeface="Cambria Math"/>
                <a:cs typeface="Cambria Math"/>
              </a:rPr>
              <a:t>2</a:t>
            </a:r>
            <a:r>
              <a:rPr sz="2050" spc="50" dirty="0">
                <a:latin typeface="Cambria Math"/>
                <a:cs typeface="Cambria Math"/>
              </a:rPr>
              <a:t>0</a:t>
            </a:r>
            <a:r>
              <a:rPr sz="2050" spc="-50" dirty="0">
                <a:latin typeface="Cambria Math"/>
                <a:cs typeface="Cambria Math"/>
              </a:rPr>
              <a:t>−</a:t>
            </a:r>
            <a:r>
              <a:rPr sz="2050" spc="45" dirty="0">
                <a:latin typeface="Cambria Math"/>
                <a:cs typeface="Cambria Math"/>
              </a:rPr>
              <a:t>3</a:t>
            </a:r>
            <a:r>
              <a:rPr sz="2050" dirty="0">
                <a:latin typeface="Cambria Math"/>
                <a:cs typeface="Cambria Math"/>
              </a:rPr>
              <a:t> </a:t>
            </a:r>
            <a:r>
              <a:rPr sz="2050" spc="-45" dirty="0">
                <a:latin typeface="Cambria Math"/>
                <a:cs typeface="Cambria Math"/>
              </a:rPr>
              <a:t> </a:t>
            </a:r>
            <a:r>
              <a:rPr sz="2050" dirty="0">
                <a:latin typeface="Cambria Math"/>
                <a:cs typeface="Cambria Math"/>
              </a:rPr>
              <a:t>!</a:t>
            </a:r>
            <a:r>
              <a:rPr sz="2050" spc="55" dirty="0">
                <a:latin typeface="Cambria Math"/>
                <a:cs typeface="Cambria Math"/>
              </a:rPr>
              <a:t>3</a:t>
            </a:r>
            <a:r>
              <a:rPr sz="2050" spc="-5" dirty="0">
                <a:latin typeface="Cambria Math"/>
                <a:cs typeface="Cambria Math"/>
              </a:rPr>
              <a:t>!</a:t>
            </a:r>
            <a:r>
              <a:rPr sz="2050" dirty="0">
                <a:latin typeface="Cambria Math"/>
                <a:cs typeface="Cambria Math"/>
              </a:rPr>
              <a:t>	</a:t>
            </a:r>
            <a:r>
              <a:rPr sz="2050" spc="40" dirty="0">
                <a:latin typeface="Cambria Math"/>
                <a:cs typeface="Cambria Math"/>
              </a:rPr>
              <a:t>1</a:t>
            </a:r>
            <a:r>
              <a:rPr sz="2050" spc="60" dirty="0">
                <a:latin typeface="Cambria Math"/>
                <a:cs typeface="Cambria Math"/>
              </a:rPr>
              <a:t>7</a:t>
            </a:r>
            <a:r>
              <a:rPr sz="2050" dirty="0">
                <a:latin typeface="Cambria Math"/>
                <a:cs typeface="Cambria Math"/>
              </a:rPr>
              <a:t>!</a:t>
            </a:r>
            <a:r>
              <a:rPr sz="2050" spc="50" dirty="0">
                <a:latin typeface="Cambria Math"/>
                <a:cs typeface="Cambria Math"/>
              </a:rPr>
              <a:t>3</a:t>
            </a:r>
            <a:r>
              <a:rPr sz="2050" spc="-5" dirty="0">
                <a:latin typeface="Cambria Math"/>
                <a:cs typeface="Cambria Math"/>
              </a:rPr>
              <a:t>!</a:t>
            </a:r>
            <a:r>
              <a:rPr sz="2050" dirty="0">
                <a:latin typeface="Cambria Math"/>
                <a:cs typeface="Cambria Math"/>
              </a:rPr>
              <a:t>	</a:t>
            </a:r>
            <a:r>
              <a:rPr sz="2050" spc="65" dirty="0">
                <a:latin typeface="Cambria Math"/>
                <a:cs typeface="Cambria Math"/>
              </a:rPr>
              <a:t>3</a:t>
            </a:r>
            <a:r>
              <a:rPr sz="2050" spc="-5" dirty="0">
                <a:latin typeface="Cambria Math"/>
                <a:cs typeface="Cambria Math"/>
              </a:rPr>
              <a:t>×</a:t>
            </a:r>
            <a:r>
              <a:rPr sz="2050" spc="50" dirty="0">
                <a:latin typeface="Cambria Math"/>
                <a:cs typeface="Cambria Math"/>
              </a:rPr>
              <a:t>2</a:t>
            </a:r>
            <a:r>
              <a:rPr sz="2050" spc="-5" dirty="0">
                <a:latin typeface="Cambria Math"/>
                <a:cs typeface="Cambria Math"/>
              </a:rPr>
              <a:t>×</a:t>
            </a:r>
            <a:r>
              <a:rPr sz="2050" spc="45" dirty="0">
                <a:latin typeface="Cambria Math"/>
                <a:cs typeface="Cambria Math"/>
              </a:rPr>
              <a:t>1</a:t>
            </a:r>
            <a:endParaRPr sz="2050">
              <a:latin typeface="Cambria Math"/>
              <a:cs typeface="Cambria Math"/>
            </a:endParaRPr>
          </a:p>
        </p:txBody>
      </p:sp>
      <p:sp>
        <p:nvSpPr>
          <p:cNvPr id="14" name="object 14"/>
          <p:cNvSpPr txBox="1"/>
          <p:nvPr/>
        </p:nvSpPr>
        <p:spPr>
          <a:xfrm>
            <a:off x="2786252" y="3837813"/>
            <a:ext cx="4253230" cy="45212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2800" spc="-5" dirty="0">
                <a:latin typeface="Cambria Math"/>
                <a:cs typeface="Cambria Math"/>
              </a:rPr>
              <a:t>= 20 × 19 × 3 = </a:t>
            </a:r>
            <a:r>
              <a:rPr sz="2800" spc="-10" dirty="0">
                <a:latin typeface="Cambria Math"/>
                <a:cs typeface="Cambria Math"/>
              </a:rPr>
              <a:t>1140</a:t>
            </a:r>
            <a:r>
              <a:rPr sz="2800" spc="475" dirty="0">
                <a:latin typeface="Cambria Math"/>
                <a:cs typeface="Cambria Math"/>
              </a:rPr>
              <a:t> </a:t>
            </a:r>
            <a:r>
              <a:rPr sz="2800" spc="-5" dirty="0">
                <a:latin typeface="Cambria Math"/>
                <a:cs typeface="Cambria Math"/>
              </a:rPr>
              <a:t>𝑐𝑎𝑟𝑎</a:t>
            </a:r>
            <a:endParaRPr sz="2800">
              <a:latin typeface="Cambria Math"/>
              <a:cs typeface="Cambria Math"/>
            </a:endParaRP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965809" y="1867027"/>
            <a:ext cx="7260590" cy="1854835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25400" marR="17780">
              <a:lnSpc>
                <a:spcPct val="99800"/>
              </a:lnSpc>
              <a:spcBef>
                <a:spcPts val="105"/>
              </a:spcBef>
            </a:pPr>
            <a:r>
              <a:rPr sz="2400" spc="-10" dirty="0">
                <a:latin typeface="Calibri"/>
                <a:cs typeface="Calibri"/>
              </a:rPr>
              <a:t>Suatu </a:t>
            </a:r>
            <a:r>
              <a:rPr sz="2400" spc="-5" dirty="0">
                <a:latin typeface="Calibri"/>
                <a:cs typeface="Calibri"/>
              </a:rPr>
              <a:t>populasi </a:t>
            </a:r>
            <a:r>
              <a:rPr sz="2400" spc="-10" dirty="0">
                <a:latin typeface="Calibri"/>
                <a:cs typeface="Calibri"/>
              </a:rPr>
              <a:t>terdiri </a:t>
            </a:r>
            <a:r>
              <a:rPr sz="2400" spc="-5" dirty="0">
                <a:latin typeface="Calibri"/>
                <a:cs typeface="Calibri"/>
              </a:rPr>
              <a:t>dari </a:t>
            </a:r>
            <a:r>
              <a:rPr sz="2400" dirty="0">
                <a:latin typeface="Calibri"/>
                <a:cs typeface="Calibri"/>
              </a:rPr>
              <a:t>n elemen: </a:t>
            </a:r>
            <a:r>
              <a:rPr sz="2400" spc="-65" dirty="0">
                <a:latin typeface="Cambria Math"/>
                <a:cs typeface="Cambria Math"/>
              </a:rPr>
              <a:t>𝑋</a:t>
            </a:r>
            <a:r>
              <a:rPr sz="2625" spc="-97" baseline="-15873" dirty="0">
                <a:latin typeface="Cambria Math"/>
                <a:cs typeface="Cambria Math"/>
              </a:rPr>
              <a:t>1 </a:t>
            </a:r>
            <a:r>
              <a:rPr sz="2400" dirty="0">
                <a:latin typeface="Cambria Math"/>
                <a:cs typeface="Cambria Math"/>
              </a:rPr>
              <a:t>, </a:t>
            </a:r>
            <a:r>
              <a:rPr sz="2400" spc="-35" dirty="0">
                <a:latin typeface="Cambria Math"/>
                <a:cs typeface="Cambria Math"/>
              </a:rPr>
              <a:t>𝑋</a:t>
            </a:r>
            <a:r>
              <a:rPr sz="2625" spc="-52" baseline="-15873" dirty="0">
                <a:latin typeface="Cambria Math"/>
                <a:cs typeface="Cambria Math"/>
              </a:rPr>
              <a:t>2 </a:t>
            </a:r>
            <a:r>
              <a:rPr sz="2400" dirty="0">
                <a:latin typeface="Cambria Math"/>
                <a:cs typeface="Cambria Math"/>
              </a:rPr>
              <a:t>, … , </a:t>
            </a:r>
            <a:r>
              <a:rPr sz="2400" spc="50" dirty="0">
                <a:latin typeface="Cambria Math"/>
                <a:cs typeface="Cambria Math"/>
              </a:rPr>
              <a:t>𝑋</a:t>
            </a:r>
            <a:r>
              <a:rPr sz="2625" spc="75" baseline="-15873" dirty="0">
                <a:latin typeface="Cambria Math"/>
                <a:cs typeface="Cambria Math"/>
              </a:rPr>
              <a:t>𝑛</a:t>
            </a:r>
            <a:r>
              <a:rPr sz="2400" spc="50" dirty="0">
                <a:latin typeface="Calibri"/>
                <a:cs typeface="Calibri"/>
              </a:rPr>
              <a:t>. </a:t>
            </a:r>
            <a:r>
              <a:rPr sz="2400" spc="-10" dirty="0">
                <a:latin typeface="Calibri"/>
                <a:cs typeface="Calibri"/>
              </a:rPr>
              <a:t>Untuk  menyelidiki </a:t>
            </a:r>
            <a:r>
              <a:rPr sz="2400" spc="-15" dirty="0">
                <a:latin typeface="Calibri"/>
                <a:cs typeface="Calibri"/>
              </a:rPr>
              <a:t>karakteristik </a:t>
            </a:r>
            <a:r>
              <a:rPr sz="2400" spc="-5" dirty="0">
                <a:latin typeface="Calibri"/>
                <a:cs typeface="Calibri"/>
              </a:rPr>
              <a:t>dari populasi </a:t>
            </a:r>
            <a:r>
              <a:rPr sz="2400" spc="-10" dirty="0">
                <a:latin typeface="Calibri"/>
                <a:cs typeface="Calibri"/>
              </a:rPr>
              <a:t>tersebut </a:t>
            </a:r>
            <a:r>
              <a:rPr sz="2400" spc="-5" dirty="0">
                <a:latin typeface="Calibri"/>
                <a:cs typeface="Calibri"/>
              </a:rPr>
              <a:t>diambil  sampel </a:t>
            </a:r>
            <a:r>
              <a:rPr sz="2400" spc="-10" dirty="0">
                <a:latin typeface="Calibri"/>
                <a:cs typeface="Calibri"/>
              </a:rPr>
              <a:t>yang </a:t>
            </a:r>
            <a:r>
              <a:rPr sz="2400" spc="-5" dirty="0">
                <a:latin typeface="Calibri"/>
                <a:cs typeface="Calibri"/>
              </a:rPr>
              <a:t>dipilih </a:t>
            </a:r>
            <a:r>
              <a:rPr sz="2400" spc="-15" dirty="0">
                <a:latin typeface="Calibri"/>
                <a:cs typeface="Calibri"/>
              </a:rPr>
              <a:t>secara </a:t>
            </a:r>
            <a:r>
              <a:rPr sz="2400" spc="-5" dirty="0">
                <a:latin typeface="Calibri"/>
                <a:cs typeface="Calibri"/>
              </a:rPr>
              <a:t>acak </a:t>
            </a:r>
            <a:r>
              <a:rPr sz="2400" spc="-15" dirty="0">
                <a:latin typeface="Calibri"/>
                <a:cs typeface="Calibri"/>
              </a:rPr>
              <a:t>sebanyak </a:t>
            </a:r>
            <a:r>
              <a:rPr sz="2400" dirty="0">
                <a:latin typeface="Calibri"/>
                <a:cs typeface="Calibri"/>
              </a:rPr>
              <a:t>r</a:t>
            </a:r>
            <a:r>
              <a:rPr sz="2400" spc="-40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elemen:</a:t>
            </a:r>
            <a:endParaRPr sz="2400">
              <a:latin typeface="Calibri"/>
              <a:cs typeface="Calibri"/>
            </a:endParaRPr>
          </a:p>
          <a:p>
            <a:pPr marL="25400" marR="727710">
              <a:lnSpc>
                <a:spcPct val="100000"/>
              </a:lnSpc>
              <a:spcBef>
                <a:spcPts val="10"/>
              </a:spcBef>
            </a:pPr>
            <a:r>
              <a:rPr sz="2400" spc="-65" dirty="0">
                <a:latin typeface="Cambria Math"/>
                <a:cs typeface="Cambria Math"/>
              </a:rPr>
              <a:t>𝑋</a:t>
            </a:r>
            <a:r>
              <a:rPr sz="2625" spc="-97" baseline="-15873" dirty="0">
                <a:latin typeface="Cambria Math"/>
                <a:cs typeface="Cambria Math"/>
              </a:rPr>
              <a:t>1 </a:t>
            </a:r>
            <a:r>
              <a:rPr sz="2400" dirty="0">
                <a:latin typeface="Cambria Math"/>
                <a:cs typeface="Cambria Math"/>
              </a:rPr>
              <a:t>, </a:t>
            </a:r>
            <a:r>
              <a:rPr sz="2400" spc="-35" dirty="0">
                <a:latin typeface="Cambria Math"/>
                <a:cs typeface="Cambria Math"/>
              </a:rPr>
              <a:t>𝑋</a:t>
            </a:r>
            <a:r>
              <a:rPr sz="2625" spc="-52" baseline="-15873" dirty="0">
                <a:latin typeface="Cambria Math"/>
                <a:cs typeface="Cambria Math"/>
              </a:rPr>
              <a:t>2 </a:t>
            </a:r>
            <a:r>
              <a:rPr sz="2400" dirty="0">
                <a:latin typeface="Cambria Math"/>
                <a:cs typeface="Cambria Math"/>
              </a:rPr>
              <a:t>, … , </a:t>
            </a:r>
            <a:r>
              <a:rPr sz="2400" spc="45" dirty="0">
                <a:latin typeface="Cambria Math"/>
                <a:cs typeface="Cambria Math"/>
              </a:rPr>
              <a:t>𝑋</a:t>
            </a:r>
            <a:r>
              <a:rPr sz="2625" spc="67" baseline="-15873" dirty="0">
                <a:latin typeface="Cambria Math"/>
                <a:cs typeface="Cambria Math"/>
              </a:rPr>
              <a:t>𝑟</a:t>
            </a:r>
            <a:r>
              <a:rPr sz="2400" spc="45" dirty="0">
                <a:latin typeface="Calibri"/>
                <a:cs typeface="Calibri"/>
              </a:rPr>
              <a:t>. </a:t>
            </a:r>
            <a:r>
              <a:rPr sz="2400" spc="-10" dirty="0">
                <a:latin typeface="Calibri"/>
                <a:cs typeface="Calibri"/>
              </a:rPr>
              <a:t>Berapa </a:t>
            </a:r>
            <a:r>
              <a:rPr sz="2400" spc="-20" dirty="0">
                <a:latin typeface="Calibri"/>
                <a:cs typeface="Calibri"/>
              </a:rPr>
              <a:t>banyaknya </a:t>
            </a:r>
            <a:r>
              <a:rPr sz="2400" spc="-5" dirty="0">
                <a:latin typeface="Calibri"/>
                <a:cs typeface="Calibri"/>
              </a:rPr>
              <a:t>sampel </a:t>
            </a:r>
            <a:r>
              <a:rPr sz="2400" spc="-10" dirty="0">
                <a:latin typeface="Calibri"/>
                <a:cs typeface="Calibri"/>
              </a:rPr>
              <a:t>yang dapat  diperoleh </a:t>
            </a:r>
            <a:r>
              <a:rPr sz="2400" spc="-5" dirty="0">
                <a:latin typeface="Calibri"/>
                <a:cs typeface="Calibri"/>
              </a:rPr>
              <a:t>dari populasi </a:t>
            </a:r>
            <a:r>
              <a:rPr sz="2400" dirty="0">
                <a:latin typeface="Calibri"/>
                <a:cs typeface="Calibri"/>
              </a:rPr>
              <a:t>ini </a:t>
            </a:r>
            <a:r>
              <a:rPr sz="2400" spc="-15" dirty="0">
                <a:latin typeface="Calibri"/>
                <a:cs typeface="Calibri"/>
              </a:rPr>
              <a:t>jika </a:t>
            </a:r>
            <a:r>
              <a:rPr sz="2400" dirty="0">
                <a:latin typeface="Cambria Math"/>
                <a:cs typeface="Cambria Math"/>
              </a:rPr>
              <a:t>𝑛 = 3 </a:t>
            </a:r>
            <a:r>
              <a:rPr sz="2400" spc="-5" dirty="0">
                <a:latin typeface="Calibri"/>
                <a:cs typeface="Calibri"/>
              </a:rPr>
              <a:t>dan </a:t>
            </a:r>
            <a:r>
              <a:rPr sz="2400" dirty="0">
                <a:latin typeface="Cambria Math"/>
                <a:cs typeface="Cambria Math"/>
              </a:rPr>
              <a:t>𝑟 =</a:t>
            </a:r>
            <a:r>
              <a:rPr sz="2400" spc="75" dirty="0">
                <a:latin typeface="Cambria Math"/>
                <a:cs typeface="Cambria Math"/>
              </a:rPr>
              <a:t> </a:t>
            </a:r>
            <a:r>
              <a:rPr sz="2400" dirty="0">
                <a:latin typeface="Cambria Math"/>
                <a:cs typeface="Cambria Math"/>
              </a:rPr>
              <a:t>2</a:t>
            </a:r>
            <a:endParaRPr sz="2400">
              <a:latin typeface="Cambria Math"/>
              <a:cs typeface="Cambria Math"/>
            </a:endParaRPr>
          </a:p>
        </p:txBody>
      </p:sp>
      <p:sp>
        <p:nvSpPr>
          <p:cNvPr id="3" name="object 3"/>
          <p:cNvSpPr txBox="1"/>
          <p:nvPr/>
        </p:nvSpPr>
        <p:spPr>
          <a:xfrm>
            <a:off x="3153536" y="4045077"/>
            <a:ext cx="154305" cy="29273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750" spc="40" dirty="0">
                <a:latin typeface="Cambria Math"/>
                <a:cs typeface="Cambria Math"/>
              </a:rPr>
              <a:t>2</a:t>
            </a:r>
            <a:endParaRPr sz="1750">
              <a:latin typeface="Cambria Math"/>
              <a:cs typeface="Cambria Math"/>
            </a:endParaRPr>
          </a:p>
        </p:txBody>
      </p:sp>
      <p:sp>
        <p:nvSpPr>
          <p:cNvPr id="4" name="object 4"/>
          <p:cNvSpPr txBox="1"/>
          <p:nvPr/>
        </p:nvSpPr>
        <p:spPr>
          <a:xfrm>
            <a:off x="2965069" y="3894201"/>
            <a:ext cx="730885" cy="3911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100"/>
              </a:spcBef>
            </a:pPr>
            <a:r>
              <a:rPr sz="2400" spc="90" dirty="0">
                <a:latin typeface="Cambria Math"/>
                <a:cs typeface="Cambria Math"/>
              </a:rPr>
              <a:t>𝐶</a:t>
            </a:r>
            <a:r>
              <a:rPr sz="2625" spc="135" baseline="28571" dirty="0">
                <a:latin typeface="Cambria Math"/>
                <a:cs typeface="Cambria Math"/>
              </a:rPr>
              <a:t>3</a:t>
            </a:r>
            <a:r>
              <a:rPr sz="2625" spc="472" baseline="28571" dirty="0">
                <a:latin typeface="Cambria Math"/>
                <a:cs typeface="Cambria Math"/>
              </a:rPr>
              <a:t> </a:t>
            </a:r>
            <a:r>
              <a:rPr sz="2400" dirty="0">
                <a:latin typeface="Cambria Math"/>
                <a:cs typeface="Cambria Math"/>
              </a:rPr>
              <a:t>=</a:t>
            </a:r>
            <a:endParaRPr sz="2400">
              <a:latin typeface="Cambria Math"/>
              <a:cs typeface="Cambria Math"/>
            </a:endParaRPr>
          </a:p>
        </p:txBody>
      </p:sp>
      <p:sp>
        <p:nvSpPr>
          <p:cNvPr id="5" name="object 5"/>
          <p:cNvSpPr/>
          <p:nvPr/>
        </p:nvSpPr>
        <p:spPr>
          <a:xfrm>
            <a:off x="3807333" y="4114800"/>
            <a:ext cx="859790" cy="20320"/>
          </a:xfrm>
          <a:custGeom>
            <a:avLst/>
            <a:gdLst/>
            <a:ahLst/>
            <a:cxnLst/>
            <a:rect l="l" t="t" r="r" b="b"/>
            <a:pathLst>
              <a:path w="859789" h="20320">
                <a:moveTo>
                  <a:pt x="859536" y="0"/>
                </a:moveTo>
                <a:lnTo>
                  <a:pt x="0" y="0"/>
                </a:lnTo>
                <a:lnTo>
                  <a:pt x="0" y="19812"/>
                </a:lnTo>
                <a:lnTo>
                  <a:pt x="859536" y="19812"/>
                </a:lnTo>
                <a:lnTo>
                  <a:pt x="859536" y="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6" name="object 6"/>
          <p:cNvSpPr txBox="1"/>
          <p:nvPr/>
        </p:nvSpPr>
        <p:spPr>
          <a:xfrm>
            <a:off x="4128896" y="3798189"/>
            <a:ext cx="217804" cy="29273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750" spc="35" dirty="0">
                <a:latin typeface="Cambria Math"/>
                <a:cs typeface="Cambria Math"/>
              </a:rPr>
              <a:t>3</a:t>
            </a:r>
            <a:r>
              <a:rPr sz="1750" dirty="0">
                <a:latin typeface="Cambria Math"/>
                <a:cs typeface="Cambria Math"/>
              </a:rPr>
              <a:t>!</a:t>
            </a:r>
            <a:endParaRPr sz="1750">
              <a:latin typeface="Cambria Math"/>
              <a:cs typeface="Cambria Math"/>
            </a:endParaRPr>
          </a:p>
        </p:txBody>
      </p:sp>
      <p:sp>
        <p:nvSpPr>
          <p:cNvPr id="7" name="object 7"/>
          <p:cNvSpPr/>
          <p:nvPr/>
        </p:nvSpPr>
        <p:spPr>
          <a:xfrm>
            <a:off x="3826890" y="4198620"/>
            <a:ext cx="563880" cy="206375"/>
          </a:xfrm>
          <a:custGeom>
            <a:avLst/>
            <a:gdLst/>
            <a:ahLst/>
            <a:cxnLst/>
            <a:rect l="l" t="t" r="r" b="b"/>
            <a:pathLst>
              <a:path w="563879" h="206375">
                <a:moveTo>
                  <a:pt x="498094" y="0"/>
                </a:moveTo>
                <a:lnTo>
                  <a:pt x="495173" y="8381"/>
                </a:lnTo>
                <a:lnTo>
                  <a:pt x="507103" y="13571"/>
                </a:lnTo>
                <a:lnTo>
                  <a:pt x="517366" y="20748"/>
                </a:lnTo>
                <a:lnTo>
                  <a:pt x="538226" y="53921"/>
                </a:lnTo>
                <a:lnTo>
                  <a:pt x="545084" y="101980"/>
                </a:lnTo>
                <a:lnTo>
                  <a:pt x="544302" y="120177"/>
                </a:lnTo>
                <a:lnTo>
                  <a:pt x="532764" y="164718"/>
                </a:lnTo>
                <a:lnTo>
                  <a:pt x="495426" y="197738"/>
                </a:lnTo>
                <a:lnTo>
                  <a:pt x="498094" y="206120"/>
                </a:lnTo>
                <a:lnTo>
                  <a:pt x="537456" y="182671"/>
                </a:lnTo>
                <a:lnTo>
                  <a:pt x="559609" y="139493"/>
                </a:lnTo>
                <a:lnTo>
                  <a:pt x="563880" y="103123"/>
                </a:lnTo>
                <a:lnTo>
                  <a:pt x="562810" y="84218"/>
                </a:lnTo>
                <a:lnTo>
                  <a:pt x="546862" y="36194"/>
                </a:lnTo>
                <a:lnTo>
                  <a:pt x="513054" y="5405"/>
                </a:lnTo>
                <a:lnTo>
                  <a:pt x="498094" y="0"/>
                </a:lnTo>
                <a:close/>
              </a:path>
              <a:path w="563879" h="206375">
                <a:moveTo>
                  <a:pt x="65786" y="0"/>
                </a:moveTo>
                <a:lnTo>
                  <a:pt x="26477" y="23502"/>
                </a:lnTo>
                <a:lnTo>
                  <a:pt x="4270" y="66754"/>
                </a:lnTo>
                <a:lnTo>
                  <a:pt x="0" y="103123"/>
                </a:lnTo>
                <a:lnTo>
                  <a:pt x="1069" y="122029"/>
                </a:lnTo>
                <a:lnTo>
                  <a:pt x="17018" y="170052"/>
                </a:lnTo>
                <a:lnTo>
                  <a:pt x="50807" y="200717"/>
                </a:lnTo>
                <a:lnTo>
                  <a:pt x="65786" y="206120"/>
                </a:lnTo>
                <a:lnTo>
                  <a:pt x="68325" y="197738"/>
                </a:lnTo>
                <a:lnTo>
                  <a:pt x="56636" y="192526"/>
                </a:lnTo>
                <a:lnTo>
                  <a:pt x="46529" y="185277"/>
                </a:lnTo>
                <a:lnTo>
                  <a:pt x="25707" y="151522"/>
                </a:lnTo>
                <a:lnTo>
                  <a:pt x="18796" y="101980"/>
                </a:lnTo>
                <a:lnTo>
                  <a:pt x="19559" y="84437"/>
                </a:lnTo>
                <a:lnTo>
                  <a:pt x="31114" y="41020"/>
                </a:lnTo>
                <a:lnTo>
                  <a:pt x="68707" y="8381"/>
                </a:lnTo>
                <a:lnTo>
                  <a:pt x="65786" y="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8" name="object 8"/>
          <p:cNvSpPr txBox="1"/>
          <p:nvPr/>
        </p:nvSpPr>
        <p:spPr>
          <a:xfrm>
            <a:off x="3888104" y="4130421"/>
            <a:ext cx="792480" cy="29273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750" spc="10" dirty="0">
                <a:latin typeface="Cambria Math"/>
                <a:cs typeface="Cambria Math"/>
              </a:rPr>
              <a:t>3−2</a:t>
            </a:r>
            <a:r>
              <a:rPr sz="1750" spc="265" dirty="0">
                <a:latin typeface="Cambria Math"/>
                <a:cs typeface="Cambria Math"/>
              </a:rPr>
              <a:t> </a:t>
            </a:r>
            <a:r>
              <a:rPr sz="1750" spc="10" dirty="0">
                <a:latin typeface="Cambria Math"/>
                <a:cs typeface="Cambria Math"/>
              </a:rPr>
              <a:t>!2!</a:t>
            </a:r>
            <a:endParaRPr sz="1750">
              <a:latin typeface="Cambria Math"/>
              <a:cs typeface="Cambria Math"/>
            </a:endParaRPr>
          </a:p>
        </p:txBody>
      </p:sp>
      <p:sp>
        <p:nvSpPr>
          <p:cNvPr id="9" name="object 9"/>
          <p:cNvSpPr txBox="1"/>
          <p:nvPr/>
        </p:nvSpPr>
        <p:spPr>
          <a:xfrm>
            <a:off x="4738878" y="3894201"/>
            <a:ext cx="1485265" cy="3911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400" dirty="0">
                <a:latin typeface="Cambria Math"/>
                <a:cs typeface="Cambria Math"/>
              </a:rPr>
              <a:t>= 3</a:t>
            </a:r>
            <a:r>
              <a:rPr sz="2400" spc="45" dirty="0">
                <a:latin typeface="Cambria Math"/>
                <a:cs typeface="Cambria Math"/>
              </a:rPr>
              <a:t> </a:t>
            </a:r>
            <a:r>
              <a:rPr sz="2400" spc="-5" dirty="0">
                <a:latin typeface="Calibri"/>
                <a:cs typeface="Calibri"/>
              </a:rPr>
              <a:t>Sampel</a:t>
            </a:r>
            <a:endParaRPr sz="2400">
              <a:latin typeface="Calibri"/>
              <a:cs typeface="Calibri"/>
            </a:endParaRPr>
          </a:p>
        </p:txBody>
      </p:sp>
      <p:sp>
        <p:nvSpPr>
          <p:cNvPr id="10" name="object 10"/>
          <p:cNvSpPr txBox="1"/>
          <p:nvPr/>
        </p:nvSpPr>
        <p:spPr>
          <a:xfrm>
            <a:off x="1274699" y="4445889"/>
            <a:ext cx="6652895" cy="3911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100"/>
              </a:spcBef>
            </a:pPr>
            <a:r>
              <a:rPr sz="2400" dirty="0">
                <a:latin typeface="Calibri"/>
                <a:cs typeface="Calibri"/>
              </a:rPr>
              <a:t>3 </a:t>
            </a:r>
            <a:r>
              <a:rPr sz="2400" spc="-5" dirty="0">
                <a:latin typeface="Calibri"/>
                <a:cs typeface="Calibri"/>
              </a:rPr>
              <a:t>sampel </a:t>
            </a:r>
            <a:r>
              <a:rPr sz="2400" spc="-10" dirty="0">
                <a:latin typeface="Calibri"/>
                <a:cs typeface="Calibri"/>
              </a:rPr>
              <a:t>tersebut </a:t>
            </a:r>
            <a:r>
              <a:rPr sz="2400" dirty="0">
                <a:latin typeface="Calibri"/>
                <a:cs typeface="Calibri"/>
              </a:rPr>
              <a:t>adalah </a:t>
            </a:r>
            <a:r>
              <a:rPr sz="2400" spc="-65" dirty="0">
                <a:latin typeface="Cambria Math"/>
                <a:cs typeface="Cambria Math"/>
              </a:rPr>
              <a:t>𝑋</a:t>
            </a:r>
            <a:r>
              <a:rPr sz="2625" spc="-97" baseline="-15873" dirty="0">
                <a:latin typeface="Cambria Math"/>
                <a:cs typeface="Cambria Math"/>
              </a:rPr>
              <a:t>1 </a:t>
            </a:r>
            <a:r>
              <a:rPr sz="2400" dirty="0">
                <a:latin typeface="Cambria Math"/>
                <a:cs typeface="Cambria Math"/>
              </a:rPr>
              <a:t>, </a:t>
            </a:r>
            <a:r>
              <a:rPr sz="2400" spc="-35" dirty="0">
                <a:latin typeface="Cambria Math"/>
                <a:cs typeface="Cambria Math"/>
              </a:rPr>
              <a:t>𝑋</a:t>
            </a:r>
            <a:r>
              <a:rPr sz="2625" spc="-52" baseline="-15873" dirty="0">
                <a:latin typeface="Cambria Math"/>
                <a:cs typeface="Cambria Math"/>
              </a:rPr>
              <a:t>2 </a:t>
            </a:r>
            <a:r>
              <a:rPr sz="2400" dirty="0">
                <a:latin typeface="Cambria Math"/>
                <a:cs typeface="Cambria Math"/>
              </a:rPr>
              <a:t>; </a:t>
            </a:r>
            <a:r>
              <a:rPr sz="2400" spc="-65" dirty="0">
                <a:latin typeface="Cambria Math"/>
                <a:cs typeface="Cambria Math"/>
              </a:rPr>
              <a:t>𝑋</a:t>
            </a:r>
            <a:r>
              <a:rPr sz="2625" spc="-97" baseline="-15873" dirty="0">
                <a:latin typeface="Cambria Math"/>
                <a:cs typeface="Cambria Math"/>
              </a:rPr>
              <a:t>1 </a:t>
            </a:r>
            <a:r>
              <a:rPr sz="2400" dirty="0">
                <a:latin typeface="Cambria Math"/>
                <a:cs typeface="Cambria Math"/>
              </a:rPr>
              <a:t>, </a:t>
            </a:r>
            <a:r>
              <a:rPr sz="2400" spc="-35" dirty="0">
                <a:latin typeface="Cambria Math"/>
                <a:cs typeface="Cambria Math"/>
              </a:rPr>
              <a:t>𝑋</a:t>
            </a:r>
            <a:r>
              <a:rPr sz="2625" spc="-52" baseline="-15873" dirty="0">
                <a:latin typeface="Cambria Math"/>
                <a:cs typeface="Cambria Math"/>
              </a:rPr>
              <a:t>3 </a:t>
            </a:r>
            <a:r>
              <a:rPr sz="2400" dirty="0">
                <a:latin typeface="Cambria Math"/>
                <a:cs typeface="Cambria Math"/>
              </a:rPr>
              <a:t>𝑑𝑎𝑛 </a:t>
            </a:r>
            <a:r>
              <a:rPr sz="2400" spc="-35" dirty="0">
                <a:latin typeface="Cambria Math"/>
                <a:cs typeface="Cambria Math"/>
              </a:rPr>
              <a:t>𝑋</a:t>
            </a:r>
            <a:r>
              <a:rPr sz="2625" spc="-52" baseline="-15873" dirty="0">
                <a:latin typeface="Cambria Math"/>
                <a:cs typeface="Cambria Math"/>
              </a:rPr>
              <a:t>2 </a:t>
            </a:r>
            <a:r>
              <a:rPr sz="2400" dirty="0">
                <a:latin typeface="Cambria Math"/>
                <a:cs typeface="Cambria Math"/>
              </a:rPr>
              <a:t>,</a:t>
            </a:r>
            <a:r>
              <a:rPr sz="2400" spc="40" dirty="0">
                <a:latin typeface="Cambria Math"/>
                <a:cs typeface="Cambria Math"/>
              </a:rPr>
              <a:t> </a:t>
            </a:r>
            <a:r>
              <a:rPr sz="2400" spc="-35" dirty="0">
                <a:latin typeface="Cambria Math"/>
                <a:cs typeface="Cambria Math"/>
              </a:rPr>
              <a:t>𝑋</a:t>
            </a:r>
            <a:r>
              <a:rPr sz="2625" spc="-52" baseline="-15873" dirty="0">
                <a:latin typeface="Cambria Math"/>
                <a:cs typeface="Cambria Math"/>
              </a:rPr>
              <a:t>3</a:t>
            </a:r>
            <a:endParaRPr sz="2625" baseline="-15873">
              <a:latin typeface="Cambria Math"/>
              <a:cs typeface="Cambria Math"/>
            </a:endParaRPr>
          </a:p>
        </p:txBody>
      </p:sp>
      <p:sp>
        <p:nvSpPr>
          <p:cNvPr id="11" name="object 11"/>
          <p:cNvSpPr txBox="1">
            <a:spLocks noGrp="1"/>
          </p:cNvSpPr>
          <p:nvPr>
            <p:ph type="title"/>
          </p:nvPr>
        </p:nvSpPr>
        <p:spPr>
          <a:xfrm>
            <a:off x="2440051" y="991615"/>
            <a:ext cx="4283710" cy="57404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3600" spc="-15" dirty="0"/>
              <a:t>Contoh </a:t>
            </a:r>
            <a:r>
              <a:rPr sz="3600" spc="-5" dirty="0"/>
              <a:t>Soal</a:t>
            </a:r>
            <a:r>
              <a:rPr sz="3600" spc="-45" dirty="0"/>
              <a:t> </a:t>
            </a:r>
            <a:r>
              <a:rPr sz="3600" spc="-10" dirty="0"/>
              <a:t>Kombinasi</a:t>
            </a:r>
            <a:endParaRPr sz="360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224460" rIns="0" bIns="0" rtlCol="0">
            <a:spAutoFit/>
          </a:bodyPr>
          <a:lstStyle/>
          <a:p>
            <a:pPr marL="480059" marR="5080" indent="1158240">
              <a:lnSpc>
                <a:spcPts val="3579"/>
              </a:lnSpc>
              <a:spcBef>
                <a:spcPts val="440"/>
              </a:spcBef>
            </a:pPr>
            <a:r>
              <a:rPr sz="3200" spc="-20" dirty="0"/>
              <a:t>PELUANG </a:t>
            </a:r>
            <a:r>
              <a:rPr sz="3200" spc="-10" dirty="0"/>
              <a:t>(Probabilitas)  </a:t>
            </a:r>
            <a:r>
              <a:rPr sz="3200" u="heavy" spc="-20" dirty="0">
                <a:uFill>
                  <a:solidFill>
                    <a:srgbClr val="000000"/>
                  </a:solidFill>
                </a:uFill>
              </a:rPr>
              <a:t>Pendekatan </a:t>
            </a:r>
            <a:r>
              <a:rPr sz="3200" u="heavy" spc="-15" dirty="0">
                <a:uFill>
                  <a:solidFill>
                    <a:srgbClr val="000000"/>
                  </a:solidFill>
                </a:uFill>
              </a:rPr>
              <a:t>Perhitungan</a:t>
            </a:r>
            <a:r>
              <a:rPr sz="3200" u="heavy" dirty="0">
                <a:uFill>
                  <a:solidFill>
                    <a:srgbClr val="000000"/>
                  </a:solidFill>
                </a:uFill>
              </a:rPr>
              <a:t> </a:t>
            </a:r>
            <a:r>
              <a:rPr sz="3200" u="heavy" spc="-10" dirty="0">
                <a:uFill>
                  <a:solidFill>
                    <a:srgbClr val="000000"/>
                  </a:solidFill>
                </a:uFill>
              </a:rPr>
              <a:t>Probabilitas</a:t>
            </a:r>
            <a:endParaRPr sz="3200"/>
          </a:p>
        </p:txBody>
      </p:sp>
      <p:sp>
        <p:nvSpPr>
          <p:cNvPr id="3" name="object 3"/>
          <p:cNvSpPr/>
          <p:nvPr/>
        </p:nvSpPr>
        <p:spPr>
          <a:xfrm>
            <a:off x="3498850" y="2446273"/>
            <a:ext cx="402590" cy="282575"/>
          </a:xfrm>
          <a:custGeom>
            <a:avLst/>
            <a:gdLst/>
            <a:ahLst/>
            <a:cxnLst/>
            <a:rect l="l" t="t" r="r" b="b"/>
            <a:pathLst>
              <a:path w="402589" h="282575">
                <a:moveTo>
                  <a:pt x="312165" y="0"/>
                </a:moveTo>
                <a:lnTo>
                  <a:pt x="308101" y="11429"/>
                </a:lnTo>
                <a:lnTo>
                  <a:pt x="324465" y="18522"/>
                </a:lnTo>
                <a:lnTo>
                  <a:pt x="338518" y="28352"/>
                </a:lnTo>
                <a:lnTo>
                  <a:pt x="367051" y="73852"/>
                </a:lnTo>
                <a:lnTo>
                  <a:pt x="375382" y="115623"/>
                </a:lnTo>
                <a:lnTo>
                  <a:pt x="376427" y="139700"/>
                </a:lnTo>
                <a:lnTo>
                  <a:pt x="375380" y="164633"/>
                </a:lnTo>
                <a:lnTo>
                  <a:pt x="366998" y="207547"/>
                </a:lnTo>
                <a:lnTo>
                  <a:pt x="338502" y="253841"/>
                </a:lnTo>
                <a:lnTo>
                  <a:pt x="308483" y="270890"/>
                </a:lnTo>
                <a:lnTo>
                  <a:pt x="312165" y="282321"/>
                </a:lnTo>
                <a:lnTo>
                  <a:pt x="350615" y="264239"/>
                </a:lnTo>
                <a:lnTo>
                  <a:pt x="378967" y="232917"/>
                </a:lnTo>
                <a:lnTo>
                  <a:pt x="396398" y="191119"/>
                </a:lnTo>
                <a:lnTo>
                  <a:pt x="402209" y="141224"/>
                </a:lnTo>
                <a:lnTo>
                  <a:pt x="400736" y="115341"/>
                </a:lnTo>
                <a:lnTo>
                  <a:pt x="389028" y="69482"/>
                </a:lnTo>
                <a:lnTo>
                  <a:pt x="365958" y="32146"/>
                </a:lnTo>
                <a:lnTo>
                  <a:pt x="332620" y="7381"/>
                </a:lnTo>
                <a:lnTo>
                  <a:pt x="312165" y="0"/>
                </a:lnTo>
                <a:close/>
              </a:path>
              <a:path w="402589" h="282575">
                <a:moveTo>
                  <a:pt x="90042" y="0"/>
                </a:moveTo>
                <a:lnTo>
                  <a:pt x="51657" y="18097"/>
                </a:lnTo>
                <a:lnTo>
                  <a:pt x="23367" y="49529"/>
                </a:lnTo>
                <a:lnTo>
                  <a:pt x="5826" y="91424"/>
                </a:lnTo>
                <a:lnTo>
                  <a:pt x="0" y="141224"/>
                </a:lnTo>
                <a:lnTo>
                  <a:pt x="1452" y="167177"/>
                </a:lnTo>
                <a:lnTo>
                  <a:pt x="13073" y="213036"/>
                </a:lnTo>
                <a:lnTo>
                  <a:pt x="36125" y="250227"/>
                </a:lnTo>
                <a:lnTo>
                  <a:pt x="69514" y="274941"/>
                </a:lnTo>
                <a:lnTo>
                  <a:pt x="90042" y="282321"/>
                </a:lnTo>
                <a:lnTo>
                  <a:pt x="93599" y="270890"/>
                </a:lnTo>
                <a:lnTo>
                  <a:pt x="77549" y="263771"/>
                </a:lnTo>
                <a:lnTo>
                  <a:pt x="63690" y="253841"/>
                </a:lnTo>
                <a:lnTo>
                  <a:pt x="35210" y="207547"/>
                </a:lnTo>
                <a:lnTo>
                  <a:pt x="26828" y="164633"/>
                </a:lnTo>
                <a:lnTo>
                  <a:pt x="25780" y="139700"/>
                </a:lnTo>
                <a:lnTo>
                  <a:pt x="26828" y="115623"/>
                </a:lnTo>
                <a:lnTo>
                  <a:pt x="35210" y="73852"/>
                </a:lnTo>
                <a:lnTo>
                  <a:pt x="63801" y="28352"/>
                </a:lnTo>
                <a:lnTo>
                  <a:pt x="94107" y="11429"/>
                </a:lnTo>
                <a:lnTo>
                  <a:pt x="90042" y="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" name="object 4"/>
          <p:cNvSpPr/>
          <p:nvPr/>
        </p:nvSpPr>
        <p:spPr>
          <a:xfrm>
            <a:off x="4323969" y="2577464"/>
            <a:ext cx="173990" cy="20320"/>
          </a:xfrm>
          <a:custGeom>
            <a:avLst/>
            <a:gdLst/>
            <a:ahLst/>
            <a:cxnLst/>
            <a:rect l="l" t="t" r="r" b="b"/>
            <a:pathLst>
              <a:path w="173989" h="20319">
                <a:moveTo>
                  <a:pt x="173736" y="0"/>
                </a:moveTo>
                <a:lnTo>
                  <a:pt x="0" y="0"/>
                </a:lnTo>
                <a:lnTo>
                  <a:pt x="0" y="19812"/>
                </a:lnTo>
                <a:lnTo>
                  <a:pt x="173736" y="19812"/>
                </a:lnTo>
                <a:lnTo>
                  <a:pt x="173736" y="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" name="object 5"/>
          <p:cNvSpPr txBox="1"/>
          <p:nvPr/>
        </p:nvSpPr>
        <p:spPr>
          <a:xfrm>
            <a:off x="978509" y="1694314"/>
            <a:ext cx="3515995" cy="859155"/>
          </a:xfrm>
          <a:prstGeom prst="rect">
            <a:avLst/>
          </a:prstGeom>
        </p:spPr>
        <p:txBody>
          <a:bodyPr vert="horz" wrap="square" lIns="0" tIns="9779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770"/>
              </a:spcBef>
            </a:pPr>
            <a:r>
              <a:rPr sz="2800" spc="-5" dirty="0">
                <a:latin typeface="Calibri"/>
                <a:cs typeface="Calibri"/>
              </a:rPr>
              <a:t>a. </a:t>
            </a:r>
            <a:r>
              <a:rPr sz="2800" spc="-25" dirty="0">
                <a:latin typeface="Calibri"/>
                <a:cs typeface="Calibri"/>
              </a:rPr>
              <a:t>Pendekatan</a:t>
            </a:r>
            <a:r>
              <a:rPr sz="2800" spc="35" dirty="0">
                <a:latin typeface="Calibri"/>
                <a:cs typeface="Calibri"/>
              </a:rPr>
              <a:t> </a:t>
            </a:r>
            <a:r>
              <a:rPr sz="2800" spc="-5" dirty="0">
                <a:latin typeface="Calibri"/>
                <a:cs typeface="Calibri"/>
              </a:rPr>
              <a:t>Klasik</a:t>
            </a:r>
            <a:endParaRPr sz="2800">
              <a:latin typeface="Calibri"/>
              <a:cs typeface="Calibri"/>
            </a:endParaRPr>
          </a:p>
          <a:p>
            <a:pPr marR="5080" algn="r">
              <a:lnSpc>
                <a:spcPct val="100000"/>
              </a:lnSpc>
              <a:spcBef>
                <a:spcPts val="430"/>
              </a:spcBef>
            </a:pPr>
            <a:r>
              <a:rPr sz="1750" spc="229" dirty="0">
                <a:latin typeface="Cambria Math"/>
                <a:cs typeface="Cambria Math"/>
              </a:rPr>
              <a:t>𝑛</a:t>
            </a:r>
            <a:endParaRPr sz="1750">
              <a:latin typeface="Cambria Math"/>
              <a:cs typeface="Cambria Math"/>
            </a:endParaRPr>
          </a:p>
        </p:txBody>
      </p:sp>
      <p:sp>
        <p:nvSpPr>
          <p:cNvPr id="6" name="object 6"/>
          <p:cNvSpPr txBox="1"/>
          <p:nvPr/>
        </p:nvSpPr>
        <p:spPr>
          <a:xfrm>
            <a:off x="4312158" y="2592705"/>
            <a:ext cx="193675" cy="29273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750" spc="55" dirty="0">
                <a:latin typeface="Cambria Math"/>
                <a:cs typeface="Cambria Math"/>
              </a:rPr>
              <a:t>𝑁</a:t>
            </a:r>
            <a:endParaRPr sz="1750">
              <a:latin typeface="Cambria Math"/>
              <a:cs typeface="Cambria Math"/>
            </a:endParaRPr>
          </a:p>
        </p:txBody>
      </p:sp>
      <p:sp>
        <p:nvSpPr>
          <p:cNvPr id="7" name="object 7"/>
          <p:cNvSpPr txBox="1"/>
          <p:nvPr/>
        </p:nvSpPr>
        <p:spPr>
          <a:xfrm>
            <a:off x="978509" y="2356484"/>
            <a:ext cx="7030720" cy="3911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  <a:tabLst>
                <a:tab pos="2620010" algn="l"/>
                <a:tab pos="3033395" algn="l"/>
                <a:tab pos="3588385" algn="l"/>
              </a:tabLst>
            </a:pPr>
            <a:r>
              <a:rPr sz="2400" spc="-10" dirty="0">
                <a:latin typeface="Calibri"/>
                <a:cs typeface="Calibri"/>
              </a:rPr>
              <a:t>untuk peristiwa</a:t>
            </a:r>
            <a:r>
              <a:rPr sz="2400" spc="-5" dirty="0">
                <a:latin typeface="Calibri"/>
                <a:cs typeface="Calibri"/>
              </a:rPr>
              <a:t> E,</a:t>
            </a:r>
            <a:r>
              <a:rPr sz="2400" spc="25" dirty="0">
                <a:latin typeface="Calibri"/>
                <a:cs typeface="Calibri"/>
              </a:rPr>
              <a:t> </a:t>
            </a:r>
            <a:r>
              <a:rPr sz="2400" dirty="0">
                <a:latin typeface="Cambria Math"/>
                <a:cs typeface="Cambria Math"/>
              </a:rPr>
              <a:t>𝑃	𝐸	=	</a:t>
            </a:r>
            <a:r>
              <a:rPr sz="2400" spc="-15" dirty="0">
                <a:latin typeface="Calibri"/>
                <a:cs typeface="Calibri"/>
              </a:rPr>
              <a:t>dengan </a:t>
            </a:r>
            <a:r>
              <a:rPr sz="2400" dirty="0">
                <a:latin typeface="Calibri"/>
                <a:cs typeface="Calibri"/>
              </a:rPr>
              <a:t>n = </a:t>
            </a:r>
            <a:r>
              <a:rPr sz="2400" spc="-5" dirty="0">
                <a:latin typeface="Calibri"/>
                <a:cs typeface="Calibri"/>
              </a:rPr>
              <a:t>sampel</a:t>
            </a:r>
            <a:r>
              <a:rPr sz="2400" spc="-70" dirty="0">
                <a:latin typeface="Calibri"/>
                <a:cs typeface="Calibri"/>
              </a:rPr>
              <a:t> </a:t>
            </a:r>
            <a:r>
              <a:rPr sz="2400" spc="-10" dirty="0">
                <a:latin typeface="Calibri"/>
                <a:cs typeface="Calibri"/>
              </a:rPr>
              <a:t>kejadian</a:t>
            </a:r>
            <a:endParaRPr sz="2400">
              <a:latin typeface="Calibri"/>
              <a:cs typeface="Calibri"/>
            </a:endParaRPr>
          </a:p>
        </p:txBody>
      </p:sp>
      <p:sp>
        <p:nvSpPr>
          <p:cNvPr id="8" name="object 8"/>
          <p:cNvSpPr/>
          <p:nvPr/>
        </p:nvSpPr>
        <p:spPr>
          <a:xfrm>
            <a:off x="1214412" y="4204970"/>
            <a:ext cx="402590" cy="282575"/>
          </a:xfrm>
          <a:custGeom>
            <a:avLst/>
            <a:gdLst/>
            <a:ahLst/>
            <a:cxnLst/>
            <a:rect l="l" t="t" r="r" b="b"/>
            <a:pathLst>
              <a:path w="402590" h="282575">
                <a:moveTo>
                  <a:pt x="312127" y="0"/>
                </a:moveTo>
                <a:lnTo>
                  <a:pt x="308063" y="11429"/>
                </a:lnTo>
                <a:lnTo>
                  <a:pt x="324427" y="18522"/>
                </a:lnTo>
                <a:lnTo>
                  <a:pt x="338480" y="28352"/>
                </a:lnTo>
                <a:lnTo>
                  <a:pt x="367013" y="73852"/>
                </a:lnTo>
                <a:lnTo>
                  <a:pt x="375344" y="115623"/>
                </a:lnTo>
                <a:lnTo>
                  <a:pt x="376389" y="139699"/>
                </a:lnTo>
                <a:lnTo>
                  <a:pt x="375342" y="164633"/>
                </a:lnTo>
                <a:lnTo>
                  <a:pt x="366960" y="207547"/>
                </a:lnTo>
                <a:lnTo>
                  <a:pt x="338464" y="253841"/>
                </a:lnTo>
                <a:lnTo>
                  <a:pt x="308444" y="270890"/>
                </a:lnTo>
                <a:lnTo>
                  <a:pt x="312127" y="282320"/>
                </a:lnTo>
                <a:lnTo>
                  <a:pt x="350577" y="264239"/>
                </a:lnTo>
                <a:lnTo>
                  <a:pt x="378929" y="232917"/>
                </a:lnTo>
                <a:lnTo>
                  <a:pt x="396360" y="191119"/>
                </a:lnTo>
                <a:lnTo>
                  <a:pt x="402170" y="141223"/>
                </a:lnTo>
                <a:lnTo>
                  <a:pt x="400698" y="115341"/>
                </a:lnTo>
                <a:lnTo>
                  <a:pt x="388990" y="69482"/>
                </a:lnTo>
                <a:lnTo>
                  <a:pt x="365920" y="32146"/>
                </a:lnTo>
                <a:lnTo>
                  <a:pt x="332582" y="7381"/>
                </a:lnTo>
                <a:lnTo>
                  <a:pt x="312127" y="0"/>
                </a:lnTo>
                <a:close/>
              </a:path>
              <a:path w="402590" h="282575">
                <a:moveTo>
                  <a:pt x="90004" y="0"/>
                </a:moveTo>
                <a:lnTo>
                  <a:pt x="51614" y="18097"/>
                </a:lnTo>
                <a:lnTo>
                  <a:pt x="23291" y="49529"/>
                </a:lnTo>
                <a:lnTo>
                  <a:pt x="5826" y="91424"/>
                </a:lnTo>
                <a:lnTo>
                  <a:pt x="0" y="141223"/>
                </a:lnTo>
                <a:lnTo>
                  <a:pt x="1452" y="167177"/>
                </a:lnTo>
                <a:lnTo>
                  <a:pt x="13067" y="213036"/>
                </a:lnTo>
                <a:lnTo>
                  <a:pt x="36098" y="250227"/>
                </a:lnTo>
                <a:lnTo>
                  <a:pt x="69476" y="274941"/>
                </a:lnTo>
                <a:lnTo>
                  <a:pt x="90004" y="282320"/>
                </a:lnTo>
                <a:lnTo>
                  <a:pt x="93560" y="270890"/>
                </a:lnTo>
                <a:lnTo>
                  <a:pt x="77507" y="263771"/>
                </a:lnTo>
                <a:lnTo>
                  <a:pt x="63641" y="253841"/>
                </a:lnTo>
                <a:lnTo>
                  <a:pt x="35169" y="207547"/>
                </a:lnTo>
                <a:lnTo>
                  <a:pt x="26801" y="164633"/>
                </a:lnTo>
                <a:lnTo>
                  <a:pt x="25755" y="139699"/>
                </a:lnTo>
                <a:lnTo>
                  <a:pt x="26801" y="115623"/>
                </a:lnTo>
                <a:lnTo>
                  <a:pt x="35169" y="73852"/>
                </a:lnTo>
                <a:lnTo>
                  <a:pt x="63752" y="28352"/>
                </a:lnTo>
                <a:lnTo>
                  <a:pt x="94068" y="11429"/>
                </a:lnTo>
                <a:lnTo>
                  <a:pt x="90004" y="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9" name="object 9"/>
          <p:cNvSpPr/>
          <p:nvPr/>
        </p:nvSpPr>
        <p:spPr>
          <a:xfrm>
            <a:off x="2227833" y="4204970"/>
            <a:ext cx="402590" cy="282575"/>
          </a:xfrm>
          <a:custGeom>
            <a:avLst/>
            <a:gdLst/>
            <a:ahLst/>
            <a:cxnLst/>
            <a:rect l="l" t="t" r="r" b="b"/>
            <a:pathLst>
              <a:path w="402589" h="282575">
                <a:moveTo>
                  <a:pt x="312166" y="0"/>
                </a:moveTo>
                <a:lnTo>
                  <a:pt x="308102" y="11429"/>
                </a:lnTo>
                <a:lnTo>
                  <a:pt x="324465" y="18522"/>
                </a:lnTo>
                <a:lnTo>
                  <a:pt x="338518" y="28352"/>
                </a:lnTo>
                <a:lnTo>
                  <a:pt x="367051" y="73852"/>
                </a:lnTo>
                <a:lnTo>
                  <a:pt x="375382" y="115623"/>
                </a:lnTo>
                <a:lnTo>
                  <a:pt x="376428" y="139699"/>
                </a:lnTo>
                <a:lnTo>
                  <a:pt x="375380" y="164633"/>
                </a:lnTo>
                <a:lnTo>
                  <a:pt x="366998" y="207547"/>
                </a:lnTo>
                <a:lnTo>
                  <a:pt x="338502" y="253841"/>
                </a:lnTo>
                <a:lnTo>
                  <a:pt x="308483" y="270890"/>
                </a:lnTo>
                <a:lnTo>
                  <a:pt x="312166" y="282320"/>
                </a:lnTo>
                <a:lnTo>
                  <a:pt x="350615" y="264239"/>
                </a:lnTo>
                <a:lnTo>
                  <a:pt x="378968" y="232917"/>
                </a:lnTo>
                <a:lnTo>
                  <a:pt x="396398" y="191119"/>
                </a:lnTo>
                <a:lnTo>
                  <a:pt x="402209" y="141223"/>
                </a:lnTo>
                <a:lnTo>
                  <a:pt x="400736" y="115341"/>
                </a:lnTo>
                <a:lnTo>
                  <a:pt x="389028" y="69482"/>
                </a:lnTo>
                <a:lnTo>
                  <a:pt x="365958" y="32146"/>
                </a:lnTo>
                <a:lnTo>
                  <a:pt x="332620" y="7381"/>
                </a:lnTo>
                <a:lnTo>
                  <a:pt x="312166" y="0"/>
                </a:lnTo>
                <a:close/>
              </a:path>
              <a:path w="402589" h="282575">
                <a:moveTo>
                  <a:pt x="90043" y="0"/>
                </a:moveTo>
                <a:lnTo>
                  <a:pt x="51657" y="18097"/>
                </a:lnTo>
                <a:lnTo>
                  <a:pt x="23368" y="49529"/>
                </a:lnTo>
                <a:lnTo>
                  <a:pt x="5826" y="91424"/>
                </a:lnTo>
                <a:lnTo>
                  <a:pt x="0" y="141223"/>
                </a:lnTo>
                <a:lnTo>
                  <a:pt x="1452" y="167177"/>
                </a:lnTo>
                <a:lnTo>
                  <a:pt x="13073" y="213036"/>
                </a:lnTo>
                <a:lnTo>
                  <a:pt x="36125" y="250227"/>
                </a:lnTo>
                <a:lnTo>
                  <a:pt x="69514" y="274941"/>
                </a:lnTo>
                <a:lnTo>
                  <a:pt x="90043" y="282320"/>
                </a:lnTo>
                <a:lnTo>
                  <a:pt x="93599" y="270890"/>
                </a:lnTo>
                <a:lnTo>
                  <a:pt x="77549" y="263771"/>
                </a:lnTo>
                <a:lnTo>
                  <a:pt x="63690" y="253841"/>
                </a:lnTo>
                <a:lnTo>
                  <a:pt x="35210" y="207547"/>
                </a:lnTo>
                <a:lnTo>
                  <a:pt x="26828" y="164633"/>
                </a:lnTo>
                <a:lnTo>
                  <a:pt x="25781" y="139699"/>
                </a:lnTo>
                <a:lnTo>
                  <a:pt x="26828" y="115623"/>
                </a:lnTo>
                <a:lnTo>
                  <a:pt x="35210" y="73852"/>
                </a:lnTo>
                <a:lnTo>
                  <a:pt x="63801" y="28352"/>
                </a:lnTo>
                <a:lnTo>
                  <a:pt x="94107" y="11429"/>
                </a:lnTo>
                <a:lnTo>
                  <a:pt x="90043" y="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0" name="object 10"/>
          <p:cNvSpPr/>
          <p:nvPr/>
        </p:nvSpPr>
        <p:spPr>
          <a:xfrm>
            <a:off x="1214412" y="4643882"/>
            <a:ext cx="402590" cy="282575"/>
          </a:xfrm>
          <a:custGeom>
            <a:avLst/>
            <a:gdLst/>
            <a:ahLst/>
            <a:cxnLst/>
            <a:rect l="l" t="t" r="r" b="b"/>
            <a:pathLst>
              <a:path w="402590" h="282575">
                <a:moveTo>
                  <a:pt x="312127" y="0"/>
                </a:moveTo>
                <a:lnTo>
                  <a:pt x="308063" y="11430"/>
                </a:lnTo>
                <a:lnTo>
                  <a:pt x="324427" y="18522"/>
                </a:lnTo>
                <a:lnTo>
                  <a:pt x="338480" y="28352"/>
                </a:lnTo>
                <a:lnTo>
                  <a:pt x="367013" y="73852"/>
                </a:lnTo>
                <a:lnTo>
                  <a:pt x="375344" y="115623"/>
                </a:lnTo>
                <a:lnTo>
                  <a:pt x="376389" y="139700"/>
                </a:lnTo>
                <a:lnTo>
                  <a:pt x="375342" y="164633"/>
                </a:lnTo>
                <a:lnTo>
                  <a:pt x="366960" y="207547"/>
                </a:lnTo>
                <a:lnTo>
                  <a:pt x="338464" y="253841"/>
                </a:lnTo>
                <a:lnTo>
                  <a:pt x="308444" y="270891"/>
                </a:lnTo>
                <a:lnTo>
                  <a:pt x="312127" y="282321"/>
                </a:lnTo>
                <a:lnTo>
                  <a:pt x="350577" y="264239"/>
                </a:lnTo>
                <a:lnTo>
                  <a:pt x="378929" y="232918"/>
                </a:lnTo>
                <a:lnTo>
                  <a:pt x="396360" y="191119"/>
                </a:lnTo>
                <a:lnTo>
                  <a:pt x="402170" y="141224"/>
                </a:lnTo>
                <a:lnTo>
                  <a:pt x="400698" y="115341"/>
                </a:lnTo>
                <a:lnTo>
                  <a:pt x="388990" y="69482"/>
                </a:lnTo>
                <a:lnTo>
                  <a:pt x="365920" y="32146"/>
                </a:lnTo>
                <a:lnTo>
                  <a:pt x="332582" y="7381"/>
                </a:lnTo>
                <a:lnTo>
                  <a:pt x="312127" y="0"/>
                </a:lnTo>
                <a:close/>
              </a:path>
              <a:path w="402590" h="282575">
                <a:moveTo>
                  <a:pt x="90004" y="0"/>
                </a:moveTo>
                <a:lnTo>
                  <a:pt x="51614" y="18097"/>
                </a:lnTo>
                <a:lnTo>
                  <a:pt x="23291" y="49530"/>
                </a:lnTo>
                <a:lnTo>
                  <a:pt x="5826" y="91424"/>
                </a:lnTo>
                <a:lnTo>
                  <a:pt x="0" y="141224"/>
                </a:lnTo>
                <a:lnTo>
                  <a:pt x="1452" y="167177"/>
                </a:lnTo>
                <a:lnTo>
                  <a:pt x="13067" y="213036"/>
                </a:lnTo>
                <a:lnTo>
                  <a:pt x="36098" y="250227"/>
                </a:lnTo>
                <a:lnTo>
                  <a:pt x="69476" y="274941"/>
                </a:lnTo>
                <a:lnTo>
                  <a:pt x="90004" y="282321"/>
                </a:lnTo>
                <a:lnTo>
                  <a:pt x="93560" y="270891"/>
                </a:lnTo>
                <a:lnTo>
                  <a:pt x="77507" y="263771"/>
                </a:lnTo>
                <a:lnTo>
                  <a:pt x="63641" y="253841"/>
                </a:lnTo>
                <a:lnTo>
                  <a:pt x="35169" y="207547"/>
                </a:lnTo>
                <a:lnTo>
                  <a:pt x="26801" y="164633"/>
                </a:lnTo>
                <a:lnTo>
                  <a:pt x="25755" y="139700"/>
                </a:lnTo>
                <a:lnTo>
                  <a:pt x="26801" y="115623"/>
                </a:lnTo>
                <a:lnTo>
                  <a:pt x="35169" y="73852"/>
                </a:lnTo>
                <a:lnTo>
                  <a:pt x="63752" y="28352"/>
                </a:lnTo>
                <a:lnTo>
                  <a:pt x="94068" y="11430"/>
                </a:lnTo>
                <a:lnTo>
                  <a:pt x="90004" y="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1" name="object 11"/>
          <p:cNvSpPr txBox="1"/>
          <p:nvPr/>
        </p:nvSpPr>
        <p:spPr>
          <a:xfrm>
            <a:off x="902309" y="2795091"/>
            <a:ext cx="5518785" cy="215138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88900">
              <a:lnSpc>
                <a:spcPct val="100000"/>
              </a:lnSpc>
              <a:spcBef>
                <a:spcPts val="100"/>
              </a:spcBef>
            </a:pPr>
            <a:r>
              <a:rPr sz="2400" dirty="0">
                <a:latin typeface="Calibri"/>
                <a:cs typeface="Calibri"/>
              </a:rPr>
              <a:t>E </a:t>
            </a:r>
            <a:r>
              <a:rPr sz="2400" spc="-5" dirty="0">
                <a:latin typeface="Calibri"/>
                <a:cs typeface="Calibri"/>
              </a:rPr>
              <a:t>dan </a:t>
            </a:r>
            <a:r>
              <a:rPr sz="2400" dirty="0">
                <a:latin typeface="Calibri"/>
                <a:cs typeface="Calibri"/>
              </a:rPr>
              <a:t>N = </a:t>
            </a:r>
            <a:r>
              <a:rPr sz="2400" spc="-5" dirty="0">
                <a:latin typeface="Calibri"/>
                <a:cs typeface="Calibri"/>
              </a:rPr>
              <a:t>sampel semua</a:t>
            </a:r>
            <a:r>
              <a:rPr sz="2400" spc="-60" dirty="0">
                <a:latin typeface="Calibri"/>
                <a:cs typeface="Calibri"/>
              </a:rPr>
              <a:t> </a:t>
            </a:r>
            <a:r>
              <a:rPr sz="2400" spc="-10" dirty="0">
                <a:latin typeface="Calibri"/>
                <a:cs typeface="Calibri"/>
              </a:rPr>
              <a:t>kejadian.</a:t>
            </a:r>
            <a:endParaRPr sz="2400">
              <a:latin typeface="Calibri"/>
              <a:cs typeface="Calibri"/>
            </a:endParaRPr>
          </a:p>
          <a:p>
            <a:pPr>
              <a:lnSpc>
                <a:spcPct val="100000"/>
              </a:lnSpc>
              <a:spcBef>
                <a:spcPts val="30"/>
              </a:spcBef>
            </a:pPr>
            <a:endParaRPr sz="3300">
              <a:latin typeface="Calibri"/>
              <a:cs typeface="Calibri"/>
            </a:endParaRPr>
          </a:p>
          <a:p>
            <a:pPr marL="88900">
              <a:lnSpc>
                <a:spcPct val="100000"/>
              </a:lnSpc>
            </a:pPr>
            <a:r>
              <a:rPr sz="2400" spc="-10" dirty="0">
                <a:latin typeface="Calibri"/>
                <a:cs typeface="Calibri"/>
              </a:rPr>
              <a:t>Jika </a:t>
            </a:r>
            <a:r>
              <a:rPr sz="2400" spc="-1095" dirty="0">
                <a:latin typeface="Cambria Math"/>
                <a:cs typeface="Cambria Math"/>
              </a:rPr>
              <a:t>𝐸</a:t>
            </a:r>
            <a:r>
              <a:rPr sz="3600" spc="1792" baseline="10416" dirty="0">
                <a:latin typeface="Cambria Math"/>
                <a:cs typeface="Cambria Math"/>
              </a:rPr>
              <a:t> </a:t>
            </a:r>
            <a:r>
              <a:rPr sz="2400" spc="-20" dirty="0">
                <a:latin typeface="Calibri"/>
                <a:cs typeface="Calibri"/>
              </a:rPr>
              <a:t>menyatakan </a:t>
            </a:r>
            <a:r>
              <a:rPr sz="2400" spc="-10" dirty="0">
                <a:latin typeface="Calibri"/>
                <a:cs typeface="Calibri"/>
              </a:rPr>
              <a:t>bukan peristiwa </a:t>
            </a:r>
            <a:r>
              <a:rPr sz="2400" dirty="0">
                <a:latin typeface="Calibri"/>
                <a:cs typeface="Calibri"/>
              </a:rPr>
              <a:t>E</a:t>
            </a:r>
            <a:r>
              <a:rPr sz="2400" spc="-45" dirty="0">
                <a:latin typeface="Calibri"/>
                <a:cs typeface="Calibri"/>
              </a:rPr>
              <a:t> </a:t>
            </a:r>
            <a:r>
              <a:rPr sz="2400" spc="-10" dirty="0">
                <a:latin typeface="Calibri"/>
                <a:cs typeface="Calibri"/>
              </a:rPr>
              <a:t>maka:</a:t>
            </a:r>
            <a:endParaRPr sz="2400">
              <a:latin typeface="Calibri"/>
              <a:cs typeface="Calibri"/>
            </a:endParaRPr>
          </a:p>
          <a:p>
            <a:pPr marL="88900">
              <a:lnSpc>
                <a:spcPct val="100000"/>
              </a:lnSpc>
              <a:spcBef>
                <a:spcPts val="580"/>
              </a:spcBef>
              <a:tabLst>
                <a:tab pos="411480" algn="l"/>
                <a:tab pos="807720" algn="l"/>
                <a:tab pos="1425575" algn="l"/>
                <a:tab pos="1839595" algn="l"/>
              </a:tabLst>
            </a:pPr>
            <a:r>
              <a:rPr sz="2400" dirty="0">
                <a:latin typeface="Cambria Math"/>
                <a:cs typeface="Cambria Math"/>
              </a:rPr>
              <a:t>𝑃	𝐸	+</a:t>
            </a:r>
            <a:r>
              <a:rPr sz="2400" spc="5" dirty="0">
                <a:latin typeface="Cambria Math"/>
                <a:cs typeface="Cambria Math"/>
              </a:rPr>
              <a:t> </a:t>
            </a:r>
            <a:r>
              <a:rPr sz="2400" dirty="0">
                <a:latin typeface="Cambria Math"/>
                <a:cs typeface="Cambria Math"/>
              </a:rPr>
              <a:t>𝑃	</a:t>
            </a:r>
            <a:r>
              <a:rPr sz="2400" spc="-1095" dirty="0">
                <a:latin typeface="Cambria Math"/>
                <a:cs typeface="Cambria Math"/>
              </a:rPr>
              <a:t>𝐸</a:t>
            </a:r>
            <a:r>
              <a:rPr sz="3600" spc="-1642" baseline="10416" dirty="0">
                <a:latin typeface="Cambria Math"/>
                <a:cs typeface="Cambria Math"/>
              </a:rPr>
              <a:t>	</a:t>
            </a:r>
            <a:r>
              <a:rPr sz="2400" dirty="0">
                <a:latin typeface="Cambria Math"/>
                <a:cs typeface="Cambria Math"/>
              </a:rPr>
              <a:t>= 1</a:t>
            </a:r>
            <a:r>
              <a:rPr sz="2400" spc="110" dirty="0">
                <a:latin typeface="Cambria Math"/>
                <a:cs typeface="Cambria Math"/>
              </a:rPr>
              <a:t> </a:t>
            </a:r>
            <a:r>
              <a:rPr sz="2400" dirty="0">
                <a:latin typeface="Calibri"/>
                <a:cs typeface="Calibri"/>
              </a:rPr>
              <a:t>,</a:t>
            </a:r>
            <a:endParaRPr sz="2400">
              <a:latin typeface="Calibri"/>
              <a:cs typeface="Calibri"/>
            </a:endParaRPr>
          </a:p>
          <a:p>
            <a:pPr marL="88900">
              <a:lnSpc>
                <a:spcPct val="100000"/>
              </a:lnSpc>
              <a:spcBef>
                <a:spcPts val="575"/>
              </a:spcBef>
              <a:tabLst>
                <a:tab pos="411480" algn="l"/>
                <a:tab pos="824865" algn="l"/>
              </a:tabLst>
            </a:pPr>
            <a:r>
              <a:rPr sz="2400" dirty="0">
                <a:latin typeface="Cambria Math"/>
                <a:cs typeface="Cambria Math"/>
              </a:rPr>
              <a:t>𝑃	</a:t>
            </a:r>
            <a:r>
              <a:rPr sz="2400" spc="-1095" dirty="0">
                <a:latin typeface="Cambria Math"/>
                <a:cs typeface="Cambria Math"/>
              </a:rPr>
              <a:t>𝐸</a:t>
            </a:r>
            <a:r>
              <a:rPr sz="3600" spc="-1642" baseline="10416" dirty="0">
                <a:latin typeface="Cambria Math"/>
                <a:cs typeface="Cambria Math"/>
              </a:rPr>
              <a:t>	</a:t>
            </a:r>
            <a:r>
              <a:rPr sz="2400" dirty="0">
                <a:latin typeface="Cambria Math"/>
                <a:cs typeface="Cambria Math"/>
              </a:rPr>
              <a:t>= 1 −</a:t>
            </a:r>
            <a:r>
              <a:rPr sz="2400" spc="114" dirty="0">
                <a:latin typeface="Cambria Math"/>
                <a:cs typeface="Cambria Math"/>
              </a:rPr>
              <a:t> </a:t>
            </a:r>
            <a:r>
              <a:rPr sz="2400" spc="25" dirty="0">
                <a:latin typeface="Cambria Math"/>
                <a:cs typeface="Cambria Math"/>
              </a:rPr>
              <a:t>𝑃(𝐸)</a:t>
            </a:r>
            <a:r>
              <a:rPr sz="2400" spc="25" dirty="0">
                <a:latin typeface="Calibri"/>
                <a:cs typeface="Calibri"/>
              </a:rPr>
              <a:t>.</a:t>
            </a:r>
            <a:endParaRPr sz="2400">
              <a:latin typeface="Calibri"/>
              <a:cs typeface="Calibri"/>
            </a:endParaRP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1050442" y="1279398"/>
            <a:ext cx="3829685" cy="45212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2800" spc="-5" dirty="0">
                <a:latin typeface="Calibri"/>
                <a:cs typeface="Calibri"/>
              </a:rPr>
              <a:t>b. </a:t>
            </a:r>
            <a:r>
              <a:rPr sz="2800" spc="-20" dirty="0">
                <a:latin typeface="Calibri"/>
                <a:cs typeface="Calibri"/>
              </a:rPr>
              <a:t>Konsef </a:t>
            </a:r>
            <a:r>
              <a:rPr sz="2800" spc="-15" dirty="0">
                <a:latin typeface="Calibri"/>
                <a:cs typeface="Calibri"/>
              </a:rPr>
              <a:t>Frekuensi</a:t>
            </a:r>
            <a:r>
              <a:rPr sz="2800" spc="30" dirty="0">
                <a:latin typeface="Calibri"/>
                <a:cs typeface="Calibri"/>
              </a:rPr>
              <a:t> </a:t>
            </a:r>
            <a:r>
              <a:rPr sz="2800" spc="-15" dirty="0">
                <a:latin typeface="Calibri"/>
                <a:cs typeface="Calibri"/>
              </a:rPr>
              <a:t>Relatif</a:t>
            </a:r>
            <a:endParaRPr sz="2800">
              <a:latin typeface="Calibri"/>
              <a:cs typeface="Calibri"/>
            </a:endParaRPr>
          </a:p>
        </p:txBody>
      </p:sp>
      <p:sp>
        <p:nvSpPr>
          <p:cNvPr id="3" name="object 3"/>
          <p:cNvSpPr txBox="1">
            <a:spLocks noGrp="1"/>
          </p:cNvSpPr>
          <p:nvPr>
            <p:ph type="title"/>
          </p:nvPr>
        </p:nvSpPr>
        <p:spPr>
          <a:xfrm>
            <a:off x="2494279" y="789813"/>
            <a:ext cx="3886835" cy="513715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z="3200" spc="-25" dirty="0"/>
              <a:t>PELUANG</a:t>
            </a:r>
            <a:r>
              <a:rPr sz="3200" spc="-50" dirty="0"/>
              <a:t> </a:t>
            </a:r>
            <a:r>
              <a:rPr sz="3200" spc="-10" dirty="0"/>
              <a:t>(Probabilitas)</a:t>
            </a:r>
            <a:endParaRPr sz="3200"/>
          </a:p>
        </p:txBody>
      </p:sp>
      <p:graphicFrame>
        <p:nvGraphicFramePr>
          <p:cNvPr id="4" name="object 4"/>
          <p:cNvGraphicFramePr>
            <a:graphicFrameLocks noGrp="1"/>
          </p:cNvGraphicFramePr>
          <p:nvPr/>
        </p:nvGraphicFramePr>
        <p:xfrm>
          <a:off x="2621407" y="1838451"/>
          <a:ext cx="3888104" cy="3033141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123761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47256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177924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210312"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50"/>
                        </a:spcBef>
                      </a:pPr>
                      <a:r>
                        <a:rPr sz="1200" b="1" dirty="0">
                          <a:solidFill>
                            <a:srgbClr val="FFFFFF"/>
                          </a:solidFill>
                          <a:latin typeface="Calibri"/>
                          <a:cs typeface="Calibri"/>
                        </a:rPr>
                        <a:t>X</a:t>
                      </a:r>
                      <a:endParaRPr sz="1200">
                        <a:latin typeface="Calibri"/>
                        <a:cs typeface="Calibri"/>
                      </a:endParaRPr>
                    </a:p>
                  </a:txBody>
                  <a:tcPr marL="0" marR="0" marT="6350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38100">
                      <a:solidFill>
                        <a:srgbClr val="FFFFFF"/>
                      </a:solidFill>
                      <a:prstDash val="solid"/>
                    </a:lnB>
                    <a:solidFill>
                      <a:srgbClr val="4F81BC"/>
                    </a:solidFill>
                  </a:tcPr>
                </a:tc>
                <a:tc>
                  <a:txBody>
                    <a:bodyPr/>
                    <a:lstStyle/>
                    <a:p>
                      <a:pPr marL="635" algn="ctr">
                        <a:lnSpc>
                          <a:spcPct val="100000"/>
                        </a:lnSpc>
                        <a:spcBef>
                          <a:spcPts val="50"/>
                        </a:spcBef>
                      </a:pPr>
                      <a:r>
                        <a:rPr sz="1200" b="1" dirty="0">
                          <a:solidFill>
                            <a:srgbClr val="FFFFFF"/>
                          </a:solidFill>
                          <a:latin typeface="Calibri"/>
                          <a:cs typeface="Calibri"/>
                        </a:rPr>
                        <a:t>f</a:t>
                      </a:r>
                      <a:endParaRPr sz="1200">
                        <a:latin typeface="Calibri"/>
                        <a:cs typeface="Calibri"/>
                      </a:endParaRPr>
                    </a:p>
                  </a:txBody>
                  <a:tcPr marL="0" marR="0" marT="6350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38100">
                      <a:solidFill>
                        <a:srgbClr val="FFFFFF"/>
                      </a:solidFill>
                      <a:prstDash val="solid"/>
                    </a:lnB>
                    <a:solidFill>
                      <a:srgbClr val="4F81BC"/>
                    </a:solidFill>
                  </a:tcPr>
                </a:tc>
                <a:tc>
                  <a:txBody>
                    <a:bodyPr/>
                    <a:lstStyle/>
                    <a:p>
                      <a:pPr marL="635" algn="ctr">
                        <a:lnSpc>
                          <a:spcPct val="100000"/>
                        </a:lnSpc>
                        <a:spcBef>
                          <a:spcPts val="50"/>
                        </a:spcBef>
                      </a:pPr>
                      <a:r>
                        <a:rPr sz="1200" b="1" dirty="0">
                          <a:solidFill>
                            <a:srgbClr val="FFFFFF"/>
                          </a:solidFill>
                          <a:latin typeface="Calibri"/>
                          <a:cs typeface="Calibri"/>
                        </a:rPr>
                        <a:t>fr</a:t>
                      </a:r>
                      <a:endParaRPr sz="1200">
                        <a:latin typeface="Calibri"/>
                        <a:cs typeface="Calibri"/>
                      </a:endParaRPr>
                    </a:p>
                  </a:txBody>
                  <a:tcPr marL="0" marR="0" marT="6350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38100">
                      <a:solidFill>
                        <a:srgbClr val="FFFFFF"/>
                      </a:solidFill>
                      <a:prstDash val="solid"/>
                    </a:lnB>
                    <a:solidFill>
                      <a:srgbClr val="4F81B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313432"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50"/>
                        </a:spcBef>
                      </a:pPr>
                      <a:r>
                        <a:rPr sz="1200" spc="-25" dirty="0">
                          <a:solidFill>
                            <a:srgbClr val="FFFFFF"/>
                          </a:solidFill>
                          <a:latin typeface="Cambria Math"/>
                          <a:cs typeface="Cambria Math"/>
                        </a:rPr>
                        <a:t>𝑋</a:t>
                      </a:r>
                      <a:r>
                        <a:rPr sz="1275" spc="-37" baseline="-16339" dirty="0">
                          <a:solidFill>
                            <a:srgbClr val="FFFFFF"/>
                          </a:solidFill>
                          <a:latin typeface="Cambria Math"/>
                          <a:cs typeface="Cambria Math"/>
                        </a:rPr>
                        <a:t>1</a:t>
                      </a:r>
                      <a:endParaRPr sz="1275" baseline="-16339">
                        <a:latin typeface="Cambria Math"/>
                        <a:cs typeface="Cambria Math"/>
                      </a:endParaRPr>
                    </a:p>
                    <a:p>
                      <a:pPr algn="ctr">
                        <a:lnSpc>
                          <a:spcPct val="100000"/>
                        </a:lnSpc>
                        <a:spcBef>
                          <a:spcPts val="215"/>
                        </a:spcBef>
                      </a:pPr>
                      <a:r>
                        <a:rPr sz="1200" spc="-5" dirty="0">
                          <a:solidFill>
                            <a:srgbClr val="FFFFFF"/>
                          </a:solidFill>
                          <a:latin typeface="Cambria Math"/>
                          <a:cs typeface="Cambria Math"/>
                        </a:rPr>
                        <a:t>𝑋</a:t>
                      </a:r>
                      <a:r>
                        <a:rPr sz="1275" spc="-7" baseline="-16339" dirty="0">
                          <a:solidFill>
                            <a:srgbClr val="FFFFFF"/>
                          </a:solidFill>
                          <a:latin typeface="Cambria Math"/>
                          <a:cs typeface="Cambria Math"/>
                        </a:rPr>
                        <a:t>2</a:t>
                      </a:r>
                      <a:endParaRPr sz="1275" baseline="-16339">
                        <a:latin typeface="Cambria Math"/>
                        <a:cs typeface="Cambria Math"/>
                      </a:endParaRPr>
                    </a:p>
                    <a:p>
                      <a:pPr algn="ctr">
                        <a:lnSpc>
                          <a:spcPct val="100000"/>
                        </a:lnSpc>
                        <a:spcBef>
                          <a:spcPts val="215"/>
                        </a:spcBef>
                      </a:pPr>
                      <a:r>
                        <a:rPr sz="1200" b="1" dirty="0">
                          <a:solidFill>
                            <a:srgbClr val="FFFFFF"/>
                          </a:solidFill>
                          <a:latin typeface="Calibri"/>
                          <a:cs typeface="Calibri"/>
                        </a:rPr>
                        <a:t>.</a:t>
                      </a:r>
                      <a:endParaRPr sz="1200">
                        <a:latin typeface="Calibri"/>
                        <a:cs typeface="Calibri"/>
                      </a:endParaRPr>
                    </a:p>
                    <a:p>
                      <a:pPr algn="ctr">
                        <a:lnSpc>
                          <a:spcPct val="100000"/>
                        </a:lnSpc>
                        <a:spcBef>
                          <a:spcPts val="219"/>
                        </a:spcBef>
                      </a:pPr>
                      <a:r>
                        <a:rPr sz="1200" b="1" dirty="0">
                          <a:solidFill>
                            <a:srgbClr val="FFFFFF"/>
                          </a:solidFill>
                          <a:latin typeface="Calibri"/>
                          <a:cs typeface="Calibri"/>
                        </a:rPr>
                        <a:t>.</a:t>
                      </a:r>
                      <a:endParaRPr sz="1200">
                        <a:latin typeface="Calibri"/>
                        <a:cs typeface="Calibri"/>
                      </a:endParaRPr>
                    </a:p>
                    <a:p>
                      <a:pPr algn="ctr">
                        <a:lnSpc>
                          <a:spcPct val="100000"/>
                        </a:lnSpc>
                        <a:spcBef>
                          <a:spcPts val="215"/>
                        </a:spcBef>
                      </a:pPr>
                      <a:r>
                        <a:rPr sz="1200" b="1" dirty="0">
                          <a:solidFill>
                            <a:srgbClr val="FFFFFF"/>
                          </a:solidFill>
                          <a:latin typeface="Calibri"/>
                          <a:cs typeface="Calibri"/>
                        </a:rPr>
                        <a:t>.</a:t>
                      </a:r>
                      <a:endParaRPr sz="1200">
                        <a:latin typeface="Calibri"/>
                        <a:cs typeface="Calibri"/>
                      </a:endParaRPr>
                    </a:p>
                    <a:p>
                      <a:pPr marR="2540" algn="ctr">
                        <a:lnSpc>
                          <a:spcPct val="100000"/>
                        </a:lnSpc>
                        <a:spcBef>
                          <a:spcPts val="219"/>
                        </a:spcBef>
                      </a:pPr>
                      <a:r>
                        <a:rPr sz="1200" spc="-5" dirty="0">
                          <a:solidFill>
                            <a:srgbClr val="FFFFFF"/>
                          </a:solidFill>
                          <a:latin typeface="Cambria Math"/>
                          <a:cs typeface="Cambria Math"/>
                        </a:rPr>
                        <a:t>𝑋</a:t>
                      </a:r>
                      <a:r>
                        <a:rPr sz="1275" spc="-7" baseline="-16339" dirty="0">
                          <a:solidFill>
                            <a:srgbClr val="FFFFFF"/>
                          </a:solidFill>
                          <a:latin typeface="Cambria Math"/>
                          <a:cs typeface="Cambria Math"/>
                        </a:rPr>
                        <a:t>𝑖</a:t>
                      </a:r>
                      <a:endParaRPr sz="1275" baseline="-16339">
                        <a:latin typeface="Cambria Math"/>
                        <a:cs typeface="Cambria Math"/>
                      </a:endParaRPr>
                    </a:p>
                    <a:p>
                      <a:pPr algn="ctr">
                        <a:lnSpc>
                          <a:spcPct val="100000"/>
                        </a:lnSpc>
                        <a:spcBef>
                          <a:spcPts val="215"/>
                        </a:spcBef>
                      </a:pPr>
                      <a:r>
                        <a:rPr sz="1200" b="1" dirty="0">
                          <a:solidFill>
                            <a:srgbClr val="FFFFFF"/>
                          </a:solidFill>
                          <a:latin typeface="Calibri"/>
                          <a:cs typeface="Calibri"/>
                        </a:rPr>
                        <a:t>.</a:t>
                      </a:r>
                      <a:endParaRPr sz="1200">
                        <a:latin typeface="Calibri"/>
                        <a:cs typeface="Calibri"/>
                      </a:endParaRPr>
                    </a:p>
                    <a:p>
                      <a:pPr algn="ctr">
                        <a:lnSpc>
                          <a:spcPct val="100000"/>
                        </a:lnSpc>
                        <a:spcBef>
                          <a:spcPts val="215"/>
                        </a:spcBef>
                      </a:pPr>
                      <a:r>
                        <a:rPr sz="1200" b="1" dirty="0">
                          <a:solidFill>
                            <a:srgbClr val="FFFFFF"/>
                          </a:solidFill>
                          <a:latin typeface="Calibri"/>
                          <a:cs typeface="Calibri"/>
                        </a:rPr>
                        <a:t>.</a:t>
                      </a:r>
                      <a:endParaRPr sz="1200">
                        <a:latin typeface="Calibri"/>
                        <a:cs typeface="Calibri"/>
                      </a:endParaRPr>
                    </a:p>
                    <a:p>
                      <a:pPr algn="ctr">
                        <a:lnSpc>
                          <a:spcPct val="100000"/>
                        </a:lnSpc>
                        <a:spcBef>
                          <a:spcPts val="215"/>
                        </a:spcBef>
                      </a:pPr>
                      <a:r>
                        <a:rPr sz="1200" b="1" dirty="0">
                          <a:solidFill>
                            <a:srgbClr val="FFFFFF"/>
                          </a:solidFill>
                          <a:latin typeface="Calibri"/>
                          <a:cs typeface="Calibri"/>
                        </a:rPr>
                        <a:t>.</a:t>
                      </a:r>
                      <a:endParaRPr sz="1200">
                        <a:latin typeface="Calibri"/>
                        <a:cs typeface="Calibri"/>
                      </a:endParaRPr>
                    </a:p>
                    <a:p>
                      <a:pPr algn="ctr">
                        <a:lnSpc>
                          <a:spcPct val="100000"/>
                        </a:lnSpc>
                        <a:spcBef>
                          <a:spcPts val="215"/>
                        </a:spcBef>
                      </a:pPr>
                      <a:r>
                        <a:rPr sz="1200" spc="5" dirty="0">
                          <a:solidFill>
                            <a:srgbClr val="FFFFFF"/>
                          </a:solidFill>
                          <a:latin typeface="Cambria Math"/>
                          <a:cs typeface="Cambria Math"/>
                        </a:rPr>
                        <a:t>𝑋</a:t>
                      </a:r>
                      <a:r>
                        <a:rPr sz="1275" spc="7" baseline="-16339" dirty="0">
                          <a:solidFill>
                            <a:srgbClr val="FFFFFF"/>
                          </a:solidFill>
                          <a:latin typeface="Cambria Math"/>
                          <a:cs typeface="Cambria Math"/>
                        </a:rPr>
                        <a:t>𝑘</a:t>
                      </a:r>
                      <a:endParaRPr sz="1275" baseline="-16339">
                        <a:latin typeface="Cambria Math"/>
                        <a:cs typeface="Cambria Math"/>
                      </a:endParaRPr>
                    </a:p>
                  </a:txBody>
                  <a:tcPr marL="0" marR="0" marT="6350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381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4F81B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50"/>
                        </a:spcBef>
                      </a:pPr>
                      <a:r>
                        <a:rPr sz="1200" spc="-95" dirty="0">
                          <a:latin typeface="Cambria Math"/>
                          <a:cs typeface="Cambria Math"/>
                        </a:rPr>
                        <a:t>𝑓</a:t>
                      </a:r>
                      <a:r>
                        <a:rPr sz="1275" spc="-142" baseline="-16339" dirty="0">
                          <a:latin typeface="Cambria Math"/>
                          <a:cs typeface="Cambria Math"/>
                        </a:rPr>
                        <a:t>1</a:t>
                      </a:r>
                      <a:endParaRPr sz="1275" baseline="-16339">
                        <a:latin typeface="Cambria Math"/>
                        <a:cs typeface="Cambria Math"/>
                      </a:endParaRPr>
                    </a:p>
                    <a:p>
                      <a:pPr algn="ctr">
                        <a:lnSpc>
                          <a:spcPct val="100000"/>
                        </a:lnSpc>
                        <a:spcBef>
                          <a:spcPts val="215"/>
                        </a:spcBef>
                      </a:pPr>
                      <a:r>
                        <a:rPr sz="1200" spc="-80" dirty="0">
                          <a:latin typeface="Cambria Math"/>
                          <a:cs typeface="Cambria Math"/>
                        </a:rPr>
                        <a:t>𝑓</a:t>
                      </a:r>
                      <a:r>
                        <a:rPr sz="1275" spc="-120" baseline="-16339" dirty="0">
                          <a:latin typeface="Cambria Math"/>
                          <a:cs typeface="Cambria Math"/>
                        </a:rPr>
                        <a:t>2</a:t>
                      </a:r>
                      <a:endParaRPr sz="1275" baseline="-16339">
                        <a:latin typeface="Cambria Math"/>
                        <a:cs typeface="Cambria Math"/>
                      </a:endParaRPr>
                    </a:p>
                    <a:p>
                      <a:pPr algn="ctr">
                        <a:lnSpc>
                          <a:spcPct val="100000"/>
                        </a:lnSpc>
                        <a:spcBef>
                          <a:spcPts val="215"/>
                        </a:spcBef>
                      </a:pPr>
                      <a:r>
                        <a:rPr sz="1200" dirty="0">
                          <a:latin typeface="Calibri"/>
                          <a:cs typeface="Calibri"/>
                        </a:rPr>
                        <a:t>.</a:t>
                      </a:r>
                      <a:endParaRPr sz="1200">
                        <a:latin typeface="Calibri"/>
                        <a:cs typeface="Calibri"/>
                      </a:endParaRPr>
                    </a:p>
                    <a:p>
                      <a:pPr algn="ctr">
                        <a:lnSpc>
                          <a:spcPct val="100000"/>
                        </a:lnSpc>
                        <a:spcBef>
                          <a:spcPts val="219"/>
                        </a:spcBef>
                      </a:pPr>
                      <a:r>
                        <a:rPr sz="1200" dirty="0">
                          <a:latin typeface="Calibri"/>
                          <a:cs typeface="Calibri"/>
                        </a:rPr>
                        <a:t>.</a:t>
                      </a:r>
                      <a:endParaRPr sz="1200">
                        <a:latin typeface="Calibri"/>
                        <a:cs typeface="Calibri"/>
                      </a:endParaRPr>
                    </a:p>
                    <a:p>
                      <a:pPr algn="ctr">
                        <a:lnSpc>
                          <a:spcPct val="100000"/>
                        </a:lnSpc>
                        <a:spcBef>
                          <a:spcPts val="215"/>
                        </a:spcBef>
                      </a:pPr>
                      <a:r>
                        <a:rPr sz="1200" dirty="0">
                          <a:latin typeface="Calibri"/>
                          <a:cs typeface="Calibri"/>
                        </a:rPr>
                        <a:t>.</a:t>
                      </a:r>
                      <a:endParaRPr sz="1200">
                        <a:latin typeface="Calibri"/>
                        <a:cs typeface="Calibri"/>
                      </a:endParaRPr>
                    </a:p>
                    <a:p>
                      <a:pPr marR="2540" algn="ctr">
                        <a:lnSpc>
                          <a:spcPct val="100000"/>
                        </a:lnSpc>
                        <a:spcBef>
                          <a:spcPts val="219"/>
                        </a:spcBef>
                      </a:pPr>
                      <a:r>
                        <a:rPr sz="1200" spc="-80" dirty="0">
                          <a:latin typeface="Cambria Math"/>
                          <a:cs typeface="Cambria Math"/>
                        </a:rPr>
                        <a:t>𝑓</a:t>
                      </a:r>
                      <a:r>
                        <a:rPr sz="1275" spc="-120" baseline="-16339" dirty="0">
                          <a:latin typeface="Cambria Math"/>
                          <a:cs typeface="Cambria Math"/>
                        </a:rPr>
                        <a:t>𝑖</a:t>
                      </a:r>
                      <a:endParaRPr sz="1275" baseline="-16339">
                        <a:latin typeface="Cambria Math"/>
                        <a:cs typeface="Cambria Math"/>
                      </a:endParaRPr>
                    </a:p>
                    <a:p>
                      <a:pPr algn="ctr">
                        <a:lnSpc>
                          <a:spcPct val="100000"/>
                        </a:lnSpc>
                        <a:spcBef>
                          <a:spcPts val="215"/>
                        </a:spcBef>
                      </a:pPr>
                      <a:r>
                        <a:rPr sz="1200" dirty="0">
                          <a:latin typeface="Calibri"/>
                          <a:cs typeface="Calibri"/>
                        </a:rPr>
                        <a:t>.</a:t>
                      </a:r>
                      <a:endParaRPr sz="1200">
                        <a:latin typeface="Calibri"/>
                        <a:cs typeface="Calibri"/>
                      </a:endParaRPr>
                    </a:p>
                    <a:p>
                      <a:pPr algn="ctr">
                        <a:lnSpc>
                          <a:spcPct val="100000"/>
                        </a:lnSpc>
                        <a:spcBef>
                          <a:spcPts val="215"/>
                        </a:spcBef>
                      </a:pPr>
                      <a:r>
                        <a:rPr sz="1200" dirty="0">
                          <a:latin typeface="Calibri"/>
                          <a:cs typeface="Calibri"/>
                        </a:rPr>
                        <a:t>.</a:t>
                      </a:r>
                      <a:endParaRPr sz="1200">
                        <a:latin typeface="Calibri"/>
                        <a:cs typeface="Calibri"/>
                      </a:endParaRPr>
                    </a:p>
                    <a:p>
                      <a:pPr algn="ctr">
                        <a:lnSpc>
                          <a:spcPct val="100000"/>
                        </a:lnSpc>
                        <a:spcBef>
                          <a:spcPts val="215"/>
                        </a:spcBef>
                      </a:pPr>
                      <a:r>
                        <a:rPr sz="1200" dirty="0">
                          <a:latin typeface="Calibri"/>
                          <a:cs typeface="Calibri"/>
                        </a:rPr>
                        <a:t>.</a:t>
                      </a:r>
                      <a:endParaRPr sz="1200">
                        <a:latin typeface="Calibri"/>
                        <a:cs typeface="Calibri"/>
                      </a:endParaRPr>
                    </a:p>
                    <a:p>
                      <a:pPr marR="1905" algn="ctr">
                        <a:lnSpc>
                          <a:spcPct val="100000"/>
                        </a:lnSpc>
                        <a:spcBef>
                          <a:spcPts val="215"/>
                        </a:spcBef>
                      </a:pPr>
                      <a:r>
                        <a:rPr sz="1200" spc="-70" dirty="0">
                          <a:latin typeface="Cambria Math"/>
                          <a:cs typeface="Cambria Math"/>
                        </a:rPr>
                        <a:t>𝑓</a:t>
                      </a:r>
                      <a:r>
                        <a:rPr sz="1275" spc="-104" baseline="-16339" dirty="0">
                          <a:latin typeface="Cambria Math"/>
                          <a:cs typeface="Cambria Math"/>
                        </a:rPr>
                        <a:t>𝑘</a:t>
                      </a:r>
                      <a:endParaRPr sz="1275" baseline="-16339">
                        <a:latin typeface="Cambria Math"/>
                        <a:cs typeface="Cambria Math"/>
                      </a:endParaRPr>
                    </a:p>
                  </a:txBody>
                  <a:tcPr marL="0" marR="0" marT="6350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381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D0D7E8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8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381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D0D7E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509397">
                <a:tc>
                  <a:txBody>
                    <a:bodyPr/>
                    <a:lstStyle/>
                    <a:p>
                      <a:pPr marL="635" algn="ctr">
                        <a:lnSpc>
                          <a:spcPct val="100000"/>
                        </a:lnSpc>
                        <a:spcBef>
                          <a:spcPts val="55"/>
                        </a:spcBef>
                      </a:pPr>
                      <a:r>
                        <a:rPr sz="1200" b="1" spc="-5" dirty="0">
                          <a:solidFill>
                            <a:srgbClr val="FFFFFF"/>
                          </a:solidFill>
                          <a:latin typeface="Calibri"/>
                          <a:cs typeface="Calibri"/>
                        </a:rPr>
                        <a:t>Jumlah</a:t>
                      </a:r>
                      <a:endParaRPr sz="1200">
                        <a:latin typeface="Calibri"/>
                        <a:cs typeface="Calibri"/>
                      </a:endParaRPr>
                    </a:p>
                  </a:txBody>
                  <a:tcPr marL="0" marR="0" marT="6985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4F81BC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spcBef>
                          <a:spcPts val="25"/>
                        </a:spcBef>
                      </a:pPr>
                      <a:endParaRPr sz="1100">
                        <a:latin typeface="Times New Roman"/>
                        <a:cs typeface="Times New Roman"/>
                      </a:endParaRPr>
                    </a:p>
                    <a:p>
                      <a:pPr marR="27940" algn="ctr">
                        <a:lnSpc>
                          <a:spcPct val="100000"/>
                        </a:lnSpc>
                      </a:pPr>
                      <a:r>
                        <a:rPr sz="1200" dirty="0">
                          <a:latin typeface="Cambria Math"/>
                          <a:cs typeface="Cambria Math"/>
                        </a:rPr>
                        <a:t> </a:t>
                      </a:r>
                      <a:r>
                        <a:rPr sz="1200" spc="-55" dirty="0">
                          <a:latin typeface="Cambria Math"/>
                          <a:cs typeface="Cambria Math"/>
                        </a:rPr>
                        <a:t> </a:t>
                      </a:r>
                      <a:r>
                        <a:rPr sz="1200" spc="-80" dirty="0">
                          <a:latin typeface="Cambria Math"/>
                          <a:cs typeface="Cambria Math"/>
                        </a:rPr>
                        <a:t>𝑓</a:t>
                      </a:r>
                      <a:r>
                        <a:rPr sz="1275" spc="-120" baseline="-16339" dirty="0">
                          <a:latin typeface="Cambria Math"/>
                          <a:cs typeface="Cambria Math"/>
                        </a:rPr>
                        <a:t>𝑖    </a:t>
                      </a:r>
                      <a:r>
                        <a:rPr sz="1200" dirty="0">
                          <a:latin typeface="Cambria Math"/>
                          <a:cs typeface="Cambria Math"/>
                        </a:rPr>
                        <a:t>=</a:t>
                      </a:r>
                      <a:r>
                        <a:rPr sz="1200" spc="50" dirty="0">
                          <a:latin typeface="Cambria Math"/>
                          <a:cs typeface="Cambria Math"/>
                        </a:rPr>
                        <a:t> </a:t>
                      </a:r>
                      <a:r>
                        <a:rPr sz="1200" dirty="0">
                          <a:latin typeface="Cambria Math"/>
                          <a:cs typeface="Cambria Math"/>
                        </a:rPr>
                        <a:t>𝑛</a:t>
                      </a:r>
                      <a:endParaRPr sz="1200">
                        <a:latin typeface="Cambria Math"/>
                        <a:cs typeface="Cambria Math"/>
                      </a:endParaRPr>
                    </a:p>
                  </a:txBody>
                  <a:tcPr marL="0" marR="0" marT="3175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E9ECF4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spcBef>
                          <a:spcPts val="25"/>
                        </a:spcBef>
                      </a:pPr>
                      <a:endParaRPr sz="1100">
                        <a:latin typeface="Times New Roman"/>
                        <a:cs typeface="Times New Roman"/>
                      </a:endParaRPr>
                    </a:p>
                    <a:p>
                      <a:pPr marR="25400" algn="ctr">
                        <a:lnSpc>
                          <a:spcPct val="100000"/>
                        </a:lnSpc>
                      </a:pPr>
                      <a:r>
                        <a:rPr sz="1200" dirty="0">
                          <a:latin typeface="Cambria Math"/>
                          <a:cs typeface="Cambria Math"/>
                        </a:rPr>
                        <a:t> </a:t>
                      </a:r>
                      <a:r>
                        <a:rPr sz="1200" spc="-70" dirty="0">
                          <a:latin typeface="Cambria Math"/>
                          <a:cs typeface="Cambria Math"/>
                        </a:rPr>
                        <a:t> </a:t>
                      </a:r>
                      <a:r>
                        <a:rPr sz="1200" dirty="0">
                          <a:latin typeface="Cambria Math"/>
                          <a:cs typeface="Cambria Math"/>
                        </a:rPr>
                        <a:t>𝑓𝑟 =</a:t>
                      </a:r>
                      <a:r>
                        <a:rPr sz="1200" spc="145" dirty="0">
                          <a:latin typeface="Cambria Math"/>
                          <a:cs typeface="Cambria Math"/>
                        </a:rPr>
                        <a:t> </a:t>
                      </a:r>
                      <a:r>
                        <a:rPr sz="1200" dirty="0">
                          <a:latin typeface="Cambria Math"/>
                          <a:cs typeface="Cambria Math"/>
                        </a:rPr>
                        <a:t>1</a:t>
                      </a:r>
                      <a:endParaRPr sz="1200">
                        <a:latin typeface="Cambria Math"/>
                        <a:cs typeface="Cambria Math"/>
                      </a:endParaRPr>
                    </a:p>
                  </a:txBody>
                  <a:tcPr marL="0" marR="0" marT="3175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E9ECF4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</a:tbl>
          </a:graphicData>
        </a:graphic>
      </p:graphicFrame>
      <p:sp>
        <p:nvSpPr>
          <p:cNvPr id="5" name="object 5"/>
          <p:cNvSpPr txBox="1"/>
          <p:nvPr/>
        </p:nvSpPr>
        <p:spPr>
          <a:xfrm>
            <a:off x="1871217" y="4961635"/>
            <a:ext cx="5271770" cy="29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100"/>
              </a:spcBef>
            </a:pPr>
            <a:r>
              <a:rPr sz="1800" spc="-5" dirty="0">
                <a:latin typeface="Calibri"/>
                <a:cs typeface="Calibri"/>
              </a:rPr>
              <a:t>Dimana </a:t>
            </a:r>
            <a:r>
              <a:rPr sz="1800" spc="-5" dirty="0">
                <a:latin typeface="Cambria Math"/>
                <a:cs typeface="Cambria Math"/>
              </a:rPr>
              <a:t>𝑓𝑟 </a:t>
            </a:r>
            <a:r>
              <a:rPr sz="1800" dirty="0">
                <a:latin typeface="Cambria Math"/>
                <a:cs typeface="Cambria Math"/>
              </a:rPr>
              <a:t>= </a:t>
            </a:r>
            <a:r>
              <a:rPr sz="1800" spc="-5" dirty="0">
                <a:latin typeface="Cambria Math"/>
                <a:cs typeface="Cambria Math"/>
              </a:rPr>
              <a:t>𝑓𝑟𝑒𝑘𝑢𝑒𝑛𝑠𝑖 𝑟𝑒𝑙𝑎𝑡𝑖𝑓 </a:t>
            </a:r>
            <a:r>
              <a:rPr sz="1800" spc="-5" dirty="0">
                <a:latin typeface="Calibri"/>
                <a:cs typeface="Calibri"/>
              </a:rPr>
              <a:t>dan </a:t>
            </a:r>
            <a:r>
              <a:rPr sz="1800" spc="-20" dirty="0">
                <a:latin typeface="Cambria Math"/>
                <a:cs typeface="Cambria Math"/>
              </a:rPr>
              <a:t>𝑋</a:t>
            </a:r>
            <a:r>
              <a:rPr sz="1950" spc="-30" baseline="-14957" dirty="0">
                <a:latin typeface="Cambria Math"/>
                <a:cs typeface="Cambria Math"/>
              </a:rPr>
              <a:t>𝑖 </a:t>
            </a:r>
            <a:r>
              <a:rPr sz="1800" dirty="0">
                <a:latin typeface="Cambria Math"/>
                <a:cs typeface="Cambria Math"/>
              </a:rPr>
              <a:t>= </a:t>
            </a:r>
            <a:r>
              <a:rPr sz="1800" spc="-5" dirty="0">
                <a:latin typeface="Cambria Math"/>
                <a:cs typeface="Cambria Math"/>
              </a:rPr>
              <a:t>𝐾𝑒𝑗𝑎𝑑𝑖𝑎𝑛</a:t>
            </a:r>
            <a:r>
              <a:rPr sz="1800" spc="254" dirty="0">
                <a:latin typeface="Cambria Math"/>
                <a:cs typeface="Cambria Math"/>
              </a:rPr>
              <a:t> </a:t>
            </a:r>
            <a:r>
              <a:rPr sz="1800" dirty="0">
                <a:latin typeface="Cambria Math"/>
                <a:cs typeface="Cambria Math"/>
              </a:rPr>
              <a:t>𝑖</a:t>
            </a:r>
            <a:endParaRPr sz="1800">
              <a:latin typeface="Cambria Math"/>
              <a:cs typeface="Cambria Math"/>
            </a:endParaRPr>
          </a:p>
        </p:txBody>
      </p:sp>
      <p:sp>
        <p:nvSpPr>
          <p:cNvPr id="6" name="object 6"/>
          <p:cNvSpPr txBox="1"/>
          <p:nvPr/>
        </p:nvSpPr>
        <p:spPr>
          <a:xfrm>
            <a:off x="4324603" y="5464555"/>
            <a:ext cx="103505" cy="29273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750" spc="185" dirty="0">
                <a:latin typeface="Cambria Math"/>
                <a:cs typeface="Cambria Math"/>
              </a:rPr>
              <a:t>𝑖</a:t>
            </a:r>
            <a:endParaRPr sz="1750">
              <a:latin typeface="Cambria Math"/>
              <a:cs typeface="Cambria Math"/>
            </a:endParaRPr>
          </a:p>
        </p:txBody>
      </p:sp>
      <p:sp>
        <p:nvSpPr>
          <p:cNvPr id="7" name="object 7"/>
          <p:cNvSpPr txBox="1"/>
          <p:nvPr/>
        </p:nvSpPr>
        <p:spPr>
          <a:xfrm>
            <a:off x="3891788" y="5319776"/>
            <a:ext cx="995680" cy="3911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400" spc="-5" dirty="0">
                <a:latin typeface="Calibri"/>
                <a:cs typeface="Calibri"/>
              </a:rPr>
              <a:t>P(</a:t>
            </a:r>
            <a:r>
              <a:rPr sz="2400" spc="-5" dirty="0">
                <a:latin typeface="Cambria Math"/>
                <a:cs typeface="Cambria Math"/>
              </a:rPr>
              <a:t>𝑋 </a:t>
            </a:r>
            <a:r>
              <a:rPr sz="2400" dirty="0">
                <a:latin typeface="Cambria Math"/>
                <a:cs typeface="Cambria Math"/>
              </a:rPr>
              <a:t>)</a:t>
            </a:r>
            <a:r>
              <a:rPr sz="2400" spc="190" dirty="0">
                <a:latin typeface="Cambria Math"/>
                <a:cs typeface="Cambria Math"/>
              </a:rPr>
              <a:t> </a:t>
            </a:r>
            <a:r>
              <a:rPr sz="2400" dirty="0">
                <a:latin typeface="Cambria Math"/>
                <a:cs typeface="Cambria Math"/>
              </a:rPr>
              <a:t>=</a:t>
            </a:r>
            <a:endParaRPr sz="2400">
              <a:latin typeface="Cambria Math"/>
              <a:cs typeface="Cambria Math"/>
            </a:endParaRPr>
          </a:p>
        </p:txBody>
      </p:sp>
      <p:sp>
        <p:nvSpPr>
          <p:cNvPr id="8" name="object 8"/>
          <p:cNvSpPr/>
          <p:nvPr/>
        </p:nvSpPr>
        <p:spPr>
          <a:xfrm>
            <a:off x="4958334" y="5540121"/>
            <a:ext cx="210820" cy="20320"/>
          </a:xfrm>
          <a:custGeom>
            <a:avLst/>
            <a:gdLst/>
            <a:ahLst/>
            <a:cxnLst/>
            <a:rect l="l" t="t" r="r" b="b"/>
            <a:pathLst>
              <a:path w="210820" h="20320">
                <a:moveTo>
                  <a:pt x="210312" y="0"/>
                </a:moveTo>
                <a:lnTo>
                  <a:pt x="0" y="0"/>
                </a:lnTo>
                <a:lnTo>
                  <a:pt x="0" y="19811"/>
                </a:lnTo>
                <a:lnTo>
                  <a:pt x="210312" y="19811"/>
                </a:lnTo>
                <a:lnTo>
                  <a:pt x="210312" y="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9" name="object 9"/>
          <p:cNvSpPr txBox="1"/>
          <p:nvPr/>
        </p:nvSpPr>
        <p:spPr>
          <a:xfrm>
            <a:off x="4946396" y="5223764"/>
            <a:ext cx="159385" cy="29273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750" spc="160" dirty="0">
                <a:latin typeface="Cambria Math"/>
                <a:cs typeface="Cambria Math"/>
              </a:rPr>
              <a:t>𝑓</a:t>
            </a:r>
            <a:endParaRPr sz="1750">
              <a:latin typeface="Cambria Math"/>
              <a:cs typeface="Cambria Math"/>
            </a:endParaRPr>
          </a:p>
        </p:txBody>
      </p:sp>
      <p:sp>
        <p:nvSpPr>
          <p:cNvPr id="10" name="object 10"/>
          <p:cNvSpPr txBox="1"/>
          <p:nvPr/>
        </p:nvSpPr>
        <p:spPr>
          <a:xfrm>
            <a:off x="5080508" y="5310632"/>
            <a:ext cx="94615" cy="245110"/>
          </a:xfrm>
          <a:prstGeom prst="rect">
            <a:avLst/>
          </a:prstGeom>
        </p:spPr>
        <p:txBody>
          <a:bodyPr vert="horz" wrap="square" lIns="0" tIns="1143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0"/>
              </a:spcBef>
            </a:pPr>
            <a:r>
              <a:rPr sz="1450" spc="254" dirty="0">
                <a:latin typeface="Cambria Math"/>
                <a:cs typeface="Cambria Math"/>
              </a:rPr>
              <a:t>𝑖</a:t>
            </a:r>
            <a:endParaRPr sz="1450">
              <a:latin typeface="Cambria Math"/>
              <a:cs typeface="Cambria Math"/>
            </a:endParaRPr>
          </a:p>
        </p:txBody>
      </p:sp>
      <p:sp>
        <p:nvSpPr>
          <p:cNvPr id="11" name="object 11"/>
          <p:cNvSpPr txBox="1"/>
          <p:nvPr/>
        </p:nvSpPr>
        <p:spPr>
          <a:xfrm>
            <a:off x="4976876" y="5555996"/>
            <a:ext cx="170180" cy="29273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750" spc="229" dirty="0">
                <a:latin typeface="Cambria Math"/>
                <a:cs typeface="Cambria Math"/>
              </a:rPr>
              <a:t>𝑛</a:t>
            </a:r>
            <a:endParaRPr sz="1750">
              <a:latin typeface="Cambria Math"/>
              <a:cs typeface="Cambria Math"/>
            </a:endParaRPr>
          </a:p>
        </p:txBody>
      </p:sp>
      <p:sp>
        <p:nvSpPr>
          <p:cNvPr id="12" name="object 12"/>
          <p:cNvSpPr txBox="1"/>
          <p:nvPr/>
        </p:nvSpPr>
        <p:spPr>
          <a:xfrm>
            <a:off x="1116330" y="3390138"/>
            <a:ext cx="1440180" cy="647700"/>
          </a:xfrm>
          <a:prstGeom prst="rect">
            <a:avLst/>
          </a:prstGeom>
          <a:solidFill>
            <a:srgbClr val="4F81BC"/>
          </a:solidFill>
          <a:ln w="25908">
            <a:solidFill>
              <a:srgbClr val="385D89"/>
            </a:solidFill>
          </a:ln>
        </p:spPr>
        <p:txBody>
          <a:bodyPr vert="horz" wrap="square" lIns="0" tIns="154940" rIns="0" bIns="0" rtlCol="0">
            <a:spAutoFit/>
          </a:bodyPr>
          <a:lstStyle/>
          <a:p>
            <a:pPr marL="100330">
              <a:lnSpc>
                <a:spcPct val="100000"/>
              </a:lnSpc>
              <a:spcBef>
                <a:spcPts val="1220"/>
              </a:spcBef>
            </a:pPr>
            <a:r>
              <a:rPr sz="2000" spc="-10" dirty="0">
                <a:solidFill>
                  <a:srgbClr val="FFFFFF"/>
                </a:solidFill>
                <a:latin typeface="Calibri"/>
                <a:cs typeface="Calibri"/>
              </a:rPr>
              <a:t>Contoh</a:t>
            </a:r>
            <a:r>
              <a:rPr sz="2000" spc="-50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2000" spc="-5" dirty="0">
                <a:solidFill>
                  <a:srgbClr val="FFFFFF"/>
                </a:solidFill>
                <a:latin typeface="Calibri"/>
                <a:cs typeface="Calibri"/>
              </a:rPr>
              <a:t>Soal</a:t>
            </a:r>
            <a:endParaRPr sz="2000">
              <a:latin typeface="Calibri"/>
              <a:cs typeface="Calibri"/>
            </a:endParaRP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2562225" y="876046"/>
            <a:ext cx="4019550" cy="3911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400" spc="-10" dirty="0"/>
              <a:t>Contoh </a:t>
            </a:r>
            <a:r>
              <a:rPr sz="2400" spc="-15" dirty="0"/>
              <a:t>Konsep Frekuensi</a:t>
            </a:r>
            <a:r>
              <a:rPr sz="2400" dirty="0"/>
              <a:t> </a:t>
            </a:r>
            <a:r>
              <a:rPr sz="2400" spc="-10" dirty="0"/>
              <a:t>Relatif</a:t>
            </a:r>
            <a:endParaRPr sz="2400"/>
          </a:p>
        </p:txBody>
      </p:sp>
      <p:sp>
        <p:nvSpPr>
          <p:cNvPr id="3" name="object 3"/>
          <p:cNvSpPr txBox="1"/>
          <p:nvPr/>
        </p:nvSpPr>
        <p:spPr>
          <a:xfrm>
            <a:off x="1050442" y="1429257"/>
            <a:ext cx="7117715" cy="1271270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 marR="5080" algn="just">
              <a:lnSpc>
                <a:spcPct val="100000"/>
              </a:lnSpc>
              <a:spcBef>
                <a:spcPts val="105"/>
              </a:spcBef>
            </a:pPr>
            <a:r>
              <a:rPr sz="2000" spc="-15" dirty="0">
                <a:latin typeface="Calibri"/>
                <a:cs typeface="Calibri"/>
              </a:rPr>
              <a:t>Pada </a:t>
            </a:r>
            <a:r>
              <a:rPr sz="2000" spc="-10" dirty="0">
                <a:latin typeface="Calibri"/>
                <a:cs typeface="Calibri"/>
              </a:rPr>
              <a:t>suatu </a:t>
            </a:r>
            <a:r>
              <a:rPr sz="2000" dirty="0">
                <a:latin typeface="Calibri"/>
                <a:cs typeface="Calibri"/>
              </a:rPr>
              <a:t>penelitian </a:t>
            </a:r>
            <a:r>
              <a:rPr sz="2000" spc="-5" dirty="0">
                <a:latin typeface="Calibri"/>
                <a:cs typeface="Calibri"/>
              </a:rPr>
              <a:t>terhadap 65 </a:t>
            </a:r>
            <a:r>
              <a:rPr sz="2000" spc="-15" dirty="0">
                <a:latin typeface="Calibri"/>
                <a:cs typeface="Calibri"/>
              </a:rPr>
              <a:t>karyawan </a:t>
            </a:r>
            <a:r>
              <a:rPr sz="2000" spc="-10" dirty="0">
                <a:latin typeface="Calibri"/>
                <a:cs typeface="Calibri"/>
              </a:rPr>
              <a:t>yang bekerja </a:t>
            </a:r>
            <a:r>
              <a:rPr sz="2000" dirty="0">
                <a:latin typeface="Calibri"/>
                <a:cs typeface="Calibri"/>
              </a:rPr>
              <a:t>di  perusahaan </a:t>
            </a:r>
            <a:r>
              <a:rPr sz="2000" spc="-15" dirty="0">
                <a:latin typeface="Calibri"/>
                <a:cs typeface="Calibri"/>
              </a:rPr>
              <a:t>swasta, </a:t>
            </a:r>
            <a:r>
              <a:rPr sz="2000" dirty="0">
                <a:latin typeface="Calibri"/>
                <a:cs typeface="Calibri"/>
              </a:rPr>
              <a:t>salah </a:t>
            </a:r>
            <a:r>
              <a:rPr sz="2000" spc="-5" dirty="0">
                <a:latin typeface="Calibri"/>
                <a:cs typeface="Calibri"/>
              </a:rPr>
              <a:t>satu </a:t>
            </a:r>
            <a:r>
              <a:rPr sz="2000" spc="-10" dirty="0">
                <a:latin typeface="Calibri"/>
                <a:cs typeface="Calibri"/>
              </a:rPr>
              <a:t>karakteristik, besarnya </a:t>
            </a:r>
            <a:r>
              <a:rPr sz="2000" spc="-5" dirty="0">
                <a:latin typeface="Calibri"/>
                <a:cs typeface="Calibri"/>
              </a:rPr>
              <a:t>gaji/upah  </a:t>
            </a:r>
            <a:r>
              <a:rPr sz="2000" dirty="0">
                <a:latin typeface="Calibri"/>
                <a:cs typeface="Calibri"/>
              </a:rPr>
              <a:t>bulanan </a:t>
            </a:r>
            <a:r>
              <a:rPr sz="2000" spc="-10" dirty="0">
                <a:latin typeface="Calibri"/>
                <a:cs typeface="Calibri"/>
              </a:rPr>
              <a:t>digambarkan sebagai</a:t>
            </a:r>
            <a:r>
              <a:rPr sz="2000" spc="-5" dirty="0">
                <a:latin typeface="Calibri"/>
                <a:cs typeface="Calibri"/>
              </a:rPr>
              <a:t> berikut:</a:t>
            </a:r>
            <a:endParaRPr sz="2000">
              <a:latin typeface="Calibri"/>
              <a:cs typeface="Calibri"/>
            </a:endParaRPr>
          </a:p>
          <a:p>
            <a:pPr marL="785495" algn="just">
              <a:lnSpc>
                <a:spcPct val="100000"/>
              </a:lnSpc>
              <a:spcBef>
                <a:spcPts val="440"/>
              </a:spcBef>
            </a:pPr>
            <a:r>
              <a:rPr sz="1800" b="1" spc="-10" dirty="0">
                <a:latin typeface="Calibri"/>
                <a:cs typeface="Calibri"/>
              </a:rPr>
              <a:t>Tingkat </a:t>
            </a:r>
            <a:r>
              <a:rPr sz="1800" b="1" dirty="0">
                <a:latin typeface="Calibri"/>
                <a:cs typeface="Calibri"/>
              </a:rPr>
              <a:t>Upah Bulanan </a:t>
            </a:r>
            <a:r>
              <a:rPr sz="1800" b="1" spc="-15" dirty="0">
                <a:latin typeface="Calibri"/>
                <a:cs typeface="Calibri"/>
              </a:rPr>
              <a:t>Karyawan </a:t>
            </a:r>
            <a:r>
              <a:rPr sz="1800" b="1" spc="-5" dirty="0">
                <a:latin typeface="Calibri"/>
                <a:cs typeface="Calibri"/>
              </a:rPr>
              <a:t>Suatu Perusahaan</a:t>
            </a:r>
            <a:r>
              <a:rPr sz="1800" b="1" spc="-90" dirty="0">
                <a:latin typeface="Calibri"/>
                <a:cs typeface="Calibri"/>
              </a:rPr>
              <a:t> </a:t>
            </a:r>
            <a:r>
              <a:rPr sz="1800" b="1" spc="-15" dirty="0">
                <a:latin typeface="Calibri"/>
                <a:cs typeface="Calibri"/>
              </a:rPr>
              <a:t>Swasta</a:t>
            </a:r>
            <a:endParaRPr sz="1800">
              <a:latin typeface="Calibri"/>
              <a:cs typeface="Calibri"/>
            </a:endParaRPr>
          </a:p>
        </p:txBody>
      </p:sp>
      <p:sp>
        <p:nvSpPr>
          <p:cNvPr id="4" name="object 4"/>
          <p:cNvSpPr txBox="1"/>
          <p:nvPr/>
        </p:nvSpPr>
        <p:spPr>
          <a:xfrm>
            <a:off x="1050442" y="3497960"/>
            <a:ext cx="7116445" cy="8483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 marR="5080" algn="just">
              <a:lnSpc>
                <a:spcPct val="100000"/>
              </a:lnSpc>
              <a:spcBef>
                <a:spcPts val="100"/>
              </a:spcBef>
            </a:pPr>
            <a:r>
              <a:rPr sz="1800" spc="-5" dirty="0">
                <a:latin typeface="Calibri"/>
                <a:cs typeface="Calibri"/>
              </a:rPr>
              <a:t>Apabila </a:t>
            </a:r>
            <a:r>
              <a:rPr sz="1800" spc="-10" dirty="0">
                <a:latin typeface="Calibri"/>
                <a:cs typeface="Calibri"/>
              </a:rPr>
              <a:t>kita kebetulan </a:t>
            </a:r>
            <a:r>
              <a:rPr sz="1800" spc="-5" dirty="0">
                <a:latin typeface="Calibri"/>
                <a:cs typeface="Calibri"/>
              </a:rPr>
              <a:t>bertemu </a:t>
            </a:r>
            <a:r>
              <a:rPr sz="1800" spc="-10" dirty="0">
                <a:latin typeface="Calibri"/>
                <a:cs typeface="Calibri"/>
              </a:rPr>
              <a:t>dengan </a:t>
            </a:r>
            <a:r>
              <a:rPr sz="1800" spc="-5" dirty="0">
                <a:latin typeface="Calibri"/>
                <a:cs typeface="Calibri"/>
              </a:rPr>
              <a:t>salah satu </a:t>
            </a:r>
            <a:r>
              <a:rPr sz="1800" spc="-15" dirty="0">
                <a:latin typeface="Calibri"/>
                <a:cs typeface="Calibri"/>
              </a:rPr>
              <a:t>karyawan </a:t>
            </a:r>
            <a:r>
              <a:rPr sz="1800" spc="-10" dirty="0">
                <a:latin typeface="Calibri"/>
                <a:cs typeface="Calibri"/>
              </a:rPr>
              <a:t>tersebut,  berapakah besarnya probabilitas bahwa upahnya </a:t>
            </a:r>
            <a:r>
              <a:rPr sz="1800" spc="-5" dirty="0">
                <a:latin typeface="Calibri"/>
                <a:cs typeface="Calibri"/>
              </a:rPr>
              <a:t>65 ribu </a:t>
            </a:r>
            <a:r>
              <a:rPr sz="1800" dirty="0">
                <a:latin typeface="Calibri"/>
                <a:cs typeface="Calibri"/>
              </a:rPr>
              <a:t>rupiah? </a:t>
            </a:r>
            <a:r>
              <a:rPr sz="1800" spc="-5" dirty="0">
                <a:latin typeface="Calibri"/>
                <a:cs typeface="Calibri"/>
              </a:rPr>
              <a:t>105 </a:t>
            </a:r>
            <a:r>
              <a:rPr sz="1800" spc="-10" dirty="0">
                <a:latin typeface="Calibri"/>
                <a:cs typeface="Calibri"/>
              </a:rPr>
              <a:t>ribu  </a:t>
            </a:r>
            <a:r>
              <a:rPr sz="1800" spc="-5" dirty="0">
                <a:latin typeface="Calibri"/>
                <a:cs typeface="Calibri"/>
              </a:rPr>
              <a:t>rupiah?</a:t>
            </a:r>
            <a:endParaRPr sz="1800">
              <a:latin typeface="Calibri"/>
              <a:cs typeface="Calibri"/>
            </a:endParaRPr>
          </a:p>
        </p:txBody>
      </p:sp>
      <p:sp>
        <p:nvSpPr>
          <p:cNvPr id="5" name="object 5"/>
          <p:cNvSpPr/>
          <p:nvPr/>
        </p:nvSpPr>
        <p:spPr>
          <a:xfrm>
            <a:off x="3043808" y="4523485"/>
            <a:ext cx="762000" cy="187960"/>
          </a:xfrm>
          <a:custGeom>
            <a:avLst/>
            <a:gdLst/>
            <a:ahLst/>
            <a:cxnLst/>
            <a:rect l="l" t="t" r="r" b="b"/>
            <a:pathLst>
              <a:path w="762000" h="187960">
                <a:moveTo>
                  <a:pt x="701802" y="0"/>
                </a:moveTo>
                <a:lnTo>
                  <a:pt x="699135" y="7619"/>
                </a:lnTo>
                <a:lnTo>
                  <a:pt x="709993" y="12334"/>
                </a:lnTo>
                <a:lnTo>
                  <a:pt x="719328" y="18859"/>
                </a:lnTo>
                <a:lnTo>
                  <a:pt x="741822" y="62293"/>
                </a:lnTo>
                <a:lnTo>
                  <a:pt x="744601" y="92963"/>
                </a:lnTo>
                <a:lnTo>
                  <a:pt x="743890" y="109537"/>
                </a:lnTo>
                <a:lnTo>
                  <a:pt x="733425" y="150113"/>
                </a:lnTo>
                <a:lnTo>
                  <a:pt x="699389" y="180086"/>
                </a:lnTo>
                <a:lnTo>
                  <a:pt x="701802" y="187706"/>
                </a:lnTo>
                <a:lnTo>
                  <a:pt x="737681" y="166417"/>
                </a:lnTo>
                <a:lnTo>
                  <a:pt x="757856" y="127126"/>
                </a:lnTo>
                <a:lnTo>
                  <a:pt x="761745" y="93980"/>
                </a:lnTo>
                <a:lnTo>
                  <a:pt x="760771" y="76737"/>
                </a:lnTo>
                <a:lnTo>
                  <a:pt x="746252" y="32893"/>
                </a:lnTo>
                <a:lnTo>
                  <a:pt x="715426" y="4925"/>
                </a:lnTo>
                <a:lnTo>
                  <a:pt x="701802" y="0"/>
                </a:lnTo>
                <a:close/>
              </a:path>
              <a:path w="762000" h="187960">
                <a:moveTo>
                  <a:pt x="59817" y="0"/>
                </a:moveTo>
                <a:lnTo>
                  <a:pt x="24044" y="21395"/>
                </a:lnTo>
                <a:lnTo>
                  <a:pt x="3841" y="60817"/>
                </a:lnTo>
                <a:lnTo>
                  <a:pt x="0" y="93980"/>
                </a:lnTo>
                <a:lnTo>
                  <a:pt x="954" y="111220"/>
                </a:lnTo>
                <a:lnTo>
                  <a:pt x="15367" y="154939"/>
                </a:lnTo>
                <a:lnTo>
                  <a:pt x="46174" y="182800"/>
                </a:lnTo>
                <a:lnTo>
                  <a:pt x="59817" y="187706"/>
                </a:lnTo>
                <a:lnTo>
                  <a:pt x="62230" y="180086"/>
                </a:lnTo>
                <a:lnTo>
                  <a:pt x="51536" y="175349"/>
                </a:lnTo>
                <a:lnTo>
                  <a:pt x="42306" y="168767"/>
                </a:lnTo>
                <a:lnTo>
                  <a:pt x="19843" y="124587"/>
                </a:lnTo>
                <a:lnTo>
                  <a:pt x="17018" y="92963"/>
                </a:lnTo>
                <a:lnTo>
                  <a:pt x="17728" y="76914"/>
                </a:lnTo>
                <a:lnTo>
                  <a:pt x="28193" y="37337"/>
                </a:lnTo>
                <a:lnTo>
                  <a:pt x="62484" y="7619"/>
                </a:lnTo>
                <a:lnTo>
                  <a:pt x="59817" y="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6" name="object 6"/>
          <p:cNvSpPr/>
          <p:nvPr/>
        </p:nvSpPr>
        <p:spPr>
          <a:xfrm>
            <a:off x="4088129" y="4610100"/>
            <a:ext cx="173990" cy="13970"/>
          </a:xfrm>
          <a:custGeom>
            <a:avLst/>
            <a:gdLst/>
            <a:ahLst/>
            <a:cxnLst/>
            <a:rect l="l" t="t" r="r" b="b"/>
            <a:pathLst>
              <a:path w="173989" h="13970">
                <a:moveTo>
                  <a:pt x="173736" y="0"/>
                </a:moveTo>
                <a:lnTo>
                  <a:pt x="0" y="0"/>
                </a:lnTo>
                <a:lnTo>
                  <a:pt x="0" y="13716"/>
                </a:lnTo>
                <a:lnTo>
                  <a:pt x="173736" y="13716"/>
                </a:lnTo>
                <a:lnTo>
                  <a:pt x="173736" y="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7" name="object 7"/>
          <p:cNvSpPr/>
          <p:nvPr/>
        </p:nvSpPr>
        <p:spPr>
          <a:xfrm>
            <a:off x="4527041" y="4610100"/>
            <a:ext cx="226060" cy="13970"/>
          </a:xfrm>
          <a:custGeom>
            <a:avLst/>
            <a:gdLst/>
            <a:ahLst/>
            <a:cxnLst/>
            <a:rect l="l" t="t" r="r" b="b"/>
            <a:pathLst>
              <a:path w="226060" h="13970">
                <a:moveTo>
                  <a:pt x="225551" y="0"/>
                </a:moveTo>
                <a:lnTo>
                  <a:pt x="0" y="0"/>
                </a:lnTo>
                <a:lnTo>
                  <a:pt x="0" y="13716"/>
                </a:lnTo>
                <a:lnTo>
                  <a:pt x="225551" y="13716"/>
                </a:lnTo>
                <a:lnTo>
                  <a:pt x="225551" y="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8" name="object 8"/>
          <p:cNvSpPr txBox="1"/>
          <p:nvPr/>
        </p:nvSpPr>
        <p:spPr>
          <a:xfrm>
            <a:off x="4103623" y="4595240"/>
            <a:ext cx="662940" cy="26924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  <a:tabLst>
                <a:tab pos="423545" algn="l"/>
              </a:tabLst>
            </a:pPr>
            <a:r>
              <a:rPr sz="1600" spc="-5" dirty="0">
                <a:latin typeface="Cambria Math"/>
                <a:cs typeface="Cambria Math"/>
              </a:rPr>
              <a:t>𝑛	65</a:t>
            </a:r>
            <a:endParaRPr sz="1600">
              <a:latin typeface="Cambria Math"/>
              <a:cs typeface="Cambria Math"/>
            </a:endParaRPr>
          </a:p>
        </p:txBody>
      </p:sp>
      <p:sp>
        <p:nvSpPr>
          <p:cNvPr id="9" name="object 9"/>
          <p:cNvSpPr txBox="1"/>
          <p:nvPr/>
        </p:nvSpPr>
        <p:spPr>
          <a:xfrm>
            <a:off x="2858770" y="4305680"/>
            <a:ext cx="3500120" cy="422909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R="367665" algn="ctr">
              <a:lnSpc>
                <a:spcPts val="1565"/>
              </a:lnSpc>
              <a:spcBef>
                <a:spcPts val="95"/>
              </a:spcBef>
              <a:tabLst>
                <a:tab pos="438784" algn="l"/>
              </a:tabLst>
            </a:pPr>
            <a:r>
              <a:rPr sz="1600" spc="-114" dirty="0">
                <a:latin typeface="Cambria Math"/>
                <a:cs typeface="Cambria Math"/>
              </a:rPr>
              <a:t>𝑓</a:t>
            </a:r>
            <a:r>
              <a:rPr sz="1725" spc="-172" baseline="-14492" dirty="0">
                <a:latin typeface="Cambria Math"/>
                <a:cs typeface="Cambria Math"/>
              </a:rPr>
              <a:t>2	</a:t>
            </a:r>
            <a:r>
              <a:rPr sz="1600" spc="-5" dirty="0">
                <a:latin typeface="Cambria Math"/>
                <a:cs typeface="Cambria Math"/>
              </a:rPr>
              <a:t>10</a:t>
            </a:r>
            <a:endParaRPr sz="1600">
              <a:latin typeface="Cambria Math"/>
              <a:cs typeface="Cambria Math"/>
            </a:endParaRPr>
          </a:p>
          <a:p>
            <a:pPr algn="ctr">
              <a:lnSpc>
                <a:spcPts val="1565"/>
              </a:lnSpc>
              <a:tabLst>
                <a:tab pos="982980" algn="l"/>
                <a:tab pos="1421765" algn="l"/>
                <a:tab pos="1912620" algn="l"/>
              </a:tabLst>
            </a:pPr>
            <a:r>
              <a:rPr sz="1600" spc="-5" dirty="0">
                <a:latin typeface="Cambria Math"/>
                <a:cs typeface="Cambria Math"/>
              </a:rPr>
              <a:t>𝑃  𝑋</a:t>
            </a:r>
            <a:r>
              <a:rPr sz="1600" spc="140" dirty="0">
                <a:latin typeface="Cambria Math"/>
                <a:cs typeface="Cambria Math"/>
              </a:rPr>
              <a:t> </a:t>
            </a:r>
            <a:r>
              <a:rPr sz="1600" spc="-5" dirty="0">
                <a:latin typeface="Cambria Math"/>
                <a:cs typeface="Cambria Math"/>
              </a:rPr>
              <a:t>=</a:t>
            </a:r>
            <a:r>
              <a:rPr sz="1600" spc="110" dirty="0">
                <a:latin typeface="Cambria Math"/>
                <a:cs typeface="Cambria Math"/>
              </a:rPr>
              <a:t> </a:t>
            </a:r>
            <a:r>
              <a:rPr sz="1600" spc="-5" dirty="0">
                <a:latin typeface="Cambria Math"/>
                <a:cs typeface="Cambria Math"/>
              </a:rPr>
              <a:t>65	=	=	= 0,15 </a:t>
            </a:r>
            <a:r>
              <a:rPr sz="1600" spc="-10" dirty="0">
                <a:latin typeface="Cambria Math"/>
                <a:cs typeface="Cambria Math"/>
              </a:rPr>
              <a:t>𝑎𝑡𝑎𝑢</a:t>
            </a:r>
            <a:r>
              <a:rPr sz="1600" spc="95" dirty="0">
                <a:latin typeface="Cambria Math"/>
                <a:cs typeface="Cambria Math"/>
              </a:rPr>
              <a:t> </a:t>
            </a:r>
            <a:r>
              <a:rPr sz="1600" spc="-5" dirty="0">
                <a:latin typeface="Cambria Math"/>
                <a:cs typeface="Cambria Math"/>
              </a:rPr>
              <a:t>15%</a:t>
            </a:r>
            <a:endParaRPr sz="1600">
              <a:latin typeface="Cambria Math"/>
              <a:cs typeface="Cambria Math"/>
            </a:endParaRPr>
          </a:p>
        </p:txBody>
      </p:sp>
      <p:sp>
        <p:nvSpPr>
          <p:cNvPr id="10" name="object 10"/>
          <p:cNvSpPr/>
          <p:nvPr/>
        </p:nvSpPr>
        <p:spPr>
          <a:xfrm>
            <a:off x="3043808" y="5279390"/>
            <a:ext cx="875030" cy="187960"/>
          </a:xfrm>
          <a:custGeom>
            <a:avLst/>
            <a:gdLst/>
            <a:ahLst/>
            <a:cxnLst/>
            <a:rect l="l" t="t" r="r" b="b"/>
            <a:pathLst>
              <a:path w="875029" h="187960">
                <a:moveTo>
                  <a:pt x="814578" y="0"/>
                </a:moveTo>
                <a:lnTo>
                  <a:pt x="811911" y="7620"/>
                </a:lnTo>
                <a:lnTo>
                  <a:pt x="822769" y="12334"/>
                </a:lnTo>
                <a:lnTo>
                  <a:pt x="832104" y="18859"/>
                </a:lnTo>
                <a:lnTo>
                  <a:pt x="854598" y="62293"/>
                </a:lnTo>
                <a:lnTo>
                  <a:pt x="857377" y="92964"/>
                </a:lnTo>
                <a:lnTo>
                  <a:pt x="856666" y="109537"/>
                </a:lnTo>
                <a:lnTo>
                  <a:pt x="846201" y="150114"/>
                </a:lnTo>
                <a:lnTo>
                  <a:pt x="812165" y="180086"/>
                </a:lnTo>
                <a:lnTo>
                  <a:pt x="814578" y="187706"/>
                </a:lnTo>
                <a:lnTo>
                  <a:pt x="850457" y="166417"/>
                </a:lnTo>
                <a:lnTo>
                  <a:pt x="870632" y="127127"/>
                </a:lnTo>
                <a:lnTo>
                  <a:pt x="874521" y="93980"/>
                </a:lnTo>
                <a:lnTo>
                  <a:pt x="873547" y="76737"/>
                </a:lnTo>
                <a:lnTo>
                  <a:pt x="859028" y="32893"/>
                </a:lnTo>
                <a:lnTo>
                  <a:pt x="828202" y="4925"/>
                </a:lnTo>
                <a:lnTo>
                  <a:pt x="814578" y="0"/>
                </a:lnTo>
                <a:close/>
              </a:path>
              <a:path w="875029" h="187960">
                <a:moveTo>
                  <a:pt x="59817" y="0"/>
                </a:moveTo>
                <a:lnTo>
                  <a:pt x="24044" y="21395"/>
                </a:lnTo>
                <a:lnTo>
                  <a:pt x="3841" y="60817"/>
                </a:lnTo>
                <a:lnTo>
                  <a:pt x="0" y="93980"/>
                </a:lnTo>
                <a:lnTo>
                  <a:pt x="954" y="111220"/>
                </a:lnTo>
                <a:lnTo>
                  <a:pt x="15367" y="154940"/>
                </a:lnTo>
                <a:lnTo>
                  <a:pt x="46174" y="182800"/>
                </a:lnTo>
                <a:lnTo>
                  <a:pt x="59817" y="187706"/>
                </a:lnTo>
                <a:lnTo>
                  <a:pt x="62230" y="180086"/>
                </a:lnTo>
                <a:lnTo>
                  <a:pt x="51536" y="175349"/>
                </a:lnTo>
                <a:lnTo>
                  <a:pt x="42306" y="168767"/>
                </a:lnTo>
                <a:lnTo>
                  <a:pt x="19843" y="124587"/>
                </a:lnTo>
                <a:lnTo>
                  <a:pt x="17018" y="92964"/>
                </a:lnTo>
                <a:lnTo>
                  <a:pt x="17728" y="76914"/>
                </a:lnTo>
                <a:lnTo>
                  <a:pt x="28193" y="37338"/>
                </a:lnTo>
                <a:lnTo>
                  <a:pt x="62484" y="7620"/>
                </a:lnTo>
                <a:lnTo>
                  <a:pt x="59817" y="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1" name="object 11"/>
          <p:cNvSpPr/>
          <p:nvPr/>
        </p:nvSpPr>
        <p:spPr>
          <a:xfrm>
            <a:off x="4200905" y="5366003"/>
            <a:ext cx="173990" cy="13970"/>
          </a:xfrm>
          <a:custGeom>
            <a:avLst/>
            <a:gdLst/>
            <a:ahLst/>
            <a:cxnLst/>
            <a:rect l="l" t="t" r="r" b="b"/>
            <a:pathLst>
              <a:path w="173989" h="13970">
                <a:moveTo>
                  <a:pt x="173736" y="0"/>
                </a:moveTo>
                <a:lnTo>
                  <a:pt x="0" y="0"/>
                </a:lnTo>
                <a:lnTo>
                  <a:pt x="0" y="13716"/>
                </a:lnTo>
                <a:lnTo>
                  <a:pt x="173736" y="13716"/>
                </a:lnTo>
                <a:lnTo>
                  <a:pt x="173736" y="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2" name="object 12"/>
          <p:cNvSpPr/>
          <p:nvPr/>
        </p:nvSpPr>
        <p:spPr>
          <a:xfrm>
            <a:off x="4639817" y="5366003"/>
            <a:ext cx="226060" cy="13970"/>
          </a:xfrm>
          <a:custGeom>
            <a:avLst/>
            <a:gdLst/>
            <a:ahLst/>
            <a:cxnLst/>
            <a:rect l="l" t="t" r="r" b="b"/>
            <a:pathLst>
              <a:path w="226060" h="13970">
                <a:moveTo>
                  <a:pt x="225551" y="0"/>
                </a:moveTo>
                <a:lnTo>
                  <a:pt x="0" y="0"/>
                </a:lnTo>
                <a:lnTo>
                  <a:pt x="0" y="13716"/>
                </a:lnTo>
                <a:lnTo>
                  <a:pt x="225551" y="13716"/>
                </a:lnTo>
                <a:lnTo>
                  <a:pt x="225551" y="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3" name="object 13"/>
          <p:cNvSpPr txBox="1"/>
          <p:nvPr/>
        </p:nvSpPr>
        <p:spPr>
          <a:xfrm>
            <a:off x="4216400" y="5351526"/>
            <a:ext cx="662940" cy="26924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  <a:tabLst>
                <a:tab pos="423545" algn="l"/>
              </a:tabLst>
            </a:pPr>
            <a:r>
              <a:rPr sz="1600" spc="-5" dirty="0">
                <a:latin typeface="Cambria Math"/>
                <a:cs typeface="Cambria Math"/>
              </a:rPr>
              <a:t>𝑛	65</a:t>
            </a:r>
            <a:endParaRPr sz="1600">
              <a:latin typeface="Cambria Math"/>
              <a:cs typeface="Cambria Math"/>
            </a:endParaRPr>
          </a:p>
        </p:txBody>
      </p:sp>
      <p:sp>
        <p:nvSpPr>
          <p:cNvPr id="14" name="object 14"/>
          <p:cNvSpPr txBox="1"/>
          <p:nvPr/>
        </p:nvSpPr>
        <p:spPr>
          <a:xfrm>
            <a:off x="2858770" y="5061965"/>
            <a:ext cx="3500120" cy="422909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R="198755" algn="ctr">
              <a:lnSpc>
                <a:spcPts val="1565"/>
              </a:lnSpc>
              <a:spcBef>
                <a:spcPts val="95"/>
              </a:spcBef>
              <a:tabLst>
                <a:tab pos="494665" algn="l"/>
              </a:tabLst>
            </a:pPr>
            <a:r>
              <a:rPr sz="1600" spc="-114" dirty="0">
                <a:latin typeface="Cambria Math"/>
                <a:cs typeface="Cambria Math"/>
              </a:rPr>
              <a:t>𝑓</a:t>
            </a:r>
            <a:r>
              <a:rPr sz="1725" spc="-172" baseline="-14492" dirty="0">
                <a:latin typeface="Cambria Math"/>
                <a:cs typeface="Cambria Math"/>
              </a:rPr>
              <a:t>6	</a:t>
            </a:r>
            <a:r>
              <a:rPr sz="1600" spc="-5" dirty="0">
                <a:latin typeface="Cambria Math"/>
                <a:cs typeface="Cambria Math"/>
              </a:rPr>
              <a:t>5</a:t>
            </a:r>
            <a:endParaRPr sz="1600">
              <a:latin typeface="Cambria Math"/>
              <a:cs typeface="Cambria Math"/>
            </a:endParaRPr>
          </a:p>
          <a:p>
            <a:pPr algn="ctr">
              <a:lnSpc>
                <a:spcPts val="1565"/>
              </a:lnSpc>
              <a:tabLst>
                <a:tab pos="1095375" algn="l"/>
                <a:tab pos="1534795" algn="l"/>
                <a:tab pos="2025014" algn="l"/>
              </a:tabLst>
            </a:pPr>
            <a:r>
              <a:rPr sz="1600" spc="-5" dirty="0">
                <a:latin typeface="Cambria Math"/>
                <a:cs typeface="Cambria Math"/>
              </a:rPr>
              <a:t>𝑃  𝑋</a:t>
            </a:r>
            <a:r>
              <a:rPr sz="1600" spc="140" dirty="0">
                <a:latin typeface="Cambria Math"/>
                <a:cs typeface="Cambria Math"/>
              </a:rPr>
              <a:t> </a:t>
            </a:r>
            <a:r>
              <a:rPr sz="1600" spc="-5" dirty="0">
                <a:latin typeface="Cambria Math"/>
                <a:cs typeface="Cambria Math"/>
              </a:rPr>
              <a:t>=</a:t>
            </a:r>
            <a:r>
              <a:rPr sz="1600" spc="110" dirty="0">
                <a:latin typeface="Cambria Math"/>
                <a:cs typeface="Cambria Math"/>
              </a:rPr>
              <a:t> </a:t>
            </a:r>
            <a:r>
              <a:rPr sz="1600" spc="-5" dirty="0">
                <a:latin typeface="Cambria Math"/>
                <a:cs typeface="Cambria Math"/>
              </a:rPr>
              <a:t>105	=	=	= 0,07 </a:t>
            </a:r>
            <a:r>
              <a:rPr sz="1600" spc="-10" dirty="0">
                <a:latin typeface="Cambria Math"/>
                <a:cs typeface="Cambria Math"/>
              </a:rPr>
              <a:t>𝑎𝑡𝑎𝑢</a:t>
            </a:r>
            <a:r>
              <a:rPr sz="1600" spc="95" dirty="0">
                <a:latin typeface="Cambria Math"/>
                <a:cs typeface="Cambria Math"/>
              </a:rPr>
              <a:t> </a:t>
            </a:r>
            <a:r>
              <a:rPr sz="1600" spc="-5" dirty="0">
                <a:latin typeface="Cambria Math"/>
                <a:cs typeface="Cambria Math"/>
              </a:rPr>
              <a:t>7%</a:t>
            </a:r>
            <a:endParaRPr sz="1600">
              <a:latin typeface="Cambria Math"/>
              <a:cs typeface="Cambria Math"/>
            </a:endParaRPr>
          </a:p>
        </p:txBody>
      </p:sp>
      <p:graphicFrame>
        <p:nvGraphicFramePr>
          <p:cNvPr id="15" name="object 15"/>
          <p:cNvGraphicFramePr>
            <a:graphicFrameLocks noGrp="1"/>
          </p:cNvGraphicFramePr>
          <p:nvPr/>
        </p:nvGraphicFramePr>
        <p:xfrm>
          <a:off x="1109268" y="2702560"/>
          <a:ext cx="6915148" cy="720089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86423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86423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864234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864235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864235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864235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  <a:gridCol w="864869">
                  <a:extLst>
                    <a:ext uri="{9D8B030D-6E8A-4147-A177-3AD203B41FA5}">
                      <a16:colId xmlns:a16="http://schemas.microsoft.com/office/drawing/2014/main" val="20006"/>
                    </a:ext>
                  </a:extLst>
                </a:gridCol>
                <a:gridCol w="864870">
                  <a:extLst>
                    <a:ext uri="{9D8B030D-6E8A-4147-A177-3AD203B41FA5}">
                      <a16:colId xmlns:a16="http://schemas.microsoft.com/office/drawing/2014/main" val="20007"/>
                    </a:ext>
                  </a:extLst>
                </a:gridCol>
              </a:tblGrid>
              <a:tr h="360044"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50"/>
                        </a:spcBef>
                      </a:pPr>
                      <a:r>
                        <a:rPr sz="1200" b="1" dirty="0">
                          <a:solidFill>
                            <a:srgbClr val="FFFFFF"/>
                          </a:solidFill>
                          <a:latin typeface="Calibri"/>
                          <a:cs typeface="Calibri"/>
                        </a:rPr>
                        <a:t>X</a:t>
                      </a:r>
                      <a:endParaRPr sz="1200">
                        <a:latin typeface="Calibri"/>
                        <a:cs typeface="Calibri"/>
                      </a:endParaRPr>
                    </a:p>
                  </a:txBody>
                  <a:tcPr marL="0" marR="0" marT="6350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38100">
                      <a:solidFill>
                        <a:srgbClr val="FFFFFF"/>
                      </a:solidFill>
                      <a:prstDash val="solid"/>
                    </a:lnB>
                    <a:solidFill>
                      <a:srgbClr val="4F81BC"/>
                    </a:solidFill>
                  </a:tcPr>
                </a:tc>
                <a:tc>
                  <a:txBody>
                    <a:bodyPr/>
                    <a:lstStyle/>
                    <a:p>
                      <a:pPr marL="635" algn="ctr">
                        <a:lnSpc>
                          <a:spcPct val="100000"/>
                        </a:lnSpc>
                        <a:spcBef>
                          <a:spcPts val="50"/>
                        </a:spcBef>
                      </a:pPr>
                      <a:r>
                        <a:rPr sz="1200" b="1" dirty="0">
                          <a:solidFill>
                            <a:srgbClr val="FFFFFF"/>
                          </a:solidFill>
                          <a:latin typeface="Calibri"/>
                          <a:cs typeface="Calibri"/>
                        </a:rPr>
                        <a:t>55</a:t>
                      </a:r>
                      <a:endParaRPr sz="1200">
                        <a:latin typeface="Calibri"/>
                        <a:cs typeface="Calibri"/>
                      </a:endParaRPr>
                    </a:p>
                  </a:txBody>
                  <a:tcPr marL="0" marR="0" marT="6350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38100">
                      <a:solidFill>
                        <a:srgbClr val="FFFFFF"/>
                      </a:solidFill>
                      <a:prstDash val="solid"/>
                    </a:lnB>
                    <a:solidFill>
                      <a:srgbClr val="4F81BC"/>
                    </a:solidFill>
                  </a:tcPr>
                </a:tc>
                <a:tc>
                  <a:txBody>
                    <a:bodyPr/>
                    <a:lstStyle/>
                    <a:p>
                      <a:pPr marL="635" algn="ctr">
                        <a:lnSpc>
                          <a:spcPct val="100000"/>
                        </a:lnSpc>
                        <a:spcBef>
                          <a:spcPts val="50"/>
                        </a:spcBef>
                      </a:pPr>
                      <a:r>
                        <a:rPr sz="1200" b="1" dirty="0">
                          <a:solidFill>
                            <a:srgbClr val="FFFFFF"/>
                          </a:solidFill>
                          <a:latin typeface="Calibri"/>
                          <a:cs typeface="Calibri"/>
                        </a:rPr>
                        <a:t>65</a:t>
                      </a:r>
                      <a:endParaRPr sz="1200">
                        <a:latin typeface="Calibri"/>
                        <a:cs typeface="Calibri"/>
                      </a:endParaRPr>
                    </a:p>
                  </a:txBody>
                  <a:tcPr marL="0" marR="0" marT="6350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38100">
                      <a:solidFill>
                        <a:srgbClr val="FFFFFF"/>
                      </a:solidFill>
                      <a:prstDash val="solid"/>
                    </a:lnB>
                    <a:solidFill>
                      <a:srgbClr val="4F81BC"/>
                    </a:solidFill>
                  </a:tcPr>
                </a:tc>
                <a:tc>
                  <a:txBody>
                    <a:bodyPr/>
                    <a:lstStyle/>
                    <a:p>
                      <a:pPr marL="635" algn="ctr">
                        <a:lnSpc>
                          <a:spcPct val="100000"/>
                        </a:lnSpc>
                        <a:spcBef>
                          <a:spcPts val="50"/>
                        </a:spcBef>
                      </a:pPr>
                      <a:r>
                        <a:rPr sz="1200" b="1" dirty="0">
                          <a:solidFill>
                            <a:srgbClr val="FFFFFF"/>
                          </a:solidFill>
                          <a:latin typeface="Calibri"/>
                          <a:cs typeface="Calibri"/>
                        </a:rPr>
                        <a:t>75</a:t>
                      </a:r>
                      <a:endParaRPr sz="1200">
                        <a:latin typeface="Calibri"/>
                        <a:cs typeface="Calibri"/>
                      </a:endParaRPr>
                    </a:p>
                  </a:txBody>
                  <a:tcPr marL="0" marR="0" marT="6350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38100">
                      <a:solidFill>
                        <a:srgbClr val="FFFFFF"/>
                      </a:solidFill>
                      <a:prstDash val="solid"/>
                    </a:lnB>
                    <a:solidFill>
                      <a:srgbClr val="4F81BC"/>
                    </a:solidFill>
                  </a:tcPr>
                </a:tc>
                <a:tc>
                  <a:txBody>
                    <a:bodyPr/>
                    <a:lstStyle/>
                    <a:p>
                      <a:pPr marL="1270" algn="ctr">
                        <a:lnSpc>
                          <a:spcPct val="100000"/>
                        </a:lnSpc>
                        <a:spcBef>
                          <a:spcPts val="50"/>
                        </a:spcBef>
                      </a:pPr>
                      <a:r>
                        <a:rPr sz="1200" b="1" dirty="0">
                          <a:solidFill>
                            <a:srgbClr val="FFFFFF"/>
                          </a:solidFill>
                          <a:latin typeface="Calibri"/>
                          <a:cs typeface="Calibri"/>
                        </a:rPr>
                        <a:t>85</a:t>
                      </a:r>
                      <a:endParaRPr sz="1200">
                        <a:latin typeface="Calibri"/>
                        <a:cs typeface="Calibri"/>
                      </a:endParaRPr>
                    </a:p>
                  </a:txBody>
                  <a:tcPr marL="0" marR="0" marT="6350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38100">
                      <a:solidFill>
                        <a:srgbClr val="FFFFFF"/>
                      </a:solidFill>
                      <a:prstDash val="solid"/>
                    </a:lnB>
                    <a:solidFill>
                      <a:srgbClr val="4F81BC"/>
                    </a:solidFill>
                  </a:tcPr>
                </a:tc>
                <a:tc>
                  <a:txBody>
                    <a:bodyPr/>
                    <a:lstStyle/>
                    <a:p>
                      <a:pPr marL="1270" algn="ctr">
                        <a:lnSpc>
                          <a:spcPct val="100000"/>
                        </a:lnSpc>
                        <a:spcBef>
                          <a:spcPts val="50"/>
                        </a:spcBef>
                      </a:pPr>
                      <a:r>
                        <a:rPr sz="1200" b="1" dirty="0">
                          <a:solidFill>
                            <a:srgbClr val="FFFFFF"/>
                          </a:solidFill>
                          <a:latin typeface="Calibri"/>
                          <a:cs typeface="Calibri"/>
                        </a:rPr>
                        <a:t>95</a:t>
                      </a:r>
                      <a:endParaRPr sz="1200">
                        <a:latin typeface="Calibri"/>
                        <a:cs typeface="Calibri"/>
                      </a:endParaRPr>
                    </a:p>
                  </a:txBody>
                  <a:tcPr marL="0" marR="0" marT="6350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38100">
                      <a:solidFill>
                        <a:srgbClr val="FFFFFF"/>
                      </a:solidFill>
                      <a:prstDash val="solid"/>
                    </a:lnB>
                    <a:solidFill>
                      <a:srgbClr val="4F81BC"/>
                    </a:solidFill>
                  </a:tcPr>
                </a:tc>
                <a:tc>
                  <a:txBody>
                    <a:bodyPr/>
                    <a:lstStyle/>
                    <a:p>
                      <a:pPr marL="1270" algn="ctr">
                        <a:lnSpc>
                          <a:spcPct val="100000"/>
                        </a:lnSpc>
                        <a:spcBef>
                          <a:spcPts val="50"/>
                        </a:spcBef>
                      </a:pPr>
                      <a:r>
                        <a:rPr sz="1200" b="1" dirty="0">
                          <a:solidFill>
                            <a:srgbClr val="FFFFFF"/>
                          </a:solidFill>
                          <a:latin typeface="Calibri"/>
                          <a:cs typeface="Calibri"/>
                        </a:rPr>
                        <a:t>105</a:t>
                      </a:r>
                      <a:endParaRPr sz="1200">
                        <a:latin typeface="Calibri"/>
                        <a:cs typeface="Calibri"/>
                      </a:endParaRPr>
                    </a:p>
                  </a:txBody>
                  <a:tcPr marL="0" marR="0" marT="6350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38100">
                      <a:solidFill>
                        <a:srgbClr val="FFFFFF"/>
                      </a:solidFill>
                      <a:prstDash val="solid"/>
                    </a:lnB>
                    <a:solidFill>
                      <a:srgbClr val="4F81BC"/>
                    </a:solidFill>
                  </a:tcPr>
                </a:tc>
                <a:tc>
                  <a:txBody>
                    <a:bodyPr/>
                    <a:lstStyle/>
                    <a:p>
                      <a:pPr marL="1905" algn="ctr">
                        <a:lnSpc>
                          <a:spcPct val="100000"/>
                        </a:lnSpc>
                        <a:spcBef>
                          <a:spcPts val="50"/>
                        </a:spcBef>
                      </a:pPr>
                      <a:r>
                        <a:rPr sz="1200" b="1" dirty="0">
                          <a:solidFill>
                            <a:srgbClr val="FFFFFF"/>
                          </a:solidFill>
                          <a:latin typeface="Calibri"/>
                          <a:cs typeface="Calibri"/>
                        </a:rPr>
                        <a:t>115</a:t>
                      </a:r>
                      <a:endParaRPr sz="1200">
                        <a:latin typeface="Calibri"/>
                        <a:cs typeface="Calibri"/>
                      </a:endParaRPr>
                    </a:p>
                  </a:txBody>
                  <a:tcPr marL="0" marR="0" marT="6350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38100">
                      <a:solidFill>
                        <a:srgbClr val="FFFFFF"/>
                      </a:solidFill>
                      <a:prstDash val="solid"/>
                    </a:lnB>
                    <a:solidFill>
                      <a:srgbClr val="4F81B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60045"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50"/>
                        </a:spcBef>
                      </a:pPr>
                      <a:r>
                        <a:rPr sz="1200" b="1" dirty="0">
                          <a:solidFill>
                            <a:srgbClr val="FFFFFF"/>
                          </a:solidFill>
                          <a:latin typeface="Calibri"/>
                          <a:cs typeface="Calibri"/>
                        </a:rPr>
                        <a:t>F</a:t>
                      </a:r>
                      <a:endParaRPr sz="1200">
                        <a:latin typeface="Calibri"/>
                        <a:cs typeface="Calibri"/>
                      </a:endParaRPr>
                    </a:p>
                  </a:txBody>
                  <a:tcPr marL="0" marR="0" marT="6350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381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4F81B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50"/>
                        </a:spcBef>
                      </a:pPr>
                      <a:r>
                        <a:rPr sz="1200" dirty="0">
                          <a:latin typeface="Calibri"/>
                          <a:cs typeface="Calibri"/>
                        </a:rPr>
                        <a:t>8</a:t>
                      </a:r>
                      <a:endParaRPr sz="1200">
                        <a:latin typeface="Calibri"/>
                        <a:cs typeface="Calibri"/>
                      </a:endParaRPr>
                    </a:p>
                  </a:txBody>
                  <a:tcPr marL="0" marR="0" marT="6350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381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D0D7E8"/>
                    </a:solidFill>
                  </a:tcPr>
                </a:tc>
                <a:tc>
                  <a:txBody>
                    <a:bodyPr/>
                    <a:lstStyle/>
                    <a:p>
                      <a:pPr marL="635" algn="ctr">
                        <a:lnSpc>
                          <a:spcPct val="100000"/>
                        </a:lnSpc>
                        <a:spcBef>
                          <a:spcPts val="50"/>
                        </a:spcBef>
                      </a:pPr>
                      <a:r>
                        <a:rPr sz="1200" dirty="0">
                          <a:latin typeface="Calibri"/>
                          <a:cs typeface="Calibri"/>
                        </a:rPr>
                        <a:t>10</a:t>
                      </a:r>
                      <a:endParaRPr sz="1200">
                        <a:latin typeface="Calibri"/>
                        <a:cs typeface="Calibri"/>
                      </a:endParaRPr>
                    </a:p>
                  </a:txBody>
                  <a:tcPr marL="0" marR="0" marT="6350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381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D0D7E8"/>
                    </a:solidFill>
                  </a:tcPr>
                </a:tc>
                <a:tc>
                  <a:txBody>
                    <a:bodyPr/>
                    <a:lstStyle/>
                    <a:p>
                      <a:pPr marL="635" algn="ctr">
                        <a:lnSpc>
                          <a:spcPct val="100000"/>
                        </a:lnSpc>
                        <a:spcBef>
                          <a:spcPts val="50"/>
                        </a:spcBef>
                      </a:pPr>
                      <a:r>
                        <a:rPr sz="1200" dirty="0">
                          <a:latin typeface="Calibri"/>
                          <a:cs typeface="Calibri"/>
                        </a:rPr>
                        <a:t>16</a:t>
                      </a:r>
                      <a:endParaRPr sz="1200">
                        <a:latin typeface="Calibri"/>
                        <a:cs typeface="Calibri"/>
                      </a:endParaRPr>
                    </a:p>
                  </a:txBody>
                  <a:tcPr marL="0" marR="0" marT="6350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381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D0D7E8"/>
                    </a:solidFill>
                  </a:tcPr>
                </a:tc>
                <a:tc>
                  <a:txBody>
                    <a:bodyPr/>
                    <a:lstStyle/>
                    <a:p>
                      <a:pPr marL="1270" algn="ctr">
                        <a:lnSpc>
                          <a:spcPct val="100000"/>
                        </a:lnSpc>
                        <a:spcBef>
                          <a:spcPts val="50"/>
                        </a:spcBef>
                      </a:pPr>
                      <a:r>
                        <a:rPr sz="1200" dirty="0">
                          <a:latin typeface="Calibri"/>
                          <a:cs typeface="Calibri"/>
                        </a:rPr>
                        <a:t>14</a:t>
                      </a:r>
                      <a:endParaRPr sz="1200">
                        <a:latin typeface="Calibri"/>
                        <a:cs typeface="Calibri"/>
                      </a:endParaRPr>
                    </a:p>
                  </a:txBody>
                  <a:tcPr marL="0" marR="0" marT="6350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381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D0D7E8"/>
                    </a:solidFill>
                  </a:tcPr>
                </a:tc>
                <a:tc>
                  <a:txBody>
                    <a:bodyPr/>
                    <a:lstStyle/>
                    <a:p>
                      <a:pPr marL="1270" algn="ctr">
                        <a:lnSpc>
                          <a:spcPct val="100000"/>
                        </a:lnSpc>
                        <a:spcBef>
                          <a:spcPts val="50"/>
                        </a:spcBef>
                      </a:pPr>
                      <a:r>
                        <a:rPr sz="1200" dirty="0">
                          <a:latin typeface="Calibri"/>
                          <a:cs typeface="Calibri"/>
                        </a:rPr>
                        <a:t>10</a:t>
                      </a:r>
                      <a:endParaRPr sz="1200">
                        <a:latin typeface="Calibri"/>
                        <a:cs typeface="Calibri"/>
                      </a:endParaRPr>
                    </a:p>
                  </a:txBody>
                  <a:tcPr marL="0" marR="0" marT="6350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381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D0D7E8"/>
                    </a:solidFill>
                  </a:tcPr>
                </a:tc>
                <a:tc>
                  <a:txBody>
                    <a:bodyPr/>
                    <a:lstStyle/>
                    <a:p>
                      <a:pPr marL="1270" algn="ctr">
                        <a:lnSpc>
                          <a:spcPct val="100000"/>
                        </a:lnSpc>
                        <a:spcBef>
                          <a:spcPts val="50"/>
                        </a:spcBef>
                      </a:pPr>
                      <a:r>
                        <a:rPr sz="1200" dirty="0">
                          <a:latin typeface="Calibri"/>
                          <a:cs typeface="Calibri"/>
                        </a:rPr>
                        <a:t>5</a:t>
                      </a:r>
                      <a:endParaRPr sz="1200">
                        <a:latin typeface="Calibri"/>
                        <a:cs typeface="Calibri"/>
                      </a:endParaRPr>
                    </a:p>
                  </a:txBody>
                  <a:tcPr marL="0" marR="0" marT="6350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381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D0D7E8"/>
                    </a:solidFill>
                  </a:tcPr>
                </a:tc>
                <a:tc>
                  <a:txBody>
                    <a:bodyPr/>
                    <a:lstStyle/>
                    <a:p>
                      <a:pPr marL="1905" algn="ctr">
                        <a:lnSpc>
                          <a:spcPct val="100000"/>
                        </a:lnSpc>
                        <a:spcBef>
                          <a:spcPts val="50"/>
                        </a:spcBef>
                      </a:pPr>
                      <a:r>
                        <a:rPr sz="1200" dirty="0">
                          <a:latin typeface="Calibri"/>
                          <a:cs typeface="Calibri"/>
                        </a:rPr>
                        <a:t>2</a:t>
                      </a:r>
                      <a:endParaRPr sz="1200">
                        <a:latin typeface="Calibri"/>
                        <a:cs typeface="Calibri"/>
                      </a:endParaRPr>
                    </a:p>
                  </a:txBody>
                  <a:tcPr marL="0" marR="0" marT="6350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381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D0D7E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2290952" y="808989"/>
            <a:ext cx="4563745" cy="513715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z="3200" u="heavy" spc="-10" dirty="0">
                <a:uFill>
                  <a:solidFill>
                    <a:srgbClr val="000000"/>
                  </a:solidFill>
                </a:uFill>
              </a:rPr>
              <a:t>Komplemen </a:t>
            </a:r>
            <a:r>
              <a:rPr sz="3200" u="heavy" spc="-5" dirty="0">
                <a:uFill>
                  <a:solidFill>
                    <a:srgbClr val="000000"/>
                  </a:solidFill>
                </a:uFill>
              </a:rPr>
              <a:t>Suatu</a:t>
            </a:r>
            <a:r>
              <a:rPr sz="3200" u="heavy" spc="-30" dirty="0">
                <a:uFill>
                  <a:solidFill>
                    <a:srgbClr val="000000"/>
                  </a:solidFill>
                </a:uFill>
              </a:rPr>
              <a:t> </a:t>
            </a:r>
            <a:r>
              <a:rPr sz="3200" u="heavy" spc="-10" dirty="0">
                <a:uFill>
                  <a:solidFill>
                    <a:srgbClr val="000000"/>
                  </a:solidFill>
                </a:uFill>
              </a:rPr>
              <a:t>Kejadian</a:t>
            </a:r>
            <a:endParaRPr sz="3200"/>
          </a:p>
        </p:txBody>
      </p:sp>
      <p:sp>
        <p:nvSpPr>
          <p:cNvPr id="3" name="object 3"/>
          <p:cNvSpPr txBox="1"/>
          <p:nvPr/>
        </p:nvSpPr>
        <p:spPr>
          <a:xfrm>
            <a:off x="978509" y="3845179"/>
            <a:ext cx="2272665" cy="3911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  <a:tabLst>
                <a:tab pos="1002665" algn="l"/>
              </a:tabLst>
            </a:pPr>
            <a:r>
              <a:rPr sz="2400" spc="-5" dirty="0">
                <a:latin typeface="Calibri"/>
                <a:cs typeface="Calibri"/>
              </a:rPr>
              <a:t>Dalam	</a:t>
            </a:r>
            <a:r>
              <a:rPr sz="2400" spc="-10" dirty="0">
                <a:latin typeface="Calibri"/>
                <a:cs typeface="Calibri"/>
              </a:rPr>
              <a:t>himpunan</a:t>
            </a:r>
            <a:endParaRPr sz="2400">
              <a:latin typeface="Calibri"/>
              <a:cs typeface="Calibri"/>
            </a:endParaRPr>
          </a:p>
        </p:txBody>
      </p:sp>
      <p:sp>
        <p:nvSpPr>
          <p:cNvPr id="4" name="object 4"/>
          <p:cNvSpPr txBox="1"/>
          <p:nvPr/>
        </p:nvSpPr>
        <p:spPr>
          <a:xfrm>
            <a:off x="3423284" y="3845179"/>
            <a:ext cx="609600" cy="3911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400" spc="-35" dirty="0">
                <a:latin typeface="Calibri"/>
                <a:cs typeface="Calibri"/>
              </a:rPr>
              <a:t>y</a:t>
            </a:r>
            <a:r>
              <a:rPr sz="2400" dirty="0">
                <a:latin typeface="Calibri"/>
                <a:cs typeface="Calibri"/>
              </a:rPr>
              <a:t>ang</a:t>
            </a:r>
            <a:endParaRPr sz="2400">
              <a:latin typeface="Calibri"/>
              <a:cs typeface="Calibri"/>
            </a:endParaRPr>
          </a:p>
        </p:txBody>
      </p:sp>
      <p:sp>
        <p:nvSpPr>
          <p:cNvPr id="5" name="object 5"/>
          <p:cNvSpPr txBox="1"/>
          <p:nvPr/>
        </p:nvSpPr>
        <p:spPr>
          <a:xfrm>
            <a:off x="4203572" y="3845179"/>
            <a:ext cx="734060" cy="3911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400" spc="-5" dirty="0">
                <a:latin typeface="Calibri"/>
                <a:cs typeface="Calibri"/>
              </a:rPr>
              <a:t>saling</a:t>
            </a:r>
            <a:endParaRPr sz="2400">
              <a:latin typeface="Calibri"/>
              <a:cs typeface="Calibri"/>
            </a:endParaRPr>
          </a:p>
        </p:txBody>
      </p:sp>
      <p:sp>
        <p:nvSpPr>
          <p:cNvPr id="6" name="object 6"/>
          <p:cNvSpPr/>
          <p:nvPr/>
        </p:nvSpPr>
        <p:spPr>
          <a:xfrm>
            <a:off x="7412481" y="3934459"/>
            <a:ext cx="402590" cy="282575"/>
          </a:xfrm>
          <a:custGeom>
            <a:avLst/>
            <a:gdLst/>
            <a:ahLst/>
            <a:cxnLst/>
            <a:rect l="l" t="t" r="r" b="b"/>
            <a:pathLst>
              <a:path w="402590" h="282575">
                <a:moveTo>
                  <a:pt x="312166" y="0"/>
                </a:moveTo>
                <a:lnTo>
                  <a:pt x="308101" y="11429"/>
                </a:lnTo>
                <a:lnTo>
                  <a:pt x="324465" y="18522"/>
                </a:lnTo>
                <a:lnTo>
                  <a:pt x="338518" y="28352"/>
                </a:lnTo>
                <a:lnTo>
                  <a:pt x="367051" y="73852"/>
                </a:lnTo>
                <a:lnTo>
                  <a:pt x="375382" y="115623"/>
                </a:lnTo>
                <a:lnTo>
                  <a:pt x="376427" y="139700"/>
                </a:lnTo>
                <a:lnTo>
                  <a:pt x="375380" y="164633"/>
                </a:lnTo>
                <a:lnTo>
                  <a:pt x="366998" y="207547"/>
                </a:lnTo>
                <a:lnTo>
                  <a:pt x="338502" y="253841"/>
                </a:lnTo>
                <a:lnTo>
                  <a:pt x="308483" y="270890"/>
                </a:lnTo>
                <a:lnTo>
                  <a:pt x="312166" y="282320"/>
                </a:lnTo>
                <a:lnTo>
                  <a:pt x="350615" y="264239"/>
                </a:lnTo>
                <a:lnTo>
                  <a:pt x="378968" y="232917"/>
                </a:lnTo>
                <a:lnTo>
                  <a:pt x="396398" y="191119"/>
                </a:lnTo>
                <a:lnTo>
                  <a:pt x="402209" y="141223"/>
                </a:lnTo>
                <a:lnTo>
                  <a:pt x="400736" y="115341"/>
                </a:lnTo>
                <a:lnTo>
                  <a:pt x="389028" y="69482"/>
                </a:lnTo>
                <a:lnTo>
                  <a:pt x="365958" y="32146"/>
                </a:lnTo>
                <a:lnTo>
                  <a:pt x="332620" y="7381"/>
                </a:lnTo>
                <a:lnTo>
                  <a:pt x="312166" y="0"/>
                </a:lnTo>
                <a:close/>
              </a:path>
              <a:path w="402590" h="282575">
                <a:moveTo>
                  <a:pt x="90043" y="0"/>
                </a:moveTo>
                <a:lnTo>
                  <a:pt x="51657" y="18097"/>
                </a:lnTo>
                <a:lnTo>
                  <a:pt x="23368" y="49529"/>
                </a:lnTo>
                <a:lnTo>
                  <a:pt x="5826" y="91424"/>
                </a:lnTo>
                <a:lnTo>
                  <a:pt x="0" y="141223"/>
                </a:lnTo>
                <a:lnTo>
                  <a:pt x="1452" y="167177"/>
                </a:lnTo>
                <a:lnTo>
                  <a:pt x="13073" y="213036"/>
                </a:lnTo>
                <a:lnTo>
                  <a:pt x="36125" y="250227"/>
                </a:lnTo>
                <a:lnTo>
                  <a:pt x="69514" y="274941"/>
                </a:lnTo>
                <a:lnTo>
                  <a:pt x="90043" y="282320"/>
                </a:lnTo>
                <a:lnTo>
                  <a:pt x="93599" y="270890"/>
                </a:lnTo>
                <a:lnTo>
                  <a:pt x="77549" y="263771"/>
                </a:lnTo>
                <a:lnTo>
                  <a:pt x="63690" y="253841"/>
                </a:lnTo>
                <a:lnTo>
                  <a:pt x="35210" y="207547"/>
                </a:lnTo>
                <a:lnTo>
                  <a:pt x="26828" y="164633"/>
                </a:lnTo>
                <a:lnTo>
                  <a:pt x="25781" y="139700"/>
                </a:lnTo>
                <a:lnTo>
                  <a:pt x="26828" y="115623"/>
                </a:lnTo>
                <a:lnTo>
                  <a:pt x="35210" y="73852"/>
                </a:lnTo>
                <a:lnTo>
                  <a:pt x="63801" y="28352"/>
                </a:lnTo>
                <a:lnTo>
                  <a:pt x="94107" y="11429"/>
                </a:lnTo>
                <a:lnTo>
                  <a:pt x="90043" y="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7" name="object 7"/>
          <p:cNvSpPr txBox="1"/>
          <p:nvPr/>
        </p:nvSpPr>
        <p:spPr>
          <a:xfrm>
            <a:off x="5071109" y="3845179"/>
            <a:ext cx="3121025" cy="3911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50800">
              <a:lnSpc>
                <a:spcPct val="100000"/>
              </a:lnSpc>
              <a:spcBef>
                <a:spcPts val="100"/>
              </a:spcBef>
              <a:tabLst>
                <a:tab pos="2135505" algn="l"/>
                <a:tab pos="2441575" algn="l"/>
                <a:tab pos="2854960" algn="l"/>
              </a:tabLst>
            </a:pPr>
            <a:r>
              <a:rPr sz="2400" spc="-15" dirty="0">
                <a:latin typeface="Calibri"/>
                <a:cs typeface="Calibri"/>
              </a:rPr>
              <a:t>berkomplemen	</a:t>
            </a:r>
            <a:r>
              <a:rPr sz="2400" dirty="0">
                <a:latin typeface="Cambria Math"/>
                <a:cs typeface="Cambria Math"/>
              </a:rPr>
              <a:t>𝑛	</a:t>
            </a:r>
            <a:r>
              <a:rPr sz="2400" spc="-1095" dirty="0">
                <a:latin typeface="Cambria Math"/>
                <a:cs typeface="Cambria Math"/>
              </a:rPr>
              <a:t>𝐸</a:t>
            </a:r>
            <a:r>
              <a:rPr sz="3600" spc="-1642" baseline="10416" dirty="0">
                <a:latin typeface="Cambria Math"/>
                <a:cs typeface="Cambria Math"/>
              </a:rPr>
              <a:t>	</a:t>
            </a:r>
            <a:r>
              <a:rPr sz="2400" dirty="0">
                <a:latin typeface="Cambria Math"/>
                <a:cs typeface="Cambria Math"/>
              </a:rPr>
              <a:t>=</a:t>
            </a:r>
            <a:endParaRPr sz="2400">
              <a:latin typeface="Cambria Math"/>
              <a:cs typeface="Cambria Math"/>
            </a:endParaRPr>
          </a:p>
        </p:txBody>
      </p:sp>
      <p:sp>
        <p:nvSpPr>
          <p:cNvPr id="8" name="object 8"/>
          <p:cNvSpPr/>
          <p:nvPr/>
        </p:nvSpPr>
        <p:spPr>
          <a:xfrm>
            <a:off x="1197648" y="4300220"/>
            <a:ext cx="346075" cy="282575"/>
          </a:xfrm>
          <a:custGeom>
            <a:avLst/>
            <a:gdLst/>
            <a:ahLst/>
            <a:cxnLst/>
            <a:rect l="l" t="t" r="r" b="b"/>
            <a:pathLst>
              <a:path w="346075" h="282575">
                <a:moveTo>
                  <a:pt x="255739" y="0"/>
                </a:moveTo>
                <a:lnTo>
                  <a:pt x="251675" y="11429"/>
                </a:lnTo>
                <a:lnTo>
                  <a:pt x="268039" y="18522"/>
                </a:lnTo>
                <a:lnTo>
                  <a:pt x="282092" y="28352"/>
                </a:lnTo>
                <a:lnTo>
                  <a:pt x="310625" y="73852"/>
                </a:lnTo>
                <a:lnTo>
                  <a:pt x="318956" y="115623"/>
                </a:lnTo>
                <a:lnTo>
                  <a:pt x="320001" y="139699"/>
                </a:lnTo>
                <a:lnTo>
                  <a:pt x="318954" y="164633"/>
                </a:lnTo>
                <a:lnTo>
                  <a:pt x="310572" y="207547"/>
                </a:lnTo>
                <a:lnTo>
                  <a:pt x="282076" y="253841"/>
                </a:lnTo>
                <a:lnTo>
                  <a:pt x="252056" y="270890"/>
                </a:lnTo>
                <a:lnTo>
                  <a:pt x="255739" y="282320"/>
                </a:lnTo>
                <a:lnTo>
                  <a:pt x="294189" y="264239"/>
                </a:lnTo>
                <a:lnTo>
                  <a:pt x="322541" y="232917"/>
                </a:lnTo>
                <a:lnTo>
                  <a:pt x="339972" y="191119"/>
                </a:lnTo>
                <a:lnTo>
                  <a:pt x="345782" y="141223"/>
                </a:lnTo>
                <a:lnTo>
                  <a:pt x="344310" y="115341"/>
                </a:lnTo>
                <a:lnTo>
                  <a:pt x="332602" y="69482"/>
                </a:lnTo>
                <a:lnTo>
                  <a:pt x="309532" y="32146"/>
                </a:lnTo>
                <a:lnTo>
                  <a:pt x="276194" y="7381"/>
                </a:lnTo>
                <a:lnTo>
                  <a:pt x="255739" y="0"/>
                </a:lnTo>
                <a:close/>
              </a:path>
              <a:path w="346075" h="282575">
                <a:moveTo>
                  <a:pt x="90004" y="0"/>
                </a:moveTo>
                <a:lnTo>
                  <a:pt x="51623" y="18097"/>
                </a:lnTo>
                <a:lnTo>
                  <a:pt x="23291" y="49529"/>
                </a:lnTo>
                <a:lnTo>
                  <a:pt x="5826" y="91424"/>
                </a:lnTo>
                <a:lnTo>
                  <a:pt x="0" y="141223"/>
                </a:lnTo>
                <a:lnTo>
                  <a:pt x="1452" y="167177"/>
                </a:lnTo>
                <a:lnTo>
                  <a:pt x="13067" y="213036"/>
                </a:lnTo>
                <a:lnTo>
                  <a:pt x="36105" y="250227"/>
                </a:lnTo>
                <a:lnTo>
                  <a:pt x="69498" y="274941"/>
                </a:lnTo>
                <a:lnTo>
                  <a:pt x="90004" y="282320"/>
                </a:lnTo>
                <a:lnTo>
                  <a:pt x="93560" y="270890"/>
                </a:lnTo>
                <a:lnTo>
                  <a:pt x="77507" y="263771"/>
                </a:lnTo>
                <a:lnTo>
                  <a:pt x="63641" y="253841"/>
                </a:lnTo>
                <a:lnTo>
                  <a:pt x="35169" y="207547"/>
                </a:lnTo>
                <a:lnTo>
                  <a:pt x="26801" y="164633"/>
                </a:lnTo>
                <a:lnTo>
                  <a:pt x="25755" y="139699"/>
                </a:lnTo>
                <a:lnTo>
                  <a:pt x="26801" y="115623"/>
                </a:lnTo>
                <a:lnTo>
                  <a:pt x="35169" y="73852"/>
                </a:lnTo>
                <a:lnTo>
                  <a:pt x="63761" y="28352"/>
                </a:lnTo>
                <a:lnTo>
                  <a:pt x="94068" y="11429"/>
                </a:lnTo>
                <a:lnTo>
                  <a:pt x="90004" y="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9" name="object 9"/>
          <p:cNvSpPr/>
          <p:nvPr/>
        </p:nvSpPr>
        <p:spPr>
          <a:xfrm>
            <a:off x="2140966" y="4300220"/>
            <a:ext cx="402590" cy="282575"/>
          </a:xfrm>
          <a:custGeom>
            <a:avLst/>
            <a:gdLst/>
            <a:ahLst/>
            <a:cxnLst/>
            <a:rect l="l" t="t" r="r" b="b"/>
            <a:pathLst>
              <a:path w="402589" h="282575">
                <a:moveTo>
                  <a:pt x="312165" y="0"/>
                </a:moveTo>
                <a:lnTo>
                  <a:pt x="308101" y="11429"/>
                </a:lnTo>
                <a:lnTo>
                  <a:pt x="324465" y="18522"/>
                </a:lnTo>
                <a:lnTo>
                  <a:pt x="338518" y="28352"/>
                </a:lnTo>
                <a:lnTo>
                  <a:pt x="367051" y="73852"/>
                </a:lnTo>
                <a:lnTo>
                  <a:pt x="375382" y="115623"/>
                </a:lnTo>
                <a:lnTo>
                  <a:pt x="376427" y="139699"/>
                </a:lnTo>
                <a:lnTo>
                  <a:pt x="375380" y="164633"/>
                </a:lnTo>
                <a:lnTo>
                  <a:pt x="366998" y="207547"/>
                </a:lnTo>
                <a:lnTo>
                  <a:pt x="338502" y="253841"/>
                </a:lnTo>
                <a:lnTo>
                  <a:pt x="308482" y="270890"/>
                </a:lnTo>
                <a:lnTo>
                  <a:pt x="312165" y="282320"/>
                </a:lnTo>
                <a:lnTo>
                  <a:pt x="350615" y="264239"/>
                </a:lnTo>
                <a:lnTo>
                  <a:pt x="378967" y="232917"/>
                </a:lnTo>
                <a:lnTo>
                  <a:pt x="396398" y="191119"/>
                </a:lnTo>
                <a:lnTo>
                  <a:pt x="402208" y="141223"/>
                </a:lnTo>
                <a:lnTo>
                  <a:pt x="400736" y="115341"/>
                </a:lnTo>
                <a:lnTo>
                  <a:pt x="389028" y="69482"/>
                </a:lnTo>
                <a:lnTo>
                  <a:pt x="365958" y="32146"/>
                </a:lnTo>
                <a:lnTo>
                  <a:pt x="332620" y="7381"/>
                </a:lnTo>
                <a:lnTo>
                  <a:pt x="312165" y="0"/>
                </a:lnTo>
                <a:close/>
              </a:path>
              <a:path w="402589" h="282575">
                <a:moveTo>
                  <a:pt x="90042" y="0"/>
                </a:moveTo>
                <a:lnTo>
                  <a:pt x="51657" y="18097"/>
                </a:lnTo>
                <a:lnTo>
                  <a:pt x="23367" y="49529"/>
                </a:lnTo>
                <a:lnTo>
                  <a:pt x="5826" y="91424"/>
                </a:lnTo>
                <a:lnTo>
                  <a:pt x="0" y="141223"/>
                </a:lnTo>
                <a:lnTo>
                  <a:pt x="1452" y="167177"/>
                </a:lnTo>
                <a:lnTo>
                  <a:pt x="13073" y="213036"/>
                </a:lnTo>
                <a:lnTo>
                  <a:pt x="36125" y="250227"/>
                </a:lnTo>
                <a:lnTo>
                  <a:pt x="69514" y="274941"/>
                </a:lnTo>
                <a:lnTo>
                  <a:pt x="90042" y="282320"/>
                </a:lnTo>
                <a:lnTo>
                  <a:pt x="93598" y="270890"/>
                </a:lnTo>
                <a:lnTo>
                  <a:pt x="77549" y="263771"/>
                </a:lnTo>
                <a:lnTo>
                  <a:pt x="63690" y="253841"/>
                </a:lnTo>
                <a:lnTo>
                  <a:pt x="35210" y="207547"/>
                </a:lnTo>
                <a:lnTo>
                  <a:pt x="26828" y="164633"/>
                </a:lnTo>
                <a:lnTo>
                  <a:pt x="25781" y="139699"/>
                </a:lnTo>
                <a:lnTo>
                  <a:pt x="26828" y="115623"/>
                </a:lnTo>
                <a:lnTo>
                  <a:pt x="35210" y="73852"/>
                </a:lnTo>
                <a:lnTo>
                  <a:pt x="63801" y="28352"/>
                </a:lnTo>
                <a:lnTo>
                  <a:pt x="94106" y="11429"/>
                </a:lnTo>
                <a:lnTo>
                  <a:pt x="90042" y="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0" name="object 10"/>
          <p:cNvSpPr/>
          <p:nvPr/>
        </p:nvSpPr>
        <p:spPr>
          <a:xfrm>
            <a:off x="4114546" y="4300220"/>
            <a:ext cx="402590" cy="282575"/>
          </a:xfrm>
          <a:custGeom>
            <a:avLst/>
            <a:gdLst/>
            <a:ahLst/>
            <a:cxnLst/>
            <a:rect l="l" t="t" r="r" b="b"/>
            <a:pathLst>
              <a:path w="402589" h="282575">
                <a:moveTo>
                  <a:pt x="312165" y="0"/>
                </a:moveTo>
                <a:lnTo>
                  <a:pt x="308101" y="11429"/>
                </a:lnTo>
                <a:lnTo>
                  <a:pt x="324465" y="18522"/>
                </a:lnTo>
                <a:lnTo>
                  <a:pt x="338518" y="28352"/>
                </a:lnTo>
                <a:lnTo>
                  <a:pt x="367051" y="73852"/>
                </a:lnTo>
                <a:lnTo>
                  <a:pt x="375382" y="115623"/>
                </a:lnTo>
                <a:lnTo>
                  <a:pt x="376427" y="139699"/>
                </a:lnTo>
                <a:lnTo>
                  <a:pt x="375380" y="164633"/>
                </a:lnTo>
                <a:lnTo>
                  <a:pt x="366998" y="207547"/>
                </a:lnTo>
                <a:lnTo>
                  <a:pt x="338502" y="253841"/>
                </a:lnTo>
                <a:lnTo>
                  <a:pt x="308482" y="270890"/>
                </a:lnTo>
                <a:lnTo>
                  <a:pt x="312165" y="282320"/>
                </a:lnTo>
                <a:lnTo>
                  <a:pt x="350615" y="264239"/>
                </a:lnTo>
                <a:lnTo>
                  <a:pt x="378967" y="232917"/>
                </a:lnTo>
                <a:lnTo>
                  <a:pt x="396398" y="191119"/>
                </a:lnTo>
                <a:lnTo>
                  <a:pt x="402208" y="141223"/>
                </a:lnTo>
                <a:lnTo>
                  <a:pt x="400736" y="115341"/>
                </a:lnTo>
                <a:lnTo>
                  <a:pt x="389028" y="69482"/>
                </a:lnTo>
                <a:lnTo>
                  <a:pt x="365958" y="32146"/>
                </a:lnTo>
                <a:lnTo>
                  <a:pt x="332620" y="7381"/>
                </a:lnTo>
                <a:lnTo>
                  <a:pt x="312165" y="0"/>
                </a:lnTo>
                <a:close/>
              </a:path>
              <a:path w="402589" h="282575">
                <a:moveTo>
                  <a:pt x="90042" y="0"/>
                </a:moveTo>
                <a:lnTo>
                  <a:pt x="51657" y="18097"/>
                </a:lnTo>
                <a:lnTo>
                  <a:pt x="23367" y="49529"/>
                </a:lnTo>
                <a:lnTo>
                  <a:pt x="5826" y="91424"/>
                </a:lnTo>
                <a:lnTo>
                  <a:pt x="0" y="141223"/>
                </a:lnTo>
                <a:lnTo>
                  <a:pt x="1452" y="167177"/>
                </a:lnTo>
                <a:lnTo>
                  <a:pt x="13073" y="213036"/>
                </a:lnTo>
                <a:lnTo>
                  <a:pt x="36125" y="250227"/>
                </a:lnTo>
                <a:lnTo>
                  <a:pt x="69514" y="274941"/>
                </a:lnTo>
                <a:lnTo>
                  <a:pt x="90042" y="282320"/>
                </a:lnTo>
                <a:lnTo>
                  <a:pt x="93599" y="270890"/>
                </a:lnTo>
                <a:lnTo>
                  <a:pt x="77549" y="263771"/>
                </a:lnTo>
                <a:lnTo>
                  <a:pt x="63690" y="253841"/>
                </a:lnTo>
                <a:lnTo>
                  <a:pt x="35210" y="207547"/>
                </a:lnTo>
                <a:lnTo>
                  <a:pt x="26828" y="164633"/>
                </a:lnTo>
                <a:lnTo>
                  <a:pt x="25780" y="139699"/>
                </a:lnTo>
                <a:lnTo>
                  <a:pt x="26828" y="115623"/>
                </a:lnTo>
                <a:lnTo>
                  <a:pt x="35210" y="73852"/>
                </a:lnTo>
                <a:lnTo>
                  <a:pt x="63801" y="28352"/>
                </a:lnTo>
                <a:lnTo>
                  <a:pt x="94106" y="11429"/>
                </a:lnTo>
                <a:lnTo>
                  <a:pt x="90042" y="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1" name="object 11"/>
          <p:cNvSpPr txBox="1"/>
          <p:nvPr/>
        </p:nvSpPr>
        <p:spPr>
          <a:xfrm>
            <a:off x="953109" y="4210939"/>
            <a:ext cx="5220970" cy="3911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100"/>
              </a:spcBef>
              <a:tabLst>
                <a:tab pos="344170" algn="l"/>
                <a:tab pos="685165" algn="l"/>
                <a:tab pos="1287780" algn="l"/>
                <a:tab pos="1682114" algn="l"/>
                <a:tab pos="3261360" algn="l"/>
                <a:tab pos="3676015" algn="l"/>
              </a:tabLst>
            </a:pPr>
            <a:r>
              <a:rPr sz="2400" dirty="0">
                <a:latin typeface="Cambria Math"/>
                <a:cs typeface="Cambria Math"/>
              </a:rPr>
              <a:t>𝑛	𝑠	−</a:t>
            </a:r>
            <a:r>
              <a:rPr sz="2400" spc="5" dirty="0">
                <a:latin typeface="Cambria Math"/>
                <a:cs typeface="Cambria Math"/>
              </a:rPr>
              <a:t> </a:t>
            </a:r>
            <a:r>
              <a:rPr sz="2400" dirty="0">
                <a:latin typeface="Cambria Math"/>
                <a:cs typeface="Cambria Math"/>
              </a:rPr>
              <a:t>𝑛	𝐸	</a:t>
            </a:r>
            <a:r>
              <a:rPr sz="2400" spc="-5" dirty="0">
                <a:latin typeface="Calibri"/>
                <a:cs typeface="Calibri"/>
              </a:rPr>
              <a:t>Sehingga,</a:t>
            </a:r>
            <a:r>
              <a:rPr sz="2400" spc="-15" dirty="0">
                <a:latin typeface="Calibri"/>
                <a:cs typeface="Calibri"/>
              </a:rPr>
              <a:t> </a:t>
            </a:r>
            <a:r>
              <a:rPr sz="2400" dirty="0">
                <a:latin typeface="Cambria Math"/>
                <a:cs typeface="Cambria Math"/>
              </a:rPr>
              <a:t>𝑃	</a:t>
            </a:r>
            <a:r>
              <a:rPr sz="2400" spc="-1090" dirty="0">
                <a:latin typeface="Cambria Math"/>
                <a:cs typeface="Cambria Math"/>
              </a:rPr>
              <a:t>𝐸</a:t>
            </a:r>
            <a:r>
              <a:rPr sz="3600" spc="-1635" baseline="10416" dirty="0">
                <a:latin typeface="Cambria Math"/>
                <a:cs typeface="Cambria Math"/>
              </a:rPr>
              <a:t>	</a:t>
            </a:r>
            <a:r>
              <a:rPr sz="2400" dirty="0">
                <a:latin typeface="Cambria Math"/>
                <a:cs typeface="Cambria Math"/>
              </a:rPr>
              <a:t>= 1 −</a:t>
            </a:r>
            <a:r>
              <a:rPr sz="2400" spc="40" dirty="0">
                <a:latin typeface="Cambria Math"/>
                <a:cs typeface="Cambria Math"/>
              </a:rPr>
              <a:t> </a:t>
            </a:r>
            <a:r>
              <a:rPr sz="2400" spc="35" dirty="0">
                <a:latin typeface="Cambria Math"/>
                <a:cs typeface="Cambria Math"/>
              </a:rPr>
              <a:t>𝑃(𝐸)</a:t>
            </a:r>
            <a:endParaRPr sz="2400">
              <a:latin typeface="Cambria Math"/>
              <a:cs typeface="Cambria Math"/>
            </a:endParaRPr>
          </a:p>
        </p:txBody>
      </p:sp>
      <p:grpSp>
        <p:nvGrpSpPr>
          <p:cNvPr id="12" name="object 12"/>
          <p:cNvGrpSpPr/>
          <p:nvPr/>
        </p:nvGrpSpPr>
        <p:grpSpPr>
          <a:xfrm>
            <a:off x="3204908" y="1545272"/>
            <a:ext cx="2749550" cy="1969135"/>
            <a:chOff x="3204908" y="1545272"/>
            <a:chExt cx="2749550" cy="1969135"/>
          </a:xfrm>
        </p:grpSpPr>
        <p:sp>
          <p:nvSpPr>
            <p:cNvPr id="13" name="object 13"/>
            <p:cNvSpPr/>
            <p:nvPr/>
          </p:nvSpPr>
          <p:spPr>
            <a:xfrm>
              <a:off x="3217925" y="1558290"/>
              <a:ext cx="2723515" cy="1943100"/>
            </a:xfrm>
            <a:custGeom>
              <a:avLst/>
              <a:gdLst/>
              <a:ahLst/>
              <a:cxnLst/>
              <a:rect l="l" t="t" r="r" b="b"/>
              <a:pathLst>
                <a:path w="2723515" h="1943100">
                  <a:moveTo>
                    <a:pt x="2723388" y="0"/>
                  </a:moveTo>
                  <a:lnTo>
                    <a:pt x="0" y="0"/>
                  </a:lnTo>
                  <a:lnTo>
                    <a:pt x="0" y="1943100"/>
                  </a:lnTo>
                  <a:lnTo>
                    <a:pt x="2723388" y="1943100"/>
                  </a:lnTo>
                  <a:lnTo>
                    <a:pt x="2723388" y="0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4" name="object 14"/>
            <p:cNvSpPr/>
            <p:nvPr/>
          </p:nvSpPr>
          <p:spPr>
            <a:xfrm>
              <a:off x="3217925" y="1558290"/>
              <a:ext cx="2723515" cy="1943100"/>
            </a:xfrm>
            <a:custGeom>
              <a:avLst/>
              <a:gdLst/>
              <a:ahLst/>
              <a:cxnLst/>
              <a:rect l="l" t="t" r="r" b="b"/>
              <a:pathLst>
                <a:path w="2723515" h="1943100">
                  <a:moveTo>
                    <a:pt x="0" y="1943100"/>
                  </a:moveTo>
                  <a:lnTo>
                    <a:pt x="2723388" y="1943100"/>
                  </a:lnTo>
                  <a:lnTo>
                    <a:pt x="2723388" y="0"/>
                  </a:lnTo>
                  <a:lnTo>
                    <a:pt x="0" y="0"/>
                  </a:lnTo>
                  <a:lnTo>
                    <a:pt x="0" y="1943100"/>
                  </a:lnTo>
                  <a:close/>
                </a:path>
              </a:pathLst>
            </a:custGeom>
            <a:ln w="25907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5" name="object 15"/>
            <p:cNvSpPr/>
            <p:nvPr/>
          </p:nvSpPr>
          <p:spPr>
            <a:xfrm>
              <a:off x="3925061" y="1991106"/>
              <a:ext cx="1152525" cy="1077595"/>
            </a:xfrm>
            <a:custGeom>
              <a:avLst/>
              <a:gdLst/>
              <a:ahLst/>
              <a:cxnLst/>
              <a:rect l="l" t="t" r="r" b="b"/>
              <a:pathLst>
                <a:path w="1152525" h="1077595">
                  <a:moveTo>
                    <a:pt x="576072" y="0"/>
                  </a:moveTo>
                  <a:lnTo>
                    <a:pt x="526369" y="1977"/>
                  </a:lnTo>
                  <a:lnTo>
                    <a:pt x="477839" y="7801"/>
                  </a:lnTo>
                  <a:lnTo>
                    <a:pt x="430657" y="17310"/>
                  </a:lnTo>
                  <a:lnTo>
                    <a:pt x="384993" y="30343"/>
                  </a:lnTo>
                  <a:lnTo>
                    <a:pt x="341022" y="46737"/>
                  </a:lnTo>
                  <a:lnTo>
                    <a:pt x="298917" y="66332"/>
                  </a:lnTo>
                  <a:lnTo>
                    <a:pt x="258850" y="88965"/>
                  </a:lnTo>
                  <a:lnTo>
                    <a:pt x="220994" y="114475"/>
                  </a:lnTo>
                  <a:lnTo>
                    <a:pt x="185522" y="142701"/>
                  </a:lnTo>
                  <a:lnTo>
                    <a:pt x="152608" y="173480"/>
                  </a:lnTo>
                  <a:lnTo>
                    <a:pt x="122424" y="206651"/>
                  </a:lnTo>
                  <a:lnTo>
                    <a:pt x="95144" y="242052"/>
                  </a:lnTo>
                  <a:lnTo>
                    <a:pt x="70939" y="279522"/>
                  </a:lnTo>
                  <a:lnTo>
                    <a:pt x="49984" y="318899"/>
                  </a:lnTo>
                  <a:lnTo>
                    <a:pt x="32451" y="360022"/>
                  </a:lnTo>
                  <a:lnTo>
                    <a:pt x="18513" y="402728"/>
                  </a:lnTo>
                  <a:lnTo>
                    <a:pt x="8343" y="446857"/>
                  </a:lnTo>
                  <a:lnTo>
                    <a:pt x="2114" y="492246"/>
                  </a:lnTo>
                  <a:lnTo>
                    <a:pt x="0" y="538734"/>
                  </a:lnTo>
                  <a:lnTo>
                    <a:pt x="2114" y="585221"/>
                  </a:lnTo>
                  <a:lnTo>
                    <a:pt x="8343" y="630610"/>
                  </a:lnTo>
                  <a:lnTo>
                    <a:pt x="18513" y="674739"/>
                  </a:lnTo>
                  <a:lnTo>
                    <a:pt x="32451" y="717445"/>
                  </a:lnTo>
                  <a:lnTo>
                    <a:pt x="49984" y="758568"/>
                  </a:lnTo>
                  <a:lnTo>
                    <a:pt x="70939" y="797945"/>
                  </a:lnTo>
                  <a:lnTo>
                    <a:pt x="95144" y="835415"/>
                  </a:lnTo>
                  <a:lnTo>
                    <a:pt x="122424" y="870816"/>
                  </a:lnTo>
                  <a:lnTo>
                    <a:pt x="152608" y="903987"/>
                  </a:lnTo>
                  <a:lnTo>
                    <a:pt x="185522" y="934766"/>
                  </a:lnTo>
                  <a:lnTo>
                    <a:pt x="220994" y="962992"/>
                  </a:lnTo>
                  <a:lnTo>
                    <a:pt x="258850" y="988502"/>
                  </a:lnTo>
                  <a:lnTo>
                    <a:pt x="298917" y="1011135"/>
                  </a:lnTo>
                  <a:lnTo>
                    <a:pt x="341022" y="1030730"/>
                  </a:lnTo>
                  <a:lnTo>
                    <a:pt x="384993" y="1047124"/>
                  </a:lnTo>
                  <a:lnTo>
                    <a:pt x="430657" y="1060157"/>
                  </a:lnTo>
                  <a:lnTo>
                    <a:pt x="477839" y="1069666"/>
                  </a:lnTo>
                  <a:lnTo>
                    <a:pt x="526369" y="1075490"/>
                  </a:lnTo>
                  <a:lnTo>
                    <a:pt x="576072" y="1077468"/>
                  </a:lnTo>
                  <a:lnTo>
                    <a:pt x="625774" y="1075490"/>
                  </a:lnTo>
                  <a:lnTo>
                    <a:pt x="674304" y="1069666"/>
                  </a:lnTo>
                  <a:lnTo>
                    <a:pt x="721486" y="1060157"/>
                  </a:lnTo>
                  <a:lnTo>
                    <a:pt x="767150" y="1047124"/>
                  </a:lnTo>
                  <a:lnTo>
                    <a:pt x="811121" y="1030730"/>
                  </a:lnTo>
                  <a:lnTo>
                    <a:pt x="853226" y="1011135"/>
                  </a:lnTo>
                  <a:lnTo>
                    <a:pt x="893293" y="988502"/>
                  </a:lnTo>
                  <a:lnTo>
                    <a:pt x="931149" y="962992"/>
                  </a:lnTo>
                  <a:lnTo>
                    <a:pt x="966621" y="934766"/>
                  </a:lnTo>
                  <a:lnTo>
                    <a:pt x="999535" y="903987"/>
                  </a:lnTo>
                  <a:lnTo>
                    <a:pt x="1029719" y="870816"/>
                  </a:lnTo>
                  <a:lnTo>
                    <a:pt x="1056999" y="835415"/>
                  </a:lnTo>
                  <a:lnTo>
                    <a:pt x="1081204" y="797945"/>
                  </a:lnTo>
                  <a:lnTo>
                    <a:pt x="1102159" y="758568"/>
                  </a:lnTo>
                  <a:lnTo>
                    <a:pt x="1119692" y="717445"/>
                  </a:lnTo>
                  <a:lnTo>
                    <a:pt x="1133630" y="674739"/>
                  </a:lnTo>
                  <a:lnTo>
                    <a:pt x="1143800" y="630610"/>
                  </a:lnTo>
                  <a:lnTo>
                    <a:pt x="1150029" y="585221"/>
                  </a:lnTo>
                  <a:lnTo>
                    <a:pt x="1152143" y="538734"/>
                  </a:lnTo>
                  <a:lnTo>
                    <a:pt x="1150029" y="492246"/>
                  </a:lnTo>
                  <a:lnTo>
                    <a:pt x="1143800" y="446857"/>
                  </a:lnTo>
                  <a:lnTo>
                    <a:pt x="1133630" y="402728"/>
                  </a:lnTo>
                  <a:lnTo>
                    <a:pt x="1119692" y="360022"/>
                  </a:lnTo>
                  <a:lnTo>
                    <a:pt x="1102159" y="318899"/>
                  </a:lnTo>
                  <a:lnTo>
                    <a:pt x="1081204" y="279522"/>
                  </a:lnTo>
                  <a:lnTo>
                    <a:pt x="1056999" y="242052"/>
                  </a:lnTo>
                  <a:lnTo>
                    <a:pt x="1029719" y="206651"/>
                  </a:lnTo>
                  <a:lnTo>
                    <a:pt x="999535" y="173480"/>
                  </a:lnTo>
                  <a:lnTo>
                    <a:pt x="966621" y="142701"/>
                  </a:lnTo>
                  <a:lnTo>
                    <a:pt x="931149" y="114475"/>
                  </a:lnTo>
                  <a:lnTo>
                    <a:pt x="893293" y="88965"/>
                  </a:lnTo>
                  <a:lnTo>
                    <a:pt x="853226" y="66332"/>
                  </a:lnTo>
                  <a:lnTo>
                    <a:pt x="811121" y="46737"/>
                  </a:lnTo>
                  <a:lnTo>
                    <a:pt x="767150" y="30343"/>
                  </a:lnTo>
                  <a:lnTo>
                    <a:pt x="721486" y="17310"/>
                  </a:lnTo>
                  <a:lnTo>
                    <a:pt x="674304" y="7801"/>
                  </a:lnTo>
                  <a:lnTo>
                    <a:pt x="625774" y="1977"/>
                  </a:lnTo>
                  <a:lnTo>
                    <a:pt x="576072" y="0"/>
                  </a:lnTo>
                  <a:close/>
                </a:path>
              </a:pathLst>
            </a:custGeom>
            <a:solidFill>
              <a:srgbClr val="4F81BC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6" name="object 16"/>
            <p:cNvSpPr/>
            <p:nvPr/>
          </p:nvSpPr>
          <p:spPr>
            <a:xfrm>
              <a:off x="3217925" y="1558290"/>
              <a:ext cx="1859280" cy="1510665"/>
            </a:xfrm>
            <a:custGeom>
              <a:avLst/>
              <a:gdLst/>
              <a:ahLst/>
              <a:cxnLst/>
              <a:rect l="l" t="t" r="r" b="b"/>
              <a:pathLst>
                <a:path w="1859279" h="1510664">
                  <a:moveTo>
                    <a:pt x="707136" y="971550"/>
                  </a:moveTo>
                  <a:lnTo>
                    <a:pt x="709250" y="925062"/>
                  </a:lnTo>
                  <a:lnTo>
                    <a:pt x="715479" y="879673"/>
                  </a:lnTo>
                  <a:lnTo>
                    <a:pt x="725649" y="835544"/>
                  </a:lnTo>
                  <a:lnTo>
                    <a:pt x="739587" y="792838"/>
                  </a:lnTo>
                  <a:lnTo>
                    <a:pt x="757120" y="751715"/>
                  </a:lnTo>
                  <a:lnTo>
                    <a:pt x="778075" y="712338"/>
                  </a:lnTo>
                  <a:lnTo>
                    <a:pt x="802280" y="674868"/>
                  </a:lnTo>
                  <a:lnTo>
                    <a:pt x="829560" y="639467"/>
                  </a:lnTo>
                  <a:lnTo>
                    <a:pt x="859744" y="606296"/>
                  </a:lnTo>
                  <a:lnTo>
                    <a:pt x="892658" y="575517"/>
                  </a:lnTo>
                  <a:lnTo>
                    <a:pt x="928130" y="547291"/>
                  </a:lnTo>
                  <a:lnTo>
                    <a:pt x="965986" y="521781"/>
                  </a:lnTo>
                  <a:lnTo>
                    <a:pt x="1006053" y="499148"/>
                  </a:lnTo>
                  <a:lnTo>
                    <a:pt x="1048158" y="479553"/>
                  </a:lnTo>
                  <a:lnTo>
                    <a:pt x="1092129" y="463159"/>
                  </a:lnTo>
                  <a:lnTo>
                    <a:pt x="1137793" y="450126"/>
                  </a:lnTo>
                  <a:lnTo>
                    <a:pt x="1184975" y="440617"/>
                  </a:lnTo>
                  <a:lnTo>
                    <a:pt x="1233505" y="434793"/>
                  </a:lnTo>
                  <a:lnTo>
                    <a:pt x="1283208" y="432815"/>
                  </a:lnTo>
                  <a:lnTo>
                    <a:pt x="1332910" y="434793"/>
                  </a:lnTo>
                  <a:lnTo>
                    <a:pt x="1381440" y="440617"/>
                  </a:lnTo>
                  <a:lnTo>
                    <a:pt x="1428622" y="450126"/>
                  </a:lnTo>
                  <a:lnTo>
                    <a:pt x="1474286" y="463159"/>
                  </a:lnTo>
                  <a:lnTo>
                    <a:pt x="1518257" y="479553"/>
                  </a:lnTo>
                  <a:lnTo>
                    <a:pt x="1560362" y="499148"/>
                  </a:lnTo>
                  <a:lnTo>
                    <a:pt x="1600429" y="521781"/>
                  </a:lnTo>
                  <a:lnTo>
                    <a:pt x="1638285" y="547291"/>
                  </a:lnTo>
                  <a:lnTo>
                    <a:pt x="1673757" y="575517"/>
                  </a:lnTo>
                  <a:lnTo>
                    <a:pt x="1706671" y="606296"/>
                  </a:lnTo>
                  <a:lnTo>
                    <a:pt x="1736855" y="639467"/>
                  </a:lnTo>
                  <a:lnTo>
                    <a:pt x="1764135" y="674868"/>
                  </a:lnTo>
                  <a:lnTo>
                    <a:pt x="1788340" y="712338"/>
                  </a:lnTo>
                  <a:lnTo>
                    <a:pt x="1809295" y="751715"/>
                  </a:lnTo>
                  <a:lnTo>
                    <a:pt x="1826828" y="792838"/>
                  </a:lnTo>
                  <a:lnTo>
                    <a:pt x="1840766" y="835544"/>
                  </a:lnTo>
                  <a:lnTo>
                    <a:pt x="1850936" y="879673"/>
                  </a:lnTo>
                  <a:lnTo>
                    <a:pt x="1857165" y="925062"/>
                  </a:lnTo>
                  <a:lnTo>
                    <a:pt x="1859279" y="971550"/>
                  </a:lnTo>
                  <a:lnTo>
                    <a:pt x="1857165" y="1018037"/>
                  </a:lnTo>
                  <a:lnTo>
                    <a:pt x="1850936" y="1063426"/>
                  </a:lnTo>
                  <a:lnTo>
                    <a:pt x="1840766" y="1107555"/>
                  </a:lnTo>
                  <a:lnTo>
                    <a:pt x="1826828" y="1150261"/>
                  </a:lnTo>
                  <a:lnTo>
                    <a:pt x="1809295" y="1191384"/>
                  </a:lnTo>
                  <a:lnTo>
                    <a:pt x="1788340" y="1230761"/>
                  </a:lnTo>
                  <a:lnTo>
                    <a:pt x="1764135" y="1268231"/>
                  </a:lnTo>
                  <a:lnTo>
                    <a:pt x="1736855" y="1303632"/>
                  </a:lnTo>
                  <a:lnTo>
                    <a:pt x="1706671" y="1336803"/>
                  </a:lnTo>
                  <a:lnTo>
                    <a:pt x="1673757" y="1367582"/>
                  </a:lnTo>
                  <a:lnTo>
                    <a:pt x="1638285" y="1395808"/>
                  </a:lnTo>
                  <a:lnTo>
                    <a:pt x="1600429" y="1421318"/>
                  </a:lnTo>
                  <a:lnTo>
                    <a:pt x="1560362" y="1443951"/>
                  </a:lnTo>
                  <a:lnTo>
                    <a:pt x="1518257" y="1463546"/>
                  </a:lnTo>
                  <a:lnTo>
                    <a:pt x="1474286" y="1479940"/>
                  </a:lnTo>
                  <a:lnTo>
                    <a:pt x="1428622" y="1492973"/>
                  </a:lnTo>
                  <a:lnTo>
                    <a:pt x="1381440" y="1502482"/>
                  </a:lnTo>
                  <a:lnTo>
                    <a:pt x="1332910" y="1508306"/>
                  </a:lnTo>
                  <a:lnTo>
                    <a:pt x="1283208" y="1510284"/>
                  </a:lnTo>
                  <a:lnTo>
                    <a:pt x="1233505" y="1508306"/>
                  </a:lnTo>
                  <a:lnTo>
                    <a:pt x="1184975" y="1502482"/>
                  </a:lnTo>
                  <a:lnTo>
                    <a:pt x="1137793" y="1492973"/>
                  </a:lnTo>
                  <a:lnTo>
                    <a:pt x="1092129" y="1479940"/>
                  </a:lnTo>
                  <a:lnTo>
                    <a:pt x="1048158" y="1463546"/>
                  </a:lnTo>
                  <a:lnTo>
                    <a:pt x="1006053" y="1443951"/>
                  </a:lnTo>
                  <a:lnTo>
                    <a:pt x="965986" y="1421318"/>
                  </a:lnTo>
                  <a:lnTo>
                    <a:pt x="928130" y="1395808"/>
                  </a:lnTo>
                  <a:lnTo>
                    <a:pt x="892658" y="1367582"/>
                  </a:lnTo>
                  <a:lnTo>
                    <a:pt x="859744" y="1336803"/>
                  </a:lnTo>
                  <a:lnTo>
                    <a:pt x="829560" y="1303632"/>
                  </a:lnTo>
                  <a:lnTo>
                    <a:pt x="802280" y="1268231"/>
                  </a:lnTo>
                  <a:lnTo>
                    <a:pt x="778075" y="1230761"/>
                  </a:lnTo>
                  <a:lnTo>
                    <a:pt x="757120" y="1191384"/>
                  </a:lnTo>
                  <a:lnTo>
                    <a:pt x="739587" y="1150261"/>
                  </a:lnTo>
                  <a:lnTo>
                    <a:pt x="725649" y="1107555"/>
                  </a:lnTo>
                  <a:lnTo>
                    <a:pt x="715479" y="1063426"/>
                  </a:lnTo>
                  <a:lnTo>
                    <a:pt x="709250" y="1018037"/>
                  </a:lnTo>
                  <a:lnTo>
                    <a:pt x="707136" y="971550"/>
                  </a:lnTo>
                  <a:close/>
                </a:path>
                <a:path w="1859279" h="1510664">
                  <a:moveTo>
                    <a:pt x="0" y="309372"/>
                  </a:moveTo>
                  <a:lnTo>
                    <a:pt x="288036" y="309372"/>
                  </a:lnTo>
                  <a:lnTo>
                    <a:pt x="288036" y="0"/>
                  </a:lnTo>
                  <a:lnTo>
                    <a:pt x="0" y="0"/>
                  </a:lnTo>
                  <a:lnTo>
                    <a:pt x="0" y="309372"/>
                  </a:lnTo>
                  <a:close/>
                </a:path>
              </a:pathLst>
            </a:custGeom>
            <a:ln w="25908">
              <a:solidFill>
                <a:srgbClr val="385D89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17" name="object 17"/>
          <p:cNvSpPr txBox="1"/>
          <p:nvPr/>
        </p:nvSpPr>
        <p:spPr>
          <a:xfrm>
            <a:off x="3217926" y="1558289"/>
            <a:ext cx="2723515" cy="1943100"/>
          </a:xfrm>
          <a:prstGeom prst="rect">
            <a:avLst/>
          </a:prstGeom>
        </p:spPr>
        <p:txBody>
          <a:bodyPr vert="horz" wrap="square" lIns="0" tIns="1270" rIns="0" bIns="0" rtlCol="0">
            <a:spAutoFit/>
          </a:bodyPr>
          <a:lstStyle/>
          <a:p>
            <a:pPr marL="97790">
              <a:lnSpc>
                <a:spcPct val="100000"/>
              </a:lnSpc>
              <a:spcBef>
                <a:spcPts val="10"/>
              </a:spcBef>
            </a:pPr>
            <a:r>
              <a:rPr sz="1800" dirty="0">
                <a:latin typeface="Calibri"/>
                <a:cs typeface="Calibri"/>
              </a:rPr>
              <a:t>s</a:t>
            </a:r>
            <a:endParaRPr sz="1800">
              <a:latin typeface="Calibri"/>
              <a:cs typeface="Calibri"/>
            </a:endParaRPr>
          </a:p>
          <a:p>
            <a:pPr>
              <a:lnSpc>
                <a:spcPct val="100000"/>
              </a:lnSpc>
            </a:pPr>
            <a:endParaRPr sz="1800">
              <a:latin typeface="Calibri"/>
              <a:cs typeface="Calibri"/>
            </a:endParaRPr>
          </a:p>
          <a:p>
            <a:pPr>
              <a:lnSpc>
                <a:spcPct val="100000"/>
              </a:lnSpc>
              <a:spcBef>
                <a:spcPts val="5"/>
              </a:spcBef>
            </a:pPr>
            <a:endParaRPr sz="1500">
              <a:latin typeface="Calibri"/>
              <a:cs typeface="Calibri"/>
            </a:endParaRPr>
          </a:p>
          <a:p>
            <a:pPr marR="150495" algn="ctr">
              <a:lnSpc>
                <a:spcPct val="100000"/>
              </a:lnSpc>
              <a:spcBef>
                <a:spcPts val="5"/>
              </a:spcBef>
            </a:pPr>
            <a:r>
              <a:rPr sz="2200" spc="-5" dirty="0">
                <a:solidFill>
                  <a:srgbClr val="FFFFFF"/>
                </a:solidFill>
                <a:latin typeface="Calibri"/>
                <a:cs typeface="Calibri"/>
              </a:rPr>
              <a:t>E</a:t>
            </a:r>
            <a:endParaRPr sz="2200">
              <a:latin typeface="Calibri"/>
              <a:cs typeface="Calibri"/>
            </a:endParaRPr>
          </a:p>
        </p:txBody>
      </p:sp>
      <p:sp>
        <p:nvSpPr>
          <p:cNvPr id="18" name="object 18"/>
          <p:cNvSpPr/>
          <p:nvPr/>
        </p:nvSpPr>
        <p:spPr>
          <a:xfrm>
            <a:off x="5076444" y="2028444"/>
            <a:ext cx="228600" cy="352043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1421638" y="3783076"/>
            <a:ext cx="2371090" cy="201930"/>
          </a:xfrm>
          <a:custGeom>
            <a:avLst/>
            <a:gdLst/>
            <a:ahLst/>
            <a:cxnLst/>
            <a:rect l="l" t="t" r="r" b="b"/>
            <a:pathLst>
              <a:path w="2371090" h="201929">
                <a:moveTo>
                  <a:pt x="2306447" y="0"/>
                </a:moveTo>
                <a:lnTo>
                  <a:pt x="2303653" y="0"/>
                </a:lnTo>
                <a:lnTo>
                  <a:pt x="2303653" y="8000"/>
                </a:lnTo>
                <a:lnTo>
                  <a:pt x="2315464" y="8000"/>
                </a:lnTo>
                <a:lnTo>
                  <a:pt x="2323465" y="10668"/>
                </a:lnTo>
                <a:lnTo>
                  <a:pt x="2337942" y="42291"/>
                </a:lnTo>
                <a:lnTo>
                  <a:pt x="2337942" y="47243"/>
                </a:lnTo>
                <a:lnTo>
                  <a:pt x="2337181" y="53340"/>
                </a:lnTo>
                <a:lnTo>
                  <a:pt x="2334387" y="67818"/>
                </a:lnTo>
                <a:lnTo>
                  <a:pt x="2333752" y="73025"/>
                </a:lnTo>
                <a:lnTo>
                  <a:pt x="2333752" y="82168"/>
                </a:lnTo>
                <a:lnTo>
                  <a:pt x="2335403" y="86994"/>
                </a:lnTo>
                <a:lnTo>
                  <a:pt x="2339077" y="91059"/>
                </a:lnTo>
                <a:lnTo>
                  <a:pt x="2342515" y="94742"/>
                </a:lnTo>
                <a:lnTo>
                  <a:pt x="2346706" y="97536"/>
                </a:lnTo>
                <a:lnTo>
                  <a:pt x="2351532" y="99441"/>
                </a:lnTo>
                <a:lnTo>
                  <a:pt x="2351532" y="101346"/>
                </a:lnTo>
                <a:lnTo>
                  <a:pt x="2333752" y="118491"/>
                </a:lnTo>
                <a:lnTo>
                  <a:pt x="2333752" y="127635"/>
                </a:lnTo>
                <a:lnTo>
                  <a:pt x="2334387" y="132842"/>
                </a:lnTo>
                <a:lnTo>
                  <a:pt x="2337181" y="147319"/>
                </a:lnTo>
                <a:lnTo>
                  <a:pt x="2337942" y="153416"/>
                </a:lnTo>
                <a:lnTo>
                  <a:pt x="2337942" y="158369"/>
                </a:lnTo>
                <a:lnTo>
                  <a:pt x="2337397" y="167203"/>
                </a:lnTo>
                <a:lnTo>
                  <a:pt x="2315464" y="193421"/>
                </a:lnTo>
                <a:lnTo>
                  <a:pt x="2303653" y="193421"/>
                </a:lnTo>
                <a:lnTo>
                  <a:pt x="2303653" y="201422"/>
                </a:lnTo>
                <a:lnTo>
                  <a:pt x="2306447" y="201422"/>
                </a:lnTo>
                <a:lnTo>
                  <a:pt x="2318063" y="200566"/>
                </a:lnTo>
                <a:lnTo>
                  <a:pt x="2352786" y="176196"/>
                </a:lnTo>
                <a:lnTo>
                  <a:pt x="2355850" y="156463"/>
                </a:lnTo>
                <a:lnTo>
                  <a:pt x="2355850" y="150622"/>
                </a:lnTo>
                <a:lnTo>
                  <a:pt x="2355088" y="143891"/>
                </a:lnTo>
                <a:lnTo>
                  <a:pt x="2353437" y="136525"/>
                </a:lnTo>
                <a:lnTo>
                  <a:pt x="2351786" y="129031"/>
                </a:lnTo>
                <a:lnTo>
                  <a:pt x="2350897" y="123951"/>
                </a:lnTo>
                <a:lnTo>
                  <a:pt x="2350897" y="116586"/>
                </a:lnTo>
                <a:lnTo>
                  <a:pt x="2352548" y="112649"/>
                </a:lnTo>
                <a:lnTo>
                  <a:pt x="2355977" y="109600"/>
                </a:lnTo>
                <a:lnTo>
                  <a:pt x="2359279" y="106553"/>
                </a:lnTo>
                <a:lnTo>
                  <a:pt x="2364359" y="104901"/>
                </a:lnTo>
                <a:lnTo>
                  <a:pt x="2371090" y="104648"/>
                </a:lnTo>
                <a:lnTo>
                  <a:pt x="2371090" y="96012"/>
                </a:lnTo>
                <a:lnTo>
                  <a:pt x="2364359" y="95757"/>
                </a:lnTo>
                <a:lnTo>
                  <a:pt x="2359279" y="94106"/>
                </a:lnTo>
                <a:lnTo>
                  <a:pt x="2355977" y="91059"/>
                </a:lnTo>
                <a:lnTo>
                  <a:pt x="2352548" y="88011"/>
                </a:lnTo>
                <a:lnTo>
                  <a:pt x="2350897" y="84074"/>
                </a:lnTo>
                <a:lnTo>
                  <a:pt x="2350897" y="76707"/>
                </a:lnTo>
                <a:lnTo>
                  <a:pt x="2351786" y="71628"/>
                </a:lnTo>
                <a:lnTo>
                  <a:pt x="2353437" y="64135"/>
                </a:lnTo>
                <a:lnTo>
                  <a:pt x="2355088" y="56768"/>
                </a:lnTo>
                <a:lnTo>
                  <a:pt x="2355850" y="50037"/>
                </a:lnTo>
                <a:lnTo>
                  <a:pt x="2355850" y="44196"/>
                </a:lnTo>
                <a:lnTo>
                  <a:pt x="2355086" y="33912"/>
                </a:lnTo>
                <a:lnTo>
                  <a:pt x="2328132" y="3032"/>
                </a:lnTo>
                <a:lnTo>
                  <a:pt x="2318063" y="855"/>
                </a:lnTo>
                <a:lnTo>
                  <a:pt x="2306447" y="0"/>
                </a:lnTo>
                <a:close/>
              </a:path>
              <a:path w="2371090" h="201929">
                <a:moveTo>
                  <a:pt x="67437" y="0"/>
                </a:moveTo>
                <a:lnTo>
                  <a:pt x="64770" y="0"/>
                </a:lnTo>
                <a:lnTo>
                  <a:pt x="53097" y="855"/>
                </a:lnTo>
                <a:lnTo>
                  <a:pt x="18351" y="24971"/>
                </a:lnTo>
                <a:lnTo>
                  <a:pt x="15240" y="44068"/>
                </a:lnTo>
                <a:lnTo>
                  <a:pt x="15240" y="49911"/>
                </a:lnTo>
                <a:lnTo>
                  <a:pt x="16128" y="56642"/>
                </a:lnTo>
                <a:lnTo>
                  <a:pt x="17780" y="64135"/>
                </a:lnTo>
                <a:lnTo>
                  <a:pt x="19431" y="71500"/>
                </a:lnTo>
                <a:lnTo>
                  <a:pt x="20193" y="76581"/>
                </a:lnTo>
                <a:lnTo>
                  <a:pt x="20193" y="83947"/>
                </a:lnTo>
                <a:lnTo>
                  <a:pt x="18542" y="87884"/>
                </a:lnTo>
                <a:lnTo>
                  <a:pt x="11811" y="94106"/>
                </a:lnTo>
                <a:lnTo>
                  <a:pt x="6858" y="95631"/>
                </a:lnTo>
                <a:lnTo>
                  <a:pt x="0" y="95885"/>
                </a:lnTo>
                <a:lnTo>
                  <a:pt x="0" y="104521"/>
                </a:lnTo>
                <a:lnTo>
                  <a:pt x="20193" y="116459"/>
                </a:lnTo>
                <a:lnTo>
                  <a:pt x="20193" y="123951"/>
                </a:lnTo>
                <a:lnTo>
                  <a:pt x="19431" y="128905"/>
                </a:lnTo>
                <a:lnTo>
                  <a:pt x="16128" y="143891"/>
                </a:lnTo>
                <a:lnTo>
                  <a:pt x="15240" y="150494"/>
                </a:lnTo>
                <a:lnTo>
                  <a:pt x="15240" y="156337"/>
                </a:lnTo>
                <a:lnTo>
                  <a:pt x="16021" y="167008"/>
                </a:lnTo>
                <a:lnTo>
                  <a:pt x="43021" y="198389"/>
                </a:lnTo>
                <a:lnTo>
                  <a:pt x="64770" y="201422"/>
                </a:lnTo>
                <a:lnTo>
                  <a:pt x="67437" y="201422"/>
                </a:lnTo>
                <a:lnTo>
                  <a:pt x="67437" y="193421"/>
                </a:lnTo>
                <a:lnTo>
                  <a:pt x="55625" y="193421"/>
                </a:lnTo>
                <a:lnTo>
                  <a:pt x="47625" y="190754"/>
                </a:lnTo>
                <a:lnTo>
                  <a:pt x="33274" y="158242"/>
                </a:lnTo>
                <a:lnTo>
                  <a:pt x="33274" y="153288"/>
                </a:lnTo>
                <a:lnTo>
                  <a:pt x="33909" y="147193"/>
                </a:lnTo>
                <a:lnTo>
                  <a:pt x="36703" y="132715"/>
                </a:lnTo>
                <a:lnTo>
                  <a:pt x="37465" y="127507"/>
                </a:lnTo>
                <a:lnTo>
                  <a:pt x="37465" y="118491"/>
                </a:lnTo>
                <a:lnTo>
                  <a:pt x="35687" y="113537"/>
                </a:lnTo>
                <a:lnTo>
                  <a:pt x="32131" y="109728"/>
                </a:lnTo>
                <a:lnTo>
                  <a:pt x="28702" y="105791"/>
                </a:lnTo>
                <a:lnTo>
                  <a:pt x="24511" y="102997"/>
                </a:lnTo>
                <a:lnTo>
                  <a:pt x="19558" y="101218"/>
                </a:lnTo>
                <a:lnTo>
                  <a:pt x="19558" y="99313"/>
                </a:lnTo>
                <a:lnTo>
                  <a:pt x="24511" y="97409"/>
                </a:lnTo>
                <a:lnTo>
                  <a:pt x="28702" y="94615"/>
                </a:lnTo>
                <a:lnTo>
                  <a:pt x="35687" y="86868"/>
                </a:lnTo>
                <a:lnTo>
                  <a:pt x="37465" y="82042"/>
                </a:lnTo>
                <a:lnTo>
                  <a:pt x="37465" y="72898"/>
                </a:lnTo>
                <a:lnTo>
                  <a:pt x="36703" y="67691"/>
                </a:lnTo>
                <a:lnTo>
                  <a:pt x="33909" y="53212"/>
                </a:lnTo>
                <a:lnTo>
                  <a:pt x="33274" y="47117"/>
                </a:lnTo>
                <a:lnTo>
                  <a:pt x="33274" y="42163"/>
                </a:lnTo>
                <a:lnTo>
                  <a:pt x="33801" y="33682"/>
                </a:lnTo>
                <a:lnTo>
                  <a:pt x="55625" y="8000"/>
                </a:lnTo>
                <a:lnTo>
                  <a:pt x="67437" y="8000"/>
                </a:lnTo>
                <a:lnTo>
                  <a:pt x="67437" y="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" name="object 3"/>
          <p:cNvSpPr/>
          <p:nvPr/>
        </p:nvSpPr>
        <p:spPr>
          <a:xfrm>
            <a:off x="3581019" y="5106289"/>
            <a:ext cx="670560" cy="200660"/>
          </a:xfrm>
          <a:custGeom>
            <a:avLst/>
            <a:gdLst/>
            <a:ahLst/>
            <a:cxnLst/>
            <a:rect l="l" t="t" r="r" b="b"/>
            <a:pathLst>
              <a:path w="670560" h="200660">
                <a:moveTo>
                  <a:pt x="606551" y="0"/>
                </a:moveTo>
                <a:lnTo>
                  <a:pt x="603757" y="8128"/>
                </a:lnTo>
                <a:lnTo>
                  <a:pt x="615350" y="13178"/>
                </a:lnTo>
                <a:lnTo>
                  <a:pt x="625347" y="20145"/>
                </a:lnTo>
                <a:lnTo>
                  <a:pt x="645628" y="52449"/>
                </a:lnTo>
                <a:lnTo>
                  <a:pt x="652271" y="99187"/>
                </a:lnTo>
                <a:lnTo>
                  <a:pt x="651531" y="116855"/>
                </a:lnTo>
                <a:lnTo>
                  <a:pt x="640333" y="160147"/>
                </a:lnTo>
                <a:lnTo>
                  <a:pt x="604138" y="192278"/>
                </a:lnTo>
                <a:lnTo>
                  <a:pt x="606551" y="200406"/>
                </a:lnTo>
                <a:lnTo>
                  <a:pt x="644931" y="177688"/>
                </a:lnTo>
                <a:lnTo>
                  <a:pt x="666448" y="135651"/>
                </a:lnTo>
                <a:lnTo>
                  <a:pt x="670559" y="100330"/>
                </a:lnTo>
                <a:lnTo>
                  <a:pt x="669516" y="81899"/>
                </a:lnTo>
                <a:lnTo>
                  <a:pt x="654050" y="35179"/>
                </a:lnTo>
                <a:lnTo>
                  <a:pt x="621099" y="5264"/>
                </a:lnTo>
                <a:lnTo>
                  <a:pt x="606551" y="0"/>
                </a:lnTo>
                <a:close/>
              </a:path>
              <a:path w="670560" h="200660">
                <a:moveTo>
                  <a:pt x="64007" y="0"/>
                </a:moveTo>
                <a:lnTo>
                  <a:pt x="25699" y="22842"/>
                </a:lnTo>
                <a:lnTo>
                  <a:pt x="4159" y="64897"/>
                </a:lnTo>
                <a:lnTo>
                  <a:pt x="0" y="100330"/>
                </a:lnTo>
                <a:lnTo>
                  <a:pt x="1025" y="118687"/>
                </a:lnTo>
                <a:lnTo>
                  <a:pt x="16509" y="165354"/>
                </a:lnTo>
                <a:lnTo>
                  <a:pt x="49389" y="195214"/>
                </a:lnTo>
                <a:lnTo>
                  <a:pt x="64007" y="200406"/>
                </a:lnTo>
                <a:lnTo>
                  <a:pt x="66547" y="192278"/>
                </a:lnTo>
                <a:lnTo>
                  <a:pt x="55068" y="187257"/>
                </a:lnTo>
                <a:lnTo>
                  <a:pt x="45196" y="180213"/>
                </a:lnTo>
                <a:lnTo>
                  <a:pt x="24985" y="147335"/>
                </a:lnTo>
                <a:lnTo>
                  <a:pt x="18287" y="99187"/>
                </a:lnTo>
                <a:lnTo>
                  <a:pt x="19028" y="82115"/>
                </a:lnTo>
                <a:lnTo>
                  <a:pt x="30225" y="39878"/>
                </a:lnTo>
                <a:lnTo>
                  <a:pt x="66801" y="8128"/>
                </a:lnTo>
                <a:lnTo>
                  <a:pt x="64007" y="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" name="object 4"/>
          <p:cNvSpPr txBox="1"/>
          <p:nvPr/>
        </p:nvSpPr>
        <p:spPr>
          <a:xfrm>
            <a:off x="978509" y="3226054"/>
            <a:ext cx="6910070" cy="2384425"/>
          </a:xfrm>
          <a:prstGeom prst="rect">
            <a:avLst/>
          </a:prstGeom>
        </p:spPr>
        <p:txBody>
          <a:bodyPr vert="horz" wrap="square" lIns="0" tIns="41910" rIns="0" bIns="0" rtlCol="0">
            <a:spAutoFit/>
          </a:bodyPr>
          <a:lstStyle/>
          <a:p>
            <a:pPr marL="12700" marR="5080">
              <a:lnSpc>
                <a:spcPts val="1839"/>
              </a:lnSpc>
              <a:spcBef>
                <a:spcPts val="330"/>
              </a:spcBef>
            </a:pPr>
            <a:r>
              <a:rPr sz="1700" spc="-10" dirty="0">
                <a:latin typeface="Calibri"/>
                <a:cs typeface="Calibri"/>
              </a:rPr>
              <a:t>Misalnya </a:t>
            </a:r>
            <a:r>
              <a:rPr sz="1700" dirty="0">
                <a:latin typeface="Calibri"/>
                <a:cs typeface="Calibri"/>
              </a:rPr>
              <a:t>A jumlah uang </a:t>
            </a:r>
            <a:r>
              <a:rPr sz="1700" spc="-10" dirty="0">
                <a:latin typeface="Calibri"/>
                <a:cs typeface="Calibri"/>
              </a:rPr>
              <a:t>yang </a:t>
            </a:r>
            <a:r>
              <a:rPr sz="1700" spc="-5" dirty="0">
                <a:latin typeface="Calibri"/>
                <a:cs typeface="Calibri"/>
              </a:rPr>
              <a:t>dapat </a:t>
            </a:r>
            <a:r>
              <a:rPr sz="1700" spc="-10" dirty="0">
                <a:latin typeface="Calibri"/>
                <a:cs typeface="Calibri"/>
              </a:rPr>
              <a:t>digunakan (yang </a:t>
            </a:r>
            <a:r>
              <a:rPr sz="1700" spc="-5" dirty="0">
                <a:latin typeface="Calibri"/>
                <a:cs typeface="Calibri"/>
              </a:rPr>
              <a:t>tersedia) </a:t>
            </a:r>
            <a:r>
              <a:rPr sz="1700" dirty="0">
                <a:latin typeface="Calibri"/>
                <a:cs typeface="Calibri"/>
              </a:rPr>
              <a:t>bagi </a:t>
            </a:r>
            <a:r>
              <a:rPr sz="1700" spc="-5" dirty="0">
                <a:latin typeface="Calibri"/>
                <a:cs typeface="Calibri"/>
              </a:rPr>
              <a:t>seorang </a:t>
            </a:r>
            <a:r>
              <a:rPr sz="1700" dirty="0">
                <a:latin typeface="Calibri"/>
                <a:cs typeface="Calibri"/>
              </a:rPr>
              <a:t>ibu  rumah </a:t>
            </a:r>
            <a:r>
              <a:rPr sz="1700" spc="-10" dirty="0">
                <a:latin typeface="Calibri"/>
                <a:cs typeface="Calibri"/>
              </a:rPr>
              <a:t>tangga </a:t>
            </a:r>
            <a:r>
              <a:rPr sz="1700" spc="-5" dirty="0">
                <a:latin typeface="Calibri"/>
                <a:cs typeface="Calibri"/>
              </a:rPr>
              <a:t>untuk berbelanja </a:t>
            </a:r>
            <a:r>
              <a:rPr sz="1700" dirty="0">
                <a:latin typeface="Calibri"/>
                <a:cs typeface="Calibri"/>
              </a:rPr>
              <a:t>selama bulan Juli</a:t>
            </a:r>
            <a:r>
              <a:rPr sz="1700" spc="-155" dirty="0">
                <a:latin typeface="Calibri"/>
                <a:cs typeface="Calibri"/>
              </a:rPr>
              <a:t> </a:t>
            </a:r>
            <a:r>
              <a:rPr sz="1700" spc="5" dirty="0">
                <a:latin typeface="Calibri"/>
                <a:cs typeface="Calibri"/>
              </a:rPr>
              <a:t>1998.</a:t>
            </a:r>
            <a:endParaRPr sz="1700">
              <a:latin typeface="Calibri"/>
              <a:cs typeface="Calibri"/>
            </a:endParaRPr>
          </a:p>
          <a:p>
            <a:pPr marL="12700">
              <a:lnSpc>
                <a:spcPts val="2010"/>
              </a:lnSpc>
              <a:tabLst>
                <a:tab pos="516890" algn="l"/>
              </a:tabLst>
            </a:pPr>
            <a:r>
              <a:rPr sz="1700" dirty="0">
                <a:latin typeface="Cambria Math"/>
                <a:cs typeface="Cambria Math"/>
              </a:rPr>
              <a:t>𝐴</a:t>
            </a:r>
            <a:r>
              <a:rPr sz="1700" spc="105" dirty="0">
                <a:latin typeface="Cambria Math"/>
                <a:cs typeface="Cambria Math"/>
              </a:rPr>
              <a:t> </a:t>
            </a:r>
            <a:r>
              <a:rPr sz="1700" dirty="0">
                <a:latin typeface="Cambria Math"/>
                <a:cs typeface="Cambria Math"/>
              </a:rPr>
              <a:t>=	𝑥 ∶ 0 ≤ 𝑥 ≤</a:t>
            </a:r>
            <a:r>
              <a:rPr sz="1700" spc="-125" dirty="0">
                <a:latin typeface="Cambria Math"/>
                <a:cs typeface="Cambria Math"/>
              </a:rPr>
              <a:t> </a:t>
            </a:r>
            <a:r>
              <a:rPr sz="1700" dirty="0">
                <a:latin typeface="Cambria Math"/>
                <a:cs typeface="Cambria Math"/>
              </a:rPr>
              <a:t>𝑅𝑝100.000</a:t>
            </a:r>
            <a:endParaRPr sz="1700">
              <a:latin typeface="Cambria Math"/>
              <a:cs typeface="Cambria Math"/>
            </a:endParaRPr>
          </a:p>
          <a:p>
            <a:pPr marL="12700">
              <a:lnSpc>
                <a:spcPct val="100000"/>
              </a:lnSpc>
              <a:spcBef>
                <a:spcPts val="5"/>
              </a:spcBef>
            </a:pPr>
            <a:r>
              <a:rPr sz="1700" dirty="0">
                <a:latin typeface="Cambria Math"/>
                <a:cs typeface="Cambria Math"/>
              </a:rPr>
              <a:t>𝐵 = </a:t>
            </a:r>
            <a:r>
              <a:rPr sz="1700" spc="-5" dirty="0">
                <a:latin typeface="Cambria Math"/>
                <a:cs typeface="Cambria Math"/>
              </a:rPr>
              <a:t>𝑏𝑒𝑠𝑎𝑟𝑛𝑦𝑎 𝑝𝑒𝑛𝑔𝑒𝑙𝑢𝑎𝑟𝑎𝑛 𝑖𝑏𝑢 </a:t>
            </a:r>
            <a:r>
              <a:rPr sz="1700" dirty="0">
                <a:latin typeface="Cambria Math"/>
                <a:cs typeface="Cambria Math"/>
              </a:rPr>
              <a:t>𝑟𝑢𝑚𝑎ℎ </a:t>
            </a:r>
            <a:r>
              <a:rPr sz="1700" spc="-5" dirty="0">
                <a:latin typeface="Cambria Math"/>
                <a:cs typeface="Cambria Math"/>
              </a:rPr>
              <a:t>𝑡𝑒𝑟𝑠𝑒𝑏𝑢𝑡 𝑝𝑎𝑑𝑎 </a:t>
            </a:r>
            <a:r>
              <a:rPr sz="1700" dirty="0">
                <a:latin typeface="Cambria Math"/>
                <a:cs typeface="Cambria Math"/>
              </a:rPr>
              <a:t>𝑏𝑢𝑙𝑎𝑛</a:t>
            </a:r>
            <a:r>
              <a:rPr sz="1700" spc="105" dirty="0">
                <a:latin typeface="Cambria Math"/>
                <a:cs typeface="Cambria Math"/>
              </a:rPr>
              <a:t> </a:t>
            </a:r>
            <a:r>
              <a:rPr sz="1700" spc="-5" dirty="0">
                <a:latin typeface="Cambria Math"/>
                <a:cs typeface="Cambria Math"/>
              </a:rPr>
              <a:t>𝐽𝑢𝑙𝑖</a:t>
            </a:r>
            <a:endParaRPr sz="1700">
              <a:latin typeface="Cambria Math"/>
              <a:cs typeface="Cambria Math"/>
            </a:endParaRPr>
          </a:p>
          <a:p>
            <a:pPr marL="12700">
              <a:lnSpc>
                <a:spcPct val="100000"/>
              </a:lnSpc>
            </a:pPr>
            <a:r>
              <a:rPr sz="1700" dirty="0">
                <a:latin typeface="Cambria Math"/>
                <a:cs typeface="Cambria Math"/>
              </a:rPr>
              <a:t>𝐵 = </a:t>
            </a:r>
            <a:r>
              <a:rPr sz="1700" spc="5" dirty="0">
                <a:latin typeface="Cambria Math"/>
                <a:cs typeface="Cambria Math"/>
              </a:rPr>
              <a:t>{𝑥 </a:t>
            </a:r>
            <a:r>
              <a:rPr sz="1700" dirty="0">
                <a:latin typeface="Cambria Math"/>
                <a:cs typeface="Cambria Math"/>
              </a:rPr>
              <a:t>∶ 𝑥 ≥</a:t>
            </a:r>
            <a:r>
              <a:rPr sz="1700" spc="-75" dirty="0">
                <a:latin typeface="Cambria Math"/>
                <a:cs typeface="Cambria Math"/>
              </a:rPr>
              <a:t> </a:t>
            </a:r>
            <a:r>
              <a:rPr sz="1700" spc="-5" dirty="0">
                <a:latin typeface="Cambria Math"/>
                <a:cs typeface="Cambria Math"/>
              </a:rPr>
              <a:t>𝑅𝑝100.000}</a:t>
            </a:r>
            <a:endParaRPr sz="1700">
              <a:latin typeface="Cambria Math"/>
              <a:cs typeface="Cambria Math"/>
            </a:endParaRPr>
          </a:p>
          <a:p>
            <a:pPr marL="12700">
              <a:lnSpc>
                <a:spcPct val="100000"/>
              </a:lnSpc>
            </a:pPr>
            <a:r>
              <a:rPr sz="1700" dirty="0">
                <a:latin typeface="Cambria Math"/>
                <a:cs typeface="Cambria Math"/>
              </a:rPr>
              <a:t>𝐴 ∩ 𝐵 = { 𝑥 ∶ 𝑥</a:t>
            </a:r>
            <a:r>
              <a:rPr sz="1700" spc="-40" dirty="0">
                <a:latin typeface="Cambria Math"/>
                <a:cs typeface="Cambria Math"/>
              </a:rPr>
              <a:t> </a:t>
            </a:r>
            <a:r>
              <a:rPr sz="1700" dirty="0">
                <a:latin typeface="Cambria Math"/>
                <a:cs typeface="Cambria Math"/>
              </a:rPr>
              <a:t>= </a:t>
            </a:r>
            <a:r>
              <a:rPr sz="1700" spc="-5" dirty="0">
                <a:latin typeface="Cambria Math"/>
                <a:cs typeface="Cambria Math"/>
              </a:rPr>
              <a:t>𝑅𝑝100.000}</a:t>
            </a:r>
            <a:endParaRPr sz="1700">
              <a:latin typeface="Cambria Math"/>
              <a:cs typeface="Cambria Math"/>
            </a:endParaRPr>
          </a:p>
          <a:p>
            <a:pPr marL="12700">
              <a:lnSpc>
                <a:spcPct val="100000"/>
              </a:lnSpc>
              <a:spcBef>
                <a:spcPts val="200"/>
              </a:spcBef>
            </a:pPr>
            <a:r>
              <a:rPr sz="1700" spc="-5" dirty="0">
                <a:latin typeface="Calibri"/>
                <a:cs typeface="Calibri"/>
              </a:rPr>
              <a:t>Dalam mencari </a:t>
            </a:r>
            <a:r>
              <a:rPr sz="1700" dirty="0">
                <a:latin typeface="Calibri"/>
                <a:cs typeface="Calibri"/>
              </a:rPr>
              <a:t>peluang </a:t>
            </a:r>
            <a:r>
              <a:rPr sz="1700" spc="-5" dirty="0">
                <a:latin typeface="Calibri"/>
                <a:cs typeface="Calibri"/>
              </a:rPr>
              <a:t>pada </a:t>
            </a:r>
            <a:r>
              <a:rPr sz="1700" spc="-10" dirty="0">
                <a:latin typeface="Calibri"/>
                <a:cs typeface="Calibri"/>
              </a:rPr>
              <a:t>interseksi </a:t>
            </a:r>
            <a:r>
              <a:rPr sz="1700" dirty="0">
                <a:latin typeface="Calibri"/>
                <a:cs typeface="Calibri"/>
              </a:rPr>
              <a:t>dua </a:t>
            </a:r>
            <a:r>
              <a:rPr sz="1700" spc="-5" dirty="0">
                <a:latin typeface="Calibri"/>
                <a:cs typeface="Calibri"/>
              </a:rPr>
              <a:t>kejadian</a:t>
            </a:r>
            <a:r>
              <a:rPr sz="1700" spc="-135" dirty="0">
                <a:latin typeface="Calibri"/>
                <a:cs typeface="Calibri"/>
              </a:rPr>
              <a:t> </a:t>
            </a:r>
            <a:r>
              <a:rPr sz="1700" spc="-5" dirty="0">
                <a:latin typeface="Calibri"/>
                <a:cs typeface="Calibri"/>
              </a:rPr>
              <a:t>maka:</a:t>
            </a:r>
            <a:endParaRPr sz="1700">
              <a:latin typeface="Calibri"/>
              <a:cs typeface="Calibri"/>
            </a:endParaRPr>
          </a:p>
          <a:p>
            <a:pPr marL="279400" algn="ctr">
              <a:lnSpc>
                <a:spcPct val="100000"/>
              </a:lnSpc>
              <a:tabLst>
                <a:tab pos="1186180" algn="l"/>
              </a:tabLst>
            </a:pPr>
            <a:r>
              <a:rPr sz="1700" dirty="0">
                <a:latin typeface="Cambria Math"/>
                <a:cs typeface="Cambria Math"/>
              </a:rPr>
              <a:t>𝑃  𝐴 ∩</a:t>
            </a:r>
            <a:r>
              <a:rPr sz="1700" spc="5" dirty="0">
                <a:latin typeface="Cambria Math"/>
                <a:cs typeface="Cambria Math"/>
              </a:rPr>
              <a:t> </a:t>
            </a:r>
            <a:r>
              <a:rPr sz="1700" dirty="0">
                <a:latin typeface="Cambria Math"/>
                <a:cs typeface="Cambria Math"/>
              </a:rPr>
              <a:t>𝐵	= </a:t>
            </a:r>
            <a:r>
              <a:rPr sz="1700" spc="5" dirty="0">
                <a:latin typeface="Cambria Math"/>
                <a:cs typeface="Cambria Math"/>
              </a:rPr>
              <a:t>𝑃(𝐴) </a:t>
            </a:r>
            <a:r>
              <a:rPr sz="1700" dirty="0">
                <a:latin typeface="Cambria Math"/>
                <a:cs typeface="Cambria Math"/>
              </a:rPr>
              <a:t>×</a:t>
            </a:r>
            <a:r>
              <a:rPr sz="1700" spc="75" dirty="0">
                <a:latin typeface="Cambria Math"/>
                <a:cs typeface="Cambria Math"/>
              </a:rPr>
              <a:t> </a:t>
            </a:r>
            <a:r>
              <a:rPr sz="1700" spc="15" dirty="0">
                <a:latin typeface="Cambria Math"/>
                <a:cs typeface="Cambria Math"/>
              </a:rPr>
              <a:t>𝑃(𝐵)</a:t>
            </a:r>
            <a:endParaRPr sz="1700">
              <a:latin typeface="Cambria Math"/>
              <a:cs typeface="Cambria Math"/>
            </a:endParaRPr>
          </a:p>
          <a:p>
            <a:pPr marL="12700">
              <a:lnSpc>
                <a:spcPct val="100000"/>
              </a:lnSpc>
              <a:spcBef>
                <a:spcPts val="204"/>
              </a:spcBef>
            </a:pPr>
            <a:r>
              <a:rPr sz="1700" dirty="0">
                <a:latin typeface="Calibri"/>
                <a:cs typeface="Calibri"/>
              </a:rPr>
              <a:t>Rumus </a:t>
            </a:r>
            <a:r>
              <a:rPr sz="1700" spc="-5" dirty="0">
                <a:latin typeface="Calibri"/>
                <a:cs typeface="Calibri"/>
              </a:rPr>
              <a:t>diatas disebut </a:t>
            </a:r>
            <a:r>
              <a:rPr sz="1700" spc="-10" dirty="0">
                <a:latin typeface="Calibri"/>
                <a:cs typeface="Calibri"/>
              </a:rPr>
              <a:t>juga </a:t>
            </a:r>
            <a:r>
              <a:rPr sz="1700" spc="-5" dirty="0">
                <a:latin typeface="Calibri"/>
                <a:cs typeface="Calibri"/>
              </a:rPr>
              <a:t>kejadian</a:t>
            </a:r>
            <a:r>
              <a:rPr sz="1700" spc="-110" dirty="0">
                <a:latin typeface="Calibri"/>
                <a:cs typeface="Calibri"/>
              </a:rPr>
              <a:t> </a:t>
            </a:r>
            <a:r>
              <a:rPr sz="1700" dirty="0">
                <a:latin typeface="Calibri"/>
                <a:cs typeface="Calibri"/>
              </a:rPr>
              <a:t>bebas.</a:t>
            </a:r>
            <a:endParaRPr sz="1700">
              <a:latin typeface="Calibri"/>
              <a:cs typeface="Calibri"/>
            </a:endParaRPr>
          </a:p>
        </p:txBody>
      </p:sp>
      <p:sp>
        <p:nvSpPr>
          <p:cNvPr id="5" name="object 5"/>
          <p:cNvSpPr txBox="1">
            <a:spLocks noGrp="1"/>
          </p:cNvSpPr>
          <p:nvPr>
            <p:ph type="title"/>
          </p:nvPr>
        </p:nvSpPr>
        <p:spPr>
          <a:xfrm>
            <a:off x="2833242" y="612139"/>
            <a:ext cx="3497579" cy="467995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z="2900" u="heavy" spc="-20" dirty="0">
                <a:uFill>
                  <a:solidFill>
                    <a:srgbClr val="000000"/>
                  </a:solidFill>
                </a:uFill>
              </a:rPr>
              <a:t>Interseksi </a:t>
            </a:r>
            <a:r>
              <a:rPr sz="2900" u="heavy" spc="-5" dirty="0">
                <a:uFill>
                  <a:solidFill>
                    <a:srgbClr val="000000"/>
                  </a:solidFill>
                </a:uFill>
              </a:rPr>
              <a:t>Dua</a:t>
            </a:r>
            <a:r>
              <a:rPr sz="2900" u="heavy" spc="-15" dirty="0">
                <a:uFill>
                  <a:solidFill>
                    <a:srgbClr val="000000"/>
                  </a:solidFill>
                </a:uFill>
              </a:rPr>
              <a:t> </a:t>
            </a:r>
            <a:r>
              <a:rPr sz="2900" u="heavy" spc="-10" dirty="0">
                <a:uFill>
                  <a:solidFill>
                    <a:srgbClr val="000000"/>
                  </a:solidFill>
                </a:uFill>
              </a:rPr>
              <a:t>Kejadian</a:t>
            </a:r>
            <a:endParaRPr sz="2900"/>
          </a:p>
        </p:txBody>
      </p:sp>
      <p:sp>
        <p:nvSpPr>
          <p:cNvPr id="6" name="object 6"/>
          <p:cNvSpPr/>
          <p:nvPr/>
        </p:nvSpPr>
        <p:spPr>
          <a:xfrm>
            <a:off x="3131820" y="1412747"/>
            <a:ext cx="2671572" cy="1728215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906576" y="850138"/>
            <a:ext cx="7332345" cy="200088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 marR="5715">
              <a:lnSpc>
                <a:spcPct val="100000"/>
              </a:lnSpc>
              <a:spcBef>
                <a:spcPts val="100"/>
              </a:spcBef>
              <a:tabLst>
                <a:tab pos="914400" algn="l"/>
                <a:tab pos="2112645" algn="l"/>
                <a:tab pos="3089910" algn="l"/>
                <a:tab pos="4141470" algn="l"/>
                <a:tab pos="4839335" algn="l"/>
                <a:tab pos="5735320" algn="l"/>
                <a:tab pos="6935470" algn="l"/>
              </a:tabLst>
            </a:pPr>
            <a:r>
              <a:rPr sz="2400" spc="-5" dirty="0">
                <a:latin typeface="Calibri"/>
                <a:cs typeface="Calibri"/>
              </a:rPr>
              <a:t>S</a:t>
            </a:r>
            <a:r>
              <a:rPr sz="2400" dirty="0">
                <a:latin typeface="Calibri"/>
                <a:cs typeface="Calibri"/>
              </a:rPr>
              <a:t>elain	</a:t>
            </a:r>
            <a:r>
              <a:rPr sz="2400" spc="-75" dirty="0">
                <a:latin typeface="Calibri"/>
                <a:cs typeface="Calibri"/>
              </a:rPr>
              <a:t>k</a:t>
            </a:r>
            <a:r>
              <a:rPr sz="2400" dirty="0">
                <a:latin typeface="Calibri"/>
                <a:cs typeface="Calibri"/>
              </a:rPr>
              <a:t>ej</a:t>
            </a:r>
            <a:r>
              <a:rPr sz="2400" spc="-15" dirty="0">
                <a:latin typeface="Calibri"/>
                <a:cs typeface="Calibri"/>
              </a:rPr>
              <a:t>a</a:t>
            </a:r>
            <a:r>
              <a:rPr sz="2400" spc="-5" dirty="0">
                <a:latin typeface="Calibri"/>
                <a:cs typeface="Calibri"/>
              </a:rPr>
              <a:t>dia</a:t>
            </a:r>
            <a:r>
              <a:rPr sz="2400" dirty="0">
                <a:latin typeface="Calibri"/>
                <a:cs typeface="Calibri"/>
              </a:rPr>
              <a:t>n	</a:t>
            </a:r>
            <a:r>
              <a:rPr sz="2400" spc="-5" dirty="0">
                <a:latin typeface="Calibri"/>
                <a:cs typeface="Calibri"/>
              </a:rPr>
              <a:t>beb</a:t>
            </a:r>
            <a:r>
              <a:rPr sz="2400" dirty="0">
                <a:latin typeface="Calibri"/>
                <a:cs typeface="Calibri"/>
              </a:rPr>
              <a:t>as,	</a:t>
            </a:r>
            <a:r>
              <a:rPr sz="2400" spc="-5" dirty="0">
                <a:latin typeface="Calibri"/>
                <a:cs typeface="Calibri"/>
              </a:rPr>
              <a:t>di</a:t>
            </a:r>
            <a:r>
              <a:rPr sz="2400" spc="-75" dirty="0">
                <a:latin typeface="Calibri"/>
                <a:cs typeface="Calibri"/>
              </a:rPr>
              <a:t>k</a:t>
            </a:r>
            <a:r>
              <a:rPr sz="2400" dirty="0">
                <a:latin typeface="Calibri"/>
                <a:cs typeface="Calibri"/>
              </a:rPr>
              <a:t>en</a:t>
            </a:r>
            <a:r>
              <a:rPr sz="2400" spc="5" dirty="0">
                <a:latin typeface="Calibri"/>
                <a:cs typeface="Calibri"/>
              </a:rPr>
              <a:t>a</a:t>
            </a:r>
            <a:r>
              <a:rPr sz="2400" dirty="0">
                <a:latin typeface="Calibri"/>
                <a:cs typeface="Calibri"/>
              </a:rPr>
              <a:t>l	</a:t>
            </a:r>
            <a:r>
              <a:rPr sz="2400" spc="-5" dirty="0">
                <a:latin typeface="Calibri"/>
                <a:cs typeface="Calibri"/>
              </a:rPr>
              <a:t>p</a:t>
            </a:r>
            <a:r>
              <a:rPr sz="2400" spc="-15" dirty="0">
                <a:latin typeface="Calibri"/>
                <a:cs typeface="Calibri"/>
              </a:rPr>
              <a:t>u</a:t>
            </a:r>
            <a:r>
              <a:rPr sz="2400" dirty="0">
                <a:latin typeface="Calibri"/>
                <a:cs typeface="Calibri"/>
              </a:rPr>
              <a:t>la	i</a:t>
            </a:r>
            <a:r>
              <a:rPr sz="2400" spc="-30" dirty="0">
                <a:latin typeface="Calibri"/>
                <a:cs typeface="Calibri"/>
              </a:rPr>
              <a:t>s</a:t>
            </a:r>
            <a:r>
              <a:rPr sz="2400" dirty="0">
                <a:latin typeface="Calibri"/>
                <a:cs typeface="Calibri"/>
              </a:rPr>
              <a:t>tilah	</a:t>
            </a:r>
            <a:r>
              <a:rPr sz="2400" spc="-75" dirty="0">
                <a:latin typeface="Calibri"/>
                <a:cs typeface="Calibri"/>
              </a:rPr>
              <a:t>k</a:t>
            </a:r>
            <a:r>
              <a:rPr sz="2400" dirty="0">
                <a:latin typeface="Calibri"/>
                <a:cs typeface="Calibri"/>
              </a:rPr>
              <a:t>ejadian	</a:t>
            </a:r>
            <a:r>
              <a:rPr sz="2400" spc="-25" dirty="0">
                <a:latin typeface="Calibri"/>
                <a:cs typeface="Calibri"/>
              </a:rPr>
              <a:t>t</a:t>
            </a:r>
            <a:r>
              <a:rPr sz="2400" spc="-10" dirty="0">
                <a:latin typeface="Calibri"/>
                <a:cs typeface="Calibri"/>
              </a:rPr>
              <a:t>a</a:t>
            </a:r>
            <a:r>
              <a:rPr sz="2400" dirty="0">
                <a:latin typeface="Calibri"/>
                <a:cs typeface="Calibri"/>
              </a:rPr>
              <a:t>k  </a:t>
            </a:r>
            <a:r>
              <a:rPr sz="2400" spc="-5" dirty="0">
                <a:latin typeface="Calibri"/>
                <a:cs typeface="Calibri"/>
              </a:rPr>
              <a:t>bebas </a:t>
            </a:r>
            <a:r>
              <a:rPr sz="2400" spc="-20" dirty="0">
                <a:latin typeface="Calibri"/>
                <a:cs typeface="Calibri"/>
              </a:rPr>
              <a:t>(bersyarat), </a:t>
            </a:r>
            <a:r>
              <a:rPr sz="2400" spc="-10" dirty="0">
                <a:latin typeface="Calibri"/>
                <a:cs typeface="Calibri"/>
              </a:rPr>
              <a:t>kejadian </a:t>
            </a:r>
            <a:r>
              <a:rPr sz="2400" dirty="0">
                <a:latin typeface="Calibri"/>
                <a:cs typeface="Calibri"/>
              </a:rPr>
              <a:t>ini </a:t>
            </a:r>
            <a:r>
              <a:rPr sz="2400" spc="-5" dirty="0">
                <a:latin typeface="Calibri"/>
                <a:cs typeface="Calibri"/>
              </a:rPr>
              <a:t>biasa ditulis</a:t>
            </a:r>
            <a:r>
              <a:rPr sz="2400" spc="-30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P(A/B).</a:t>
            </a:r>
            <a:endParaRPr sz="2400">
              <a:latin typeface="Calibri"/>
              <a:cs typeface="Calibri"/>
            </a:endParaRPr>
          </a:p>
          <a:p>
            <a:pPr>
              <a:lnSpc>
                <a:spcPct val="100000"/>
              </a:lnSpc>
              <a:spcBef>
                <a:spcPts val="5"/>
              </a:spcBef>
            </a:pPr>
            <a:endParaRPr sz="3300">
              <a:latin typeface="Calibri"/>
              <a:cs typeface="Calibri"/>
            </a:endParaRPr>
          </a:p>
          <a:p>
            <a:pPr marL="12700" marR="5080">
              <a:lnSpc>
                <a:spcPct val="100000"/>
              </a:lnSpc>
              <a:tabLst>
                <a:tab pos="768350" algn="l"/>
                <a:tab pos="2162810" algn="l"/>
                <a:tab pos="3350260" algn="l"/>
                <a:tab pos="3886835" algn="l"/>
                <a:tab pos="4775200" algn="l"/>
                <a:tab pos="6388100" algn="l"/>
              </a:tabLst>
            </a:pPr>
            <a:r>
              <a:rPr sz="2400" spc="-55" dirty="0">
                <a:latin typeface="Calibri"/>
                <a:cs typeface="Calibri"/>
              </a:rPr>
              <a:t>P</a:t>
            </a:r>
            <a:r>
              <a:rPr sz="2400" dirty="0">
                <a:latin typeface="Calibri"/>
                <a:cs typeface="Calibri"/>
              </a:rPr>
              <a:t>ada	</a:t>
            </a:r>
            <a:r>
              <a:rPr sz="2400" spc="-5" dirty="0">
                <a:latin typeface="Calibri"/>
                <a:cs typeface="Calibri"/>
              </a:rPr>
              <a:t>umum</a:t>
            </a:r>
            <a:r>
              <a:rPr sz="2400" spc="-45" dirty="0">
                <a:latin typeface="Calibri"/>
                <a:cs typeface="Calibri"/>
              </a:rPr>
              <a:t>n</a:t>
            </a:r>
            <a:r>
              <a:rPr sz="2400" spc="-35" dirty="0">
                <a:latin typeface="Calibri"/>
                <a:cs typeface="Calibri"/>
              </a:rPr>
              <a:t>y</a:t>
            </a:r>
            <a:r>
              <a:rPr sz="2400" dirty="0">
                <a:latin typeface="Calibri"/>
                <a:cs typeface="Calibri"/>
              </a:rPr>
              <a:t>a	</a:t>
            </a:r>
            <a:r>
              <a:rPr sz="2400" spc="-75" dirty="0">
                <a:latin typeface="Calibri"/>
                <a:cs typeface="Calibri"/>
              </a:rPr>
              <a:t>k</a:t>
            </a:r>
            <a:r>
              <a:rPr sz="2400" dirty="0">
                <a:latin typeface="Calibri"/>
                <a:cs typeface="Calibri"/>
              </a:rPr>
              <a:t>ejad</a:t>
            </a:r>
            <a:r>
              <a:rPr sz="2400" spc="-15" dirty="0">
                <a:latin typeface="Calibri"/>
                <a:cs typeface="Calibri"/>
              </a:rPr>
              <a:t>i</a:t>
            </a:r>
            <a:r>
              <a:rPr sz="2400" dirty="0">
                <a:latin typeface="Calibri"/>
                <a:cs typeface="Calibri"/>
              </a:rPr>
              <a:t>an	</a:t>
            </a:r>
            <a:r>
              <a:rPr sz="2400" spc="-25" dirty="0">
                <a:latin typeface="Calibri"/>
                <a:cs typeface="Calibri"/>
              </a:rPr>
              <a:t>t</a:t>
            </a:r>
            <a:r>
              <a:rPr sz="2400" dirty="0">
                <a:latin typeface="Calibri"/>
                <a:cs typeface="Calibri"/>
              </a:rPr>
              <a:t>ak	</a:t>
            </a:r>
            <a:r>
              <a:rPr sz="2400" spc="-5" dirty="0">
                <a:latin typeface="Calibri"/>
                <a:cs typeface="Calibri"/>
              </a:rPr>
              <a:t>be</a:t>
            </a:r>
            <a:r>
              <a:rPr sz="2400" spc="-10" dirty="0">
                <a:latin typeface="Calibri"/>
                <a:cs typeface="Calibri"/>
              </a:rPr>
              <a:t>b</a:t>
            </a:r>
            <a:r>
              <a:rPr sz="2400" dirty="0">
                <a:latin typeface="Calibri"/>
                <a:cs typeface="Calibri"/>
              </a:rPr>
              <a:t>as	</a:t>
            </a:r>
            <a:r>
              <a:rPr sz="2400" spc="-5" dirty="0">
                <a:latin typeface="Calibri"/>
                <a:cs typeface="Calibri"/>
              </a:rPr>
              <a:t>dirumus</a:t>
            </a:r>
            <a:r>
              <a:rPr sz="2400" spc="-35" dirty="0">
                <a:latin typeface="Calibri"/>
                <a:cs typeface="Calibri"/>
              </a:rPr>
              <a:t>k</a:t>
            </a:r>
            <a:r>
              <a:rPr sz="2400" dirty="0">
                <a:latin typeface="Calibri"/>
                <a:cs typeface="Calibri"/>
              </a:rPr>
              <a:t>an	</a:t>
            </a:r>
            <a:r>
              <a:rPr sz="2400" spc="-5" dirty="0">
                <a:latin typeface="Calibri"/>
                <a:cs typeface="Calibri"/>
              </a:rPr>
              <a:t>seba</a:t>
            </a:r>
            <a:r>
              <a:rPr sz="2400" spc="-50" dirty="0">
                <a:latin typeface="Calibri"/>
                <a:cs typeface="Calibri"/>
              </a:rPr>
              <a:t>g</a:t>
            </a:r>
            <a:r>
              <a:rPr sz="2400" dirty="0">
                <a:latin typeface="Calibri"/>
                <a:cs typeface="Calibri"/>
              </a:rPr>
              <a:t>ai  </a:t>
            </a:r>
            <a:r>
              <a:rPr sz="2400" spc="-10" dirty="0">
                <a:latin typeface="Calibri"/>
                <a:cs typeface="Calibri"/>
              </a:rPr>
              <a:t>berikut:</a:t>
            </a:r>
            <a:endParaRPr sz="2400">
              <a:latin typeface="Calibri"/>
              <a:cs typeface="Calibri"/>
            </a:endParaRPr>
          </a:p>
        </p:txBody>
      </p:sp>
      <p:sp>
        <p:nvSpPr>
          <p:cNvPr id="3" name="object 3"/>
          <p:cNvSpPr txBox="1"/>
          <p:nvPr/>
        </p:nvSpPr>
        <p:spPr>
          <a:xfrm>
            <a:off x="3653154" y="3049346"/>
            <a:ext cx="1047750" cy="39179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400" dirty="0">
                <a:latin typeface="Calibri"/>
                <a:cs typeface="Calibri"/>
              </a:rPr>
              <a:t>P(A/B)</a:t>
            </a:r>
            <a:r>
              <a:rPr sz="2400" spc="-105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=</a:t>
            </a:r>
            <a:endParaRPr sz="2400">
              <a:latin typeface="Calibri"/>
              <a:cs typeface="Calibri"/>
            </a:endParaRPr>
          </a:p>
        </p:txBody>
      </p:sp>
      <p:sp>
        <p:nvSpPr>
          <p:cNvPr id="4" name="object 4"/>
          <p:cNvSpPr/>
          <p:nvPr/>
        </p:nvSpPr>
        <p:spPr>
          <a:xfrm>
            <a:off x="4686300" y="3022091"/>
            <a:ext cx="792480" cy="268605"/>
          </a:xfrm>
          <a:custGeom>
            <a:avLst/>
            <a:gdLst/>
            <a:ahLst/>
            <a:cxnLst/>
            <a:rect l="l" t="t" r="r" b="b"/>
            <a:pathLst>
              <a:path w="792479" h="268604">
                <a:moveTo>
                  <a:pt x="237617" y="8382"/>
                </a:moveTo>
                <a:lnTo>
                  <a:pt x="234696" y="0"/>
                </a:lnTo>
                <a:lnTo>
                  <a:pt x="219735" y="5410"/>
                </a:lnTo>
                <a:lnTo>
                  <a:pt x="206641" y="13246"/>
                </a:lnTo>
                <a:lnTo>
                  <a:pt x="178498" y="50749"/>
                </a:lnTo>
                <a:lnTo>
                  <a:pt x="168910" y="103124"/>
                </a:lnTo>
                <a:lnTo>
                  <a:pt x="169976" y="122034"/>
                </a:lnTo>
                <a:lnTo>
                  <a:pt x="185928" y="170053"/>
                </a:lnTo>
                <a:lnTo>
                  <a:pt x="219710" y="200736"/>
                </a:lnTo>
                <a:lnTo>
                  <a:pt x="234696" y="206121"/>
                </a:lnTo>
                <a:lnTo>
                  <a:pt x="237236" y="197739"/>
                </a:lnTo>
                <a:lnTo>
                  <a:pt x="225539" y="192532"/>
                </a:lnTo>
                <a:lnTo>
                  <a:pt x="215430" y="185280"/>
                </a:lnTo>
                <a:lnTo>
                  <a:pt x="194614" y="151587"/>
                </a:lnTo>
                <a:lnTo>
                  <a:pt x="187706" y="101981"/>
                </a:lnTo>
                <a:lnTo>
                  <a:pt x="188468" y="84455"/>
                </a:lnTo>
                <a:lnTo>
                  <a:pt x="200025" y="41021"/>
                </a:lnTo>
                <a:lnTo>
                  <a:pt x="225755" y="13576"/>
                </a:lnTo>
                <a:lnTo>
                  <a:pt x="237617" y="8382"/>
                </a:lnTo>
                <a:close/>
              </a:path>
              <a:path w="792479" h="268604">
                <a:moveTo>
                  <a:pt x="772414" y="103124"/>
                </a:moveTo>
                <a:lnTo>
                  <a:pt x="762812" y="50749"/>
                </a:lnTo>
                <a:lnTo>
                  <a:pt x="734669" y="13246"/>
                </a:lnTo>
                <a:lnTo>
                  <a:pt x="706628" y="0"/>
                </a:lnTo>
                <a:lnTo>
                  <a:pt x="703707" y="8382"/>
                </a:lnTo>
                <a:lnTo>
                  <a:pt x="715632" y="13576"/>
                </a:lnTo>
                <a:lnTo>
                  <a:pt x="725893" y="20751"/>
                </a:lnTo>
                <a:lnTo>
                  <a:pt x="746747" y="53987"/>
                </a:lnTo>
                <a:lnTo>
                  <a:pt x="753618" y="101981"/>
                </a:lnTo>
                <a:lnTo>
                  <a:pt x="752830" y="120205"/>
                </a:lnTo>
                <a:lnTo>
                  <a:pt x="741299" y="164719"/>
                </a:lnTo>
                <a:lnTo>
                  <a:pt x="703961" y="197739"/>
                </a:lnTo>
                <a:lnTo>
                  <a:pt x="706628" y="206121"/>
                </a:lnTo>
                <a:lnTo>
                  <a:pt x="745985" y="182727"/>
                </a:lnTo>
                <a:lnTo>
                  <a:pt x="768134" y="139496"/>
                </a:lnTo>
                <a:lnTo>
                  <a:pt x="771334" y="122034"/>
                </a:lnTo>
                <a:lnTo>
                  <a:pt x="772414" y="103124"/>
                </a:lnTo>
                <a:close/>
              </a:path>
              <a:path w="792479" h="268604">
                <a:moveTo>
                  <a:pt x="792480" y="248412"/>
                </a:moveTo>
                <a:lnTo>
                  <a:pt x="0" y="248412"/>
                </a:lnTo>
                <a:lnTo>
                  <a:pt x="0" y="268224"/>
                </a:lnTo>
                <a:lnTo>
                  <a:pt x="792480" y="268224"/>
                </a:lnTo>
                <a:lnTo>
                  <a:pt x="792480" y="248412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" name="object 5"/>
          <p:cNvSpPr txBox="1"/>
          <p:nvPr/>
        </p:nvSpPr>
        <p:spPr>
          <a:xfrm>
            <a:off x="4674234" y="2953638"/>
            <a:ext cx="719455" cy="29273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750" spc="45" dirty="0">
                <a:latin typeface="Cambria Math"/>
                <a:cs typeface="Cambria Math"/>
              </a:rPr>
              <a:t>𝑃</a:t>
            </a:r>
            <a:r>
              <a:rPr sz="1750" spc="310" dirty="0">
                <a:latin typeface="Cambria Math"/>
                <a:cs typeface="Cambria Math"/>
              </a:rPr>
              <a:t> </a:t>
            </a:r>
            <a:r>
              <a:rPr sz="1750" spc="30" dirty="0">
                <a:latin typeface="Cambria Math"/>
                <a:cs typeface="Cambria Math"/>
              </a:rPr>
              <a:t>𝐴∩𝐵</a:t>
            </a:r>
            <a:endParaRPr sz="1750">
              <a:latin typeface="Cambria Math"/>
              <a:cs typeface="Cambria Math"/>
            </a:endParaRPr>
          </a:p>
        </p:txBody>
      </p:sp>
      <p:sp>
        <p:nvSpPr>
          <p:cNvPr id="6" name="object 6"/>
          <p:cNvSpPr txBox="1"/>
          <p:nvPr/>
        </p:nvSpPr>
        <p:spPr>
          <a:xfrm>
            <a:off x="4825365" y="3285566"/>
            <a:ext cx="516255" cy="293370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z="1750" spc="114" dirty="0">
                <a:latin typeface="Cambria Math"/>
                <a:cs typeface="Cambria Math"/>
              </a:rPr>
              <a:t>𝑃</a:t>
            </a:r>
            <a:r>
              <a:rPr sz="1750" dirty="0">
                <a:latin typeface="Cambria Math"/>
                <a:cs typeface="Cambria Math"/>
              </a:rPr>
              <a:t>(</a:t>
            </a:r>
            <a:r>
              <a:rPr sz="1750" spc="90" dirty="0">
                <a:latin typeface="Cambria Math"/>
                <a:cs typeface="Cambria Math"/>
              </a:rPr>
              <a:t>𝐵</a:t>
            </a:r>
            <a:r>
              <a:rPr sz="1750" dirty="0">
                <a:latin typeface="Cambria Math"/>
                <a:cs typeface="Cambria Math"/>
              </a:rPr>
              <a:t>)</a:t>
            </a:r>
            <a:endParaRPr sz="1750">
              <a:latin typeface="Cambria Math"/>
              <a:cs typeface="Cambria Math"/>
            </a:endParaRPr>
          </a:p>
        </p:txBody>
      </p:sp>
      <p:sp>
        <p:nvSpPr>
          <p:cNvPr id="7" name="object 7"/>
          <p:cNvSpPr txBox="1"/>
          <p:nvPr/>
        </p:nvSpPr>
        <p:spPr>
          <a:xfrm>
            <a:off x="3692778" y="4197477"/>
            <a:ext cx="1035685" cy="3911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400" spc="-15" dirty="0">
                <a:latin typeface="Calibri"/>
                <a:cs typeface="Calibri"/>
              </a:rPr>
              <a:t>P(B/A)</a:t>
            </a:r>
            <a:r>
              <a:rPr sz="2400" spc="-105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=</a:t>
            </a:r>
            <a:endParaRPr sz="2400">
              <a:latin typeface="Calibri"/>
              <a:cs typeface="Calibri"/>
            </a:endParaRPr>
          </a:p>
        </p:txBody>
      </p:sp>
      <p:sp>
        <p:nvSpPr>
          <p:cNvPr id="8" name="object 8"/>
          <p:cNvSpPr/>
          <p:nvPr/>
        </p:nvSpPr>
        <p:spPr>
          <a:xfrm>
            <a:off x="4715256" y="4169663"/>
            <a:ext cx="792480" cy="268605"/>
          </a:xfrm>
          <a:custGeom>
            <a:avLst/>
            <a:gdLst/>
            <a:ahLst/>
            <a:cxnLst/>
            <a:rect l="l" t="t" r="r" b="b"/>
            <a:pathLst>
              <a:path w="792479" h="268604">
                <a:moveTo>
                  <a:pt x="237617" y="8382"/>
                </a:moveTo>
                <a:lnTo>
                  <a:pt x="234696" y="0"/>
                </a:lnTo>
                <a:lnTo>
                  <a:pt x="219735" y="5410"/>
                </a:lnTo>
                <a:lnTo>
                  <a:pt x="206641" y="13246"/>
                </a:lnTo>
                <a:lnTo>
                  <a:pt x="178498" y="50749"/>
                </a:lnTo>
                <a:lnTo>
                  <a:pt x="168910" y="103124"/>
                </a:lnTo>
                <a:lnTo>
                  <a:pt x="169976" y="122034"/>
                </a:lnTo>
                <a:lnTo>
                  <a:pt x="185928" y="170053"/>
                </a:lnTo>
                <a:lnTo>
                  <a:pt x="219710" y="200736"/>
                </a:lnTo>
                <a:lnTo>
                  <a:pt x="234696" y="206121"/>
                </a:lnTo>
                <a:lnTo>
                  <a:pt x="237236" y="197739"/>
                </a:lnTo>
                <a:lnTo>
                  <a:pt x="225539" y="192532"/>
                </a:lnTo>
                <a:lnTo>
                  <a:pt x="215430" y="185280"/>
                </a:lnTo>
                <a:lnTo>
                  <a:pt x="194614" y="151587"/>
                </a:lnTo>
                <a:lnTo>
                  <a:pt x="187706" y="101981"/>
                </a:lnTo>
                <a:lnTo>
                  <a:pt x="188468" y="84455"/>
                </a:lnTo>
                <a:lnTo>
                  <a:pt x="200025" y="41021"/>
                </a:lnTo>
                <a:lnTo>
                  <a:pt x="225755" y="13576"/>
                </a:lnTo>
                <a:lnTo>
                  <a:pt x="237617" y="8382"/>
                </a:lnTo>
                <a:close/>
              </a:path>
              <a:path w="792479" h="268604">
                <a:moveTo>
                  <a:pt x="772414" y="103124"/>
                </a:moveTo>
                <a:lnTo>
                  <a:pt x="762812" y="50749"/>
                </a:lnTo>
                <a:lnTo>
                  <a:pt x="734669" y="13246"/>
                </a:lnTo>
                <a:lnTo>
                  <a:pt x="706628" y="0"/>
                </a:lnTo>
                <a:lnTo>
                  <a:pt x="703707" y="8382"/>
                </a:lnTo>
                <a:lnTo>
                  <a:pt x="715632" y="13576"/>
                </a:lnTo>
                <a:lnTo>
                  <a:pt x="725893" y="20751"/>
                </a:lnTo>
                <a:lnTo>
                  <a:pt x="746760" y="53987"/>
                </a:lnTo>
                <a:lnTo>
                  <a:pt x="753618" y="101981"/>
                </a:lnTo>
                <a:lnTo>
                  <a:pt x="752830" y="120205"/>
                </a:lnTo>
                <a:lnTo>
                  <a:pt x="741299" y="164719"/>
                </a:lnTo>
                <a:lnTo>
                  <a:pt x="703961" y="197739"/>
                </a:lnTo>
                <a:lnTo>
                  <a:pt x="706628" y="206121"/>
                </a:lnTo>
                <a:lnTo>
                  <a:pt x="745985" y="182727"/>
                </a:lnTo>
                <a:lnTo>
                  <a:pt x="768134" y="139496"/>
                </a:lnTo>
                <a:lnTo>
                  <a:pt x="771334" y="122034"/>
                </a:lnTo>
                <a:lnTo>
                  <a:pt x="772414" y="103124"/>
                </a:lnTo>
                <a:close/>
              </a:path>
              <a:path w="792479" h="268604">
                <a:moveTo>
                  <a:pt x="792467" y="248412"/>
                </a:moveTo>
                <a:lnTo>
                  <a:pt x="0" y="248412"/>
                </a:lnTo>
                <a:lnTo>
                  <a:pt x="0" y="268224"/>
                </a:lnTo>
                <a:lnTo>
                  <a:pt x="792467" y="268224"/>
                </a:lnTo>
                <a:lnTo>
                  <a:pt x="792467" y="248412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9" name="object 9"/>
          <p:cNvSpPr txBox="1"/>
          <p:nvPr/>
        </p:nvSpPr>
        <p:spPr>
          <a:xfrm>
            <a:off x="4703190" y="4101465"/>
            <a:ext cx="719455" cy="29273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750" spc="45" dirty="0">
                <a:latin typeface="Cambria Math"/>
                <a:cs typeface="Cambria Math"/>
              </a:rPr>
              <a:t>𝑃</a:t>
            </a:r>
            <a:r>
              <a:rPr sz="1750" spc="310" dirty="0">
                <a:latin typeface="Cambria Math"/>
                <a:cs typeface="Cambria Math"/>
              </a:rPr>
              <a:t> </a:t>
            </a:r>
            <a:r>
              <a:rPr sz="1750" spc="30" dirty="0">
                <a:latin typeface="Cambria Math"/>
                <a:cs typeface="Cambria Math"/>
              </a:rPr>
              <a:t>𝐴∩𝐵</a:t>
            </a:r>
            <a:endParaRPr sz="1750">
              <a:latin typeface="Cambria Math"/>
              <a:cs typeface="Cambria Math"/>
            </a:endParaRPr>
          </a:p>
        </p:txBody>
      </p:sp>
      <p:sp>
        <p:nvSpPr>
          <p:cNvPr id="10" name="object 10"/>
          <p:cNvSpPr/>
          <p:nvPr/>
        </p:nvSpPr>
        <p:spPr>
          <a:xfrm>
            <a:off x="5038090" y="4501896"/>
            <a:ext cx="295910" cy="206375"/>
          </a:xfrm>
          <a:custGeom>
            <a:avLst/>
            <a:gdLst/>
            <a:ahLst/>
            <a:cxnLst/>
            <a:rect l="l" t="t" r="r" b="b"/>
            <a:pathLst>
              <a:path w="295910" h="206375">
                <a:moveTo>
                  <a:pt x="229870" y="0"/>
                </a:moveTo>
                <a:lnTo>
                  <a:pt x="226949" y="8381"/>
                </a:lnTo>
                <a:lnTo>
                  <a:pt x="238879" y="13571"/>
                </a:lnTo>
                <a:lnTo>
                  <a:pt x="249142" y="20748"/>
                </a:lnTo>
                <a:lnTo>
                  <a:pt x="270001" y="53975"/>
                </a:lnTo>
                <a:lnTo>
                  <a:pt x="276860" y="101980"/>
                </a:lnTo>
                <a:lnTo>
                  <a:pt x="276078" y="120195"/>
                </a:lnTo>
                <a:lnTo>
                  <a:pt x="264540" y="164718"/>
                </a:lnTo>
                <a:lnTo>
                  <a:pt x="227202" y="197738"/>
                </a:lnTo>
                <a:lnTo>
                  <a:pt x="229870" y="206120"/>
                </a:lnTo>
                <a:lnTo>
                  <a:pt x="269232" y="182725"/>
                </a:lnTo>
                <a:lnTo>
                  <a:pt x="291385" y="139493"/>
                </a:lnTo>
                <a:lnTo>
                  <a:pt x="295656" y="103123"/>
                </a:lnTo>
                <a:lnTo>
                  <a:pt x="294586" y="84218"/>
                </a:lnTo>
                <a:lnTo>
                  <a:pt x="278638" y="36194"/>
                </a:lnTo>
                <a:lnTo>
                  <a:pt x="244830" y="5405"/>
                </a:lnTo>
                <a:lnTo>
                  <a:pt x="229870" y="0"/>
                </a:lnTo>
                <a:close/>
              </a:path>
              <a:path w="295910" h="206375">
                <a:moveTo>
                  <a:pt x="65786" y="0"/>
                </a:moveTo>
                <a:lnTo>
                  <a:pt x="26477" y="23502"/>
                </a:lnTo>
                <a:lnTo>
                  <a:pt x="4270" y="66754"/>
                </a:lnTo>
                <a:lnTo>
                  <a:pt x="0" y="103123"/>
                </a:lnTo>
                <a:lnTo>
                  <a:pt x="1069" y="122029"/>
                </a:lnTo>
                <a:lnTo>
                  <a:pt x="17018" y="170052"/>
                </a:lnTo>
                <a:lnTo>
                  <a:pt x="50807" y="200735"/>
                </a:lnTo>
                <a:lnTo>
                  <a:pt x="65786" y="206120"/>
                </a:lnTo>
                <a:lnTo>
                  <a:pt x="68325" y="197738"/>
                </a:lnTo>
                <a:lnTo>
                  <a:pt x="56636" y="192526"/>
                </a:lnTo>
                <a:lnTo>
                  <a:pt x="46529" y="185277"/>
                </a:lnTo>
                <a:lnTo>
                  <a:pt x="25707" y="151576"/>
                </a:lnTo>
                <a:lnTo>
                  <a:pt x="18796" y="101980"/>
                </a:lnTo>
                <a:lnTo>
                  <a:pt x="19559" y="84454"/>
                </a:lnTo>
                <a:lnTo>
                  <a:pt x="31114" y="41020"/>
                </a:lnTo>
                <a:lnTo>
                  <a:pt x="68707" y="8381"/>
                </a:lnTo>
                <a:lnTo>
                  <a:pt x="65786" y="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1" name="object 11"/>
          <p:cNvSpPr txBox="1"/>
          <p:nvPr/>
        </p:nvSpPr>
        <p:spPr>
          <a:xfrm>
            <a:off x="4857369" y="4433697"/>
            <a:ext cx="415290" cy="29273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750" spc="45" dirty="0">
                <a:latin typeface="Cambria Math"/>
                <a:cs typeface="Cambria Math"/>
              </a:rPr>
              <a:t>𝑃</a:t>
            </a:r>
            <a:r>
              <a:rPr sz="1750" spc="300" dirty="0">
                <a:latin typeface="Cambria Math"/>
                <a:cs typeface="Cambria Math"/>
              </a:rPr>
              <a:t> </a:t>
            </a:r>
            <a:r>
              <a:rPr sz="1750" spc="50" dirty="0">
                <a:latin typeface="Cambria Math"/>
                <a:cs typeface="Cambria Math"/>
              </a:rPr>
              <a:t>𝐴</a:t>
            </a:r>
            <a:endParaRPr sz="1750">
              <a:latin typeface="Cambria Math"/>
              <a:cs typeface="Cambria Math"/>
            </a:endParaRPr>
          </a:p>
        </p:txBody>
      </p:sp>
      <p:sp>
        <p:nvSpPr>
          <p:cNvPr id="12" name="object 12"/>
          <p:cNvSpPr txBox="1"/>
          <p:nvPr/>
        </p:nvSpPr>
        <p:spPr>
          <a:xfrm>
            <a:off x="3637026" y="5086350"/>
            <a:ext cx="2087880" cy="576580"/>
          </a:xfrm>
          <a:prstGeom prst="rect">
            <a:avLst/>
          </a:prstGeom>
          <a:solidFill>
            <a:srgbClr val="4F81BC"/>
          </a:solidFill>
          <a:ln w="25907">
            <a:solidFill>
              <a:srgbClr val="385D89"/>
            </a:solidFill>
          </a:ln>
        </p:spPr>
        <p:txBody>
          <a:bodyPr vert="horz" wrap="square" lIns="0" tIns="51435" rIns="0" bIns="0" rtlCol="0">
            <a:spAutoFit/>
          </a:bodyPr>
          <a:lstStyle/>
          <a:p>
            <a:pPr marL="175895">
              <a:lnSpc>
                <a:spcPct val="100000"/>
              </a:lnSpc>
              <a:spcBef>
                <a:spcPts val="405"/>
              </a:spcBef>
            </a:pPr>
            <a:r>
              <a:rPr sz="2800" spc="-15" dirty="0">
                <a:solidFill>
                  <a:srgbClr val="FFFFFF"/>
                </a:solidFill>
                <a:latin typeface="Calibri"/>
                <a:cs typeface="Calibri"/>
              </a:rPr>
              <a:t>Contoh</a:t>
            </a:r>
            <a:r>
              <a:rPr sz="2800" spc="-20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2800" spc="-10" dirty="0">
                <a:solidFill>
                  <a:srgbClr val="FFFFFF"/>
                </a:solidFill>
                <a:latin typeface="Calibri"/>
                <a:cs typeface="Calibri"/>
              </a:rPr>
              <a:t>Soal</a:t>
            </a:r>
            <a:endParaRPr sz="2800">
              <a:latin typeface="Calibri"/>
              <a:cs typeface="Calibri"/>
            </a:endParaRP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430148" rIns="0" bIns="0" rtlCol="0">
            <a:spAutoFit/>
          </a:bodyPr>
          <a:lstStyle/>
          <a:p>
            <a:pPr marL="50800" marR="5080">
              <a:lnSpc>
                <a:spcPts val="2400"/>
              </a:lnSpc>
              <a:spcBef>
                <a:spcPts val="675"/>
              </a:spcBef>
            </a:pPr>
            <a:r>
              <a:rPr spc="-10" dirty="0"/>
              <a:t>Misalkan </a:t>
            </a:r>
            <a:r>
              <a:rPr spc="-5" dirty="0"/>
              <a:t>jumlah seluruh mahasiswa </a:t>
            </a:r>
            <a:r>
              <a:rPr spc="-10" dirty="0"/>
              <a:t>suatu </a:t>
            </a:r>
            <a:r>
              <a:rPr spc="-15" dirty="0"/>
              <a:t>Universitas  </a:t>
            </a:r>
            <a:r>
              <a:rPr spc="-5" dirty="0"/>
              <a:t>(S</a:t>
            </a:r>
            <a:r>
              <a:rPr spc="110" dirty="0"/>
              <a:t> </a:t>
            </a:r>
            <a:r>
              <a:rPr spc="-20" dirty="0"/>
              <a:t>atau</a:t>
            </a:r>
            <a:r>
              <a:rPr spc="120" dirty="0"/>
              <a:t> </a:t>
            </a:r>
            <a:r>
              <a:rPr dirty="0"/>
              <a:t>N)</a:t>
            </a:r>
            <a:r>
              <a:rPr spc="105" dirty="0"/>
              <a:t> </a:t>
            </a:r>
            <a:r>
              <a:rPr spc="-5" dirty="0"/>
              <a:t>adalah</a:t>
            </a:r>
            <a:r>
              <a:rPr spc="110" dirty="0"/>
              <a:t> </a:t>
            </a:r>
            <a:r>
              <a:rPr spc="-5" dirty="0"/>
              <a:t>10.000</a:t>
            </a:r>
            <a:r>
              <a:rPr spc="100" dirty="0"/>
              <a:t> </a:t>
            </a:r>
            <a:r>
              <a:rPr spc="-10" dirty="0"/>
              <a:t>orang,</a:t>
            </a:r>
            <a:r>
              <a:rPr spc="110" dirty="0"/>
              <a:t> </a:t>
            </a:r>
            <a:r>
              <a:rPr spc="-5" dirty="0"/>
              <a:t>himpunan</a:t>
            </a:r>
            <a:r>
              <a:rPr spc="120" dirty="0"/>
              <a:t> </a:t>
            </a:r>
            <a:r>
              <a:rPr spc="-5" dirty="0"/>
              <a:t>A</a:t>
            </a:r>
            <a:r>
              <a:rPr spc="125" dirty="0"/>
              <a:t> </a:t>
            </a:r>
            <a:r>
              <a:rPr spc="-5" dirty="0"/>
              <a:t>mewakili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1050442" y="1535429"/>
            <a:ext cx="7042784" cy="208280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ts val="2700"/>
              </a:lnSpc>
              <a:spcBef>
                <a:spcPts val="95"/>
              </a:spcBef>
              <a:tabLst>
                <a:tab pos="920750" algn="l"/>
                <a:tab pos="2528570" algn="l"/>
                <a:tab pos="3347720" algn="l"/>
                <a:tab pos="4019550" algn="l"/>
                <a:tab pos="5519420" algn="l"/>
                <a:tab pos="5878830" algn="l"/>
              </a:tabLst>
            </a:pPr>
            <a:r>
              <a:rPr sz="2500" spc="-15" dirty="0">
                <a:latin typeface="Calibri"/>
                <a:cs typeface="Calibri"/>
              </a:rPr>
              <a:t>2</a:t>
            </a:r>
            <a:r>
              <a:rPr sz="2500" dirty="0">
                <a:latin typeface="Calibri"/>
                <a:cs typeface="Calibri"/>
              </a:rPr>
              <a:t>.</a:t>
            </a:r>
            <a:r>
              <a:rPr sz="2500" spc="-15" dirty="0">
                <a:latin typeface="Calibri"/>
                <a:cs typeface="Calibri"/>
              </a:rPr>
              <a:t>00</a:t>
            </a:r>
            <a:r>
              <a:rPr sz="2500" spc="-5" dirty="0">
                <a:latin typeface="Calibri"/>
                <a:cs typeface="Calibri"/>
              </a:rPr>
              <a:t>0</a:t>
            </a:r>
            <a:r>
              <a:rPr sz="2500" dirty="0">
                <a:latin typeface="Calibri"/>
                <a:cs typeface="Calibri"/>
              </a:rPr>
              <a:t>	</a:t>
            </a:r>
            <a:r>
              <a:rPr sz="2500" spc="-5" dirty="0">
                <a:latin typeface="Calibri"/>
                <a:cs typeface="Calibri"/>
              </a:rPr>
              <a:t>ma</a:t>
            </a:r>
            <a:r>
              <a:rPr sz="2500" spc="5" dirty="0">
                <a:latin typeface="Calibri"/>
                <a:cs typeface="Calibri"/>
              </a:rPr>
              <a:t>h</a:t>
            </a:r>
            <a:r>
              <a:rPr sz="2500" spc="-5" dirty="0">
                <a:latin typeface="Calibri"/>
                <a:cs typeface="Calibri"/>
              </a:rPr>
              <a:t>asi</a:t>
            </a:r>
            <a:r>
              <a:rPr sz="2500" spc="-20" dirty="0">
                <a:latin typeface="Calibri"/>
                <a:cs typeface="Calibri"/>
              </a:rPr>
              <a:t>s</a:t>
            </a:r>
            <a:r>
              <a:rPr sz="2500" spc="-25" dirty="0">
                <a:latin typeface="Calibri"/>
                <a:cs typeface="Calibri"/>
              </a:rPr>
              <a:t>w</a:t>
            </a:r>
            <a:r>
              <a:rPr sz="2500" spc="-5" dirty="0">
                <a:latin typeface="Calibri"/>
                <a:cs typeface="Calibri"/>
              </a:rPr>
              <a:t>a</a:t>
            </a:r>
            <a:r>
              <a:rPr sz="2500" dirty="0">
                <a:latin typeface="Calibri"/>
                <a:cs typeface="Calibri"/>
              </a:rPr>
              <a:t>	</a:t>
            </a:r>
            <a:r>
              <a:rPr sz="2500" spc="-5" dirty="0">
                <a:latin typeface="Calibri"/>
                <a:cs typeface="Calibri"/>
              </a:rPr>
              <a:t>lama</a:t>
            </a:r>
            <a:r>
              <a:rPr sz="2500" dirty="0">
                <a:latin typeface="Calibri"/>
                <a:cs typeface="Calibri"/>
              </a:rPr>
              <a:t>	</a:t>
            </a:r>
            <a:r>
              <a:rPr sz="2500" spc="-10" dirty="0">
                <a:latin typeface="Calibri"/>
                <a:cs typeface="Calibri"/>
              </a:rPr>
              <a:t>da</a:t>
            </a:r>
            <a:r>
              <a:rPr sz="2500" spc="-5" dirty="0">
                <a:latin typeface="Calibri"/>
                <a:cs typeface="Calibri"/>
              </a:rPr>
              <a:t>n</a:t>
            </a:r>
            <a:r>
              <a:rPr sz="2500" dirty="0">
                <a:latin typeface="Calibri"/>
                <a:cs typeface="Calibri"/>
              </a:rPr>
              <a:t>	</a:t>
            </a:r>
            <a:r>
              <a:rPr sz="2500" spc="-10" dirty="0">
                <a:latin typeface="Calibri"/>
                <a:cs typeface="Calibri"/>
              </a:rPr>
              <a:t>hi</a:t>
            </a:r>
            <a:r>
              <a:rPr sz="2500" dirty="0">
                <a:latin typeface="Calibri"/>
                <a:cs typeface="Calibri"/>
              </a:rPr>
              <a:t>m</a:t>
            </a:r>
            <a:r>
              <a:rPr sz="2500" spc="-10" dirty="0">
                <a:latin typeface="Calibri"/>
                <a:cs typeface="Calibri"/>
              </a:rPr>
              <a:t>puna</a:t>
            </a:r>
            <a:r>
              <a:rPr sz="2500" spc="-5" dirty="0">
                <a:latin typeface="Calibri"/>
                <a:cs typeface="Calibri"/>
              </a:rPr>
              <a:t>n</a:t>
            </a:r>
            <a:r>
              <a:rPr sz="2500" dirty="0">
                <a:latin typeface="Calibri"/>
                <a:cs typeface="Calibri"/>
              </a:rPr>
              <a:t>	</a:t>
            </a:r>
            <a:r>
              <a:rPr sz="2500" spc="-5" dirty="0">
                <a:latin typeface="Calibri"/>
                <a:cs typeface="Calibri"/>
              </a:rPr>
              <a:t>B</a:t>
            </a:r>
            <a:r>
              <a:rPr sz="2500" dirty="0">
                <a:latin typeface="Calibri"/>
                <a:cs typeface="Calibri"/>
              </a:rPr>
              <a:t>	</a:t>
            </a:r>
            <a:r>
              <a:rPr sz="2500" spc="-5" dirty="0">
                <a:latin typeface="Calibri"/>
                <a:cs typeface="Calibri"/>
              </a:rPr>
              <a:t>m</a:t>
            </a:r>
            <a:r>
              <a:rPr sz="2500" spc="-15" dirty="0">
                <a:latin typeface="Calibri"/>
                <a:cs typeface="Calibri"/>
              </a:rPr>
              <a:t>e</a:t>
            </a:r>
            <a:r>
              <a:rPr sz="2500" spc="-25" dirty="0">
                <a:latin typeface="Calibri"/>
                <a:cs typeface="Calibri"/>
              </a:rPr>
              <a:t>w</a:t>
            </a:r>
            <a:r>
              <a:rPr sz="2500" spc="-5" dirty="0">
                <a:latin typeface="Calibri"/>
                <a:cs typeface="Calibri"/>
              </a:rPr>
              <a:t>a</a:t>
            </a:r>
            <a:r>
              <a:rPr sz="2500" dirty="0">
                <a:latin typeface="Calibri"/>
                <a:cs typeface="Calibri"/>
              </a:rPr>
              <a:t>k</a:t>
            </a:r>
            <a:r>
              <a:rPr sz="2500" spc="-5" dirty="0">
                <a:latin typeface="Calibri"/>
                <a:cs typeface="Calibri"/>
              </a:rPr>
              <a:t>ili</a:t>
            </a:r>
            <a:endParaRPr sz="2500">
              <a:latin typeface="Calibri"/>
              <a:cs typeface="Calibri"/>
            </a:endParaRPr>
          </a:p>
          <a:p>
            <a:pPr marL="12700" marR="5080">
              <a:lnSpc>
                <a:spcPts val="2400"/>
              </a:lnSpc>
              <a:spcBef>
                <a:spcPts val="280"/>
              </a:spcBef>
              <a:tabLst>
                <a:tab pos="951230" algn="l"/>
                <a:tab pos="2589530" algn="l"/>
                <a:tab pos="4886960" algn="l"/>
                <a:tab pos="5586730" algn="l"/>
                <a:tab pos="6308725" algn="l"/>
              </a:tabLst>
            </a:pPr>
            <a:r>
              <a:rPr sz="2500" spc="-15" dirty="0">
                <a:latin typeface="Calibri"/>
                <a:cs typeface="Calibri"/>
              </a:rPr>
              <a:t>3</a:t>
            </a:r>
            <a:r>
              <a:rPr sz="2500" dirty="0">
                <a:latin typeface="Calibri"/>
                <a:cs typeface="Calibri"/>
              </a:rPr>
              <a:t>.</a:t>
            </a:r>
            <a:r>
              <a:rPr sz="2500" spc="-15" dirty="0">
                <a:latin typeface="Calibri"/>
                <a:cs typeface="Calibri"/>
              </a:rPr>
              <a:t>50</a:t>
            </a:r>
            <a:r>
              <a:rPr sz="2500" spc="-5" dirty="0">
                <a:latin typeface="Calibri"/>
                <a:cs typeface="Calibri"/>
              </a:rPr>
              <a:t>0</a:t>
            </a:r>
            <a:r>
              <a:rPr sz="2500" dirty="0">
                <a:latin typeface="Calibri"/>
                <a:cs typeface="Calibri"/>
              </a:rPr>
              <a:t>	</a:t>
            </a:r>
            <a:r>
              <a:rPr sz="2500" spc="-5" dirty="0">
                <a:latin typeface="Calibri"/>
                <a:cs typeface="Calibri"/>
              </a:rPr>
              <a:t>ma</a:t>
            </a:r>
            <a:r>
              <a:rPr sz="2500" spc="5" dirty="0">
                <a:latin typeface="Calibri"/>
                <a:cs typeface="Calibri"/>
              </a:rPr>
              <a:t>h</a:t>
            </a:r>
            <a:r>
              <a:rPr sz="2500" spc="-5" dirty="0">
                <a:latin typeface="Calibri"/>
                <a:cs typeface="Calibri"/>
              </a:rPr>
              <a:t>asi</a:t>
            </a:r>
            <a:r>
              <a:rPr sz="2500" spc="-20" dirty="0">
                <a:latin typeface="Calibri"/>
                <a:cs typeface="Calibri"/>
              </a:rPr>
              <a:t>s</a:t>
            </a:r>
            <a:r>
              <a:rPr sz="2500" spc="-25" dirty="0">
                <a:latin typeface="Calibri"/>
                <a:cs typeface="Calibri"/>
              </a:rPr>
              <a:t>w</a:t>
            </a:r>
            <a:r>
              <a:rPr sz="2500" spc="-5" dirty="0">
                <a:latin typeface="Calibri"/>
                <a:cs typeface="Calibri"/>
              </a:rPr>
              <a:t>a</a:t>
            </a:r>
            <a:r>
              <a:rPr sz="2500" dirty="0">
                <a:latin typeface="Calibri"/>
                <a:cs typeface="Calibri"/>
              </a:rPr>
              <a:t>	</a:t>
            </a:r>
            <a:r>
              <a:rPr sz="2500" spc="-10" dirty="0">
                <a:latin typeface="Calibri"/>
                <a:cs typeface="Calibri"/>
              </a:rPr>
              <a:t>pu</a:t>
            </a:r>
            <a:r>
              <a:rPr sz="2500" spc="5" dirty="0">
                <a:latin typeface="Calibri"/>
                <a:cs typeface="Calibri"/>
              </a:rPr>
              <a:t>t</a:t>
            </a:r>
            <a:r>
              <a:rPr sz="2500" spc="-5" dirty="0">
                <a:latin typeface="Calibri"/>
                <a:cs typeface="Calibri"/>
              </a:rPr>
              <a:t>r</a:t>
            </a:r>
            <a:r>
              <a:rPr sz="2500" dirty="0">
                <a:latin typeface="Calibri"/>
                <a:cs typeface="Calibri"/>
              </a:rPr>
              <a:t>i.</a:t>
            </a:r>
            <a:r>
              <a:rPr sz="2500" spc="-10" dirty="0">
                <a:latin typeface="Calibri"/>
                <a:cs typeface="Calibri"/>
              </a:rPr>
              <a:t>sedang</a:t>
            </a:r>
            <a:r>
              <a:rPr sz="2500" spc="-50" dirty="0">
                <a:latin typeface="Calibri"/>
                <a:cs typeface="Calibri"/>
              </a:rPr>
              <a:t>k</a:t>
            </a:r>
            <a:r>
              <a:rPr sz="2500" spc="-5" dirty="0">
                <a:latin typeface="Calibri"/>
                <a:cs typeface="Calibri"/>
              </a:rPr>
              <a:t>an</a:t>
            </a:r>
            <a:r>
              <a:rPr sz="2500" dirty="0">
                <a:latin typeface="Calibri"/>
                <a:cs typeface="Calibri"/>
              </a:rPr>
              <a:t>	</a:t>
            </a:r>
            <a:r>
              <a:rPr sz="2500" spc="-15" dirty="0">
                <a:latin typeface="Calibri"/>
                <a:cs typeface="Calibri"/>
              </a:rPr>
              <a:t>80</a:t>
            </a:r>
            <a:r>
              <a:rPr sz="2500" spc="-5" dirty="0">
                <a:latin typeface="Calibri"/>
                <a:cs typeface="Calibri"/>
              </a:rPr>
              <a:t>0</a:t>
            </a:r>
            <a:r>
              <a:rPr sz="2500" dirty="0">
                <a:latin typeface="Calibri"/>
                <a:cs typeface="Calibri"/>
              </a:rPr>
              <a:t>	</a:t>
            </a:r>
            <a:r>
              <a:rPr sz="2500" spc="-10" dirty="0">
                <a:latin typeface="Calibri"/>
                <a:cs typeface="Calibri"/>
              </a:rPr>
              <a:t>da</a:t>
            </a:r>
            <a:r>
              <a:rPr sz="2500" spc="10" dirty="0">
                <a:latin typeface="Calibri"/>
                <a:cs typeface="Calibri"/>
              </a:rPr>
              <a:t>r</a:t>
            </a:r>
            <a:r>
              <a:rPr sz="2500" spc="-5" dirty="0">
                <a:latin typeface="Calibri"/>
                <a:cs typeface="Calibri"/>
              </a:rPr>
              <a:t>i</a:t>
            </a:r>
            <a:r>
              <a:rPr sz="2500" dirty="0">
                <a:latin typeface="Calibri"/>
                <a:cs typeface="Calibri"/>
              </a:rPr>
              <a:t>	</a:t>
            </a:r>
            <a:r>
              <a:rPr sz="2500" spc="-15" dirty="0">
                <a:latin typeface="Calibri"/>
                <a:cs typeface="Calibri"/>
              </a:rPr>
              <a:t>3</a:t>
            </a:r>
            <a:r>
              <a:rPr sz="2500" dirty="0">
                <a:latin typeface="Calibri"/>
                <a:cs typeface="Calibri"/>
              </a:rPr>
              <a:t>.</a:t>
            </a:r>
            <a:r>
              <a:rPr sz="2500" spc="-15" dirty="0">
                <a:latin typeface="Calibri"/>
                <a:cs typeface="Calibri"/>
              </a:rPr>
              <a:t>500  </a:t>
            </a:r>
            <a:r>
              <a:rPr sz="2500" spc="-10" dirty="0">
                <a:latin typeface="Calibri"/>
                <a:cs typeface="Calibri"/>
              </a:rPr>
              <a:t>mahasiswa putri merupakan mahasiswa</a:t>
            </a:r>
            <a:r>
              <a:rPr sz="2500" spc="95" dirty="0">
                <a:latin typeface="Calibri"/>
                <a:cs typeface="Calibri"/>
              </a:rPr>
              <a:t> </a:t>
            </a:r>
            <a:r>
              <a:rPr sz="2500" spc="-5" dirty="0">
                <a:latin typeface="Calibri"/>
                <a:cs typeface="Calibri"/>
              </a:rPr>
              <a:t>lama.</a:t>
            </a:r>
            <a:endParaRPr sz="2500">
              <a:latin typeface="Calibri"/>
              <a:cs typeface="Calibri"/>
            </a:endParaRPr>
          </a:p>
          <a:p>
            <a:pPr>
              <a:lnSpc>
                <a:spcPct val="100000"/>
              </a:lnSpc>
            </a:pPr>
            <a:endParaRPr sz="2950">
              <a:latin typeface="Calibri"/>
              <a:cs typeface="Calibri"/>
            </a:endParaRPr>
          </a:p>
          <a:p>
            <a:pPr marL="12700" marR="6985">
              <a:lnSpc>
                <a:spcPts val="2400"/>
              </a:lnSpc>
              <a:tabLst>
                <a:tab pos="1080770" algn="l"/>
                <a:tab pos="2766695" algn="l"/>
                <a:tab pos="4348480" algn="l"/>
                <a:tab pos="5141595" algn="l"/>
                <a:tab pos="6258560" algn="l"/>
              </a:tabLst>
            </a:pPr>
            <a:r>
              <a:rPr sz="2500" spc="-5" dirty="0">
                <a:latin typeface="Calibri"/>
                <a:cs typeface="Calibri"/>
              </a:rPr>
              <a:t>Be</a:t>
            </a:r>
            <a:r>
              <a:rPr sz="2500" spc="-45" dirty="0">
                <a:latin typeface="Calibri"/>
                <a:cs typeface="Calibri"/>
              </a:rPr>
              <a:t>r</a:t>
            </a:r>
            <a:r>
              <a:rPr sz="2500" spc="-5" dirty="0">
                <a:latin typeface="Calibri"/>
                <a:cs typeface="Calibri"/>
              </a:rPr>
              <a:t>apa</a:t>
            </a:r>
            <a:r>
              <a:rPr sz="2500" dirty="0">
                <a:latin typeface="Calibri"/>
                <a:cs typeface="Calibri"/>
              </a:rPr>
              <a:t>	</a:t>
            </a:r>
            <a:r>
              <a:rPr sz="2500" spc="-10" dirty="0">
                <a:latin typeface="Calibri"/>
                <a:cs typeface="Calibri"/>
              </a:rPr>
              <a:t>p</a:t>
            </a:r>
            <a:r>
              <a:rPr sz="2500" spc="-40" dirty="0">
                <a:latin typeface="Calibri"/>
                <a:cs typeface="Calibri"/>
              </a:rPr>
              <a:t>r</a:t>
            </a:r>
            <a:r>
              <a:rPr sz="2500" spc="-10" dirty="0">
                <a:latin typeface="Calibri"/>
                <a:cs typeface="Calibri"/>
              </a:rPr>
              <a:t>obabi</a:t>
            </a:r>
            <a:r>
              <a:rPr sz="2500" spc="-5" dirty="0">
                <a:latin typeface="Calibri"/>
                <a:cs typeface="Calibri"/>
              </a:rPr>
              <a:t>li</a:t>
            </a:r>
            <a:r>
              <a:rPr sz="2500" spc="-35" dirty="0">
                <a:latin typeface="Calibri"/>
                <a:cs typeface="Calibri"/>
              </a:rPr>
              <a:t>t</a:t>
            </a:r>
            <a:r>
              <a:rPr sz="2500" spc="-5" dirty="0">
                <a:latin typeface="Calibri"/>
                <a:cs typeface="Calibri"/>
              </a:rPr>
              <a:t>as</a:t>
            </a:r>
            <a:r>
              <a:rPr sz="2500" dirty="0">
                <a:latin typeface="Calibri"/>
                <a:cs typeface="Calibri"/>
              </a:rPr>
              <a:t>	m</a:t>
            </a:r>
            <a:r>
              <a:rPr sz="2500" spc="-5" dirty="0">
                <a:latin typeface="Calibri"/>
                <a:cs typeface="Calibri"/>
              </a:rPr>
              <a:t>ahasi</a:t>
            </a:r>
            <a:r>
              <a:rPr sz="2500" spc="-20" dirty="0">
                <a:latin typeface="Calibri"/>
                <a:cs typeface="Calibri"/>
              </a:rPr>
              <a:t>s</a:t>
            </a:r>
            <a:r>
              <a:rPr sz="2500" spc="-25" dirty="0">
                <a:latin typeface="Calibri"/>
                <a:cs typeface="Calibri"/>
              </a:rPr>
              <a:t>w</a:t>
            </a:r>
            <a:r>
              <a:rPr sz="2500" spc="-5" dirty="0">
                <a:latin typeface="Calibri"/>
                <a:cs typeface="Calibri"/>
              </a:rPr>
              <a:t>a</a:t>
            </a:r>
            <a:r>
              <a:rPr sz="2500" dirty="0">
                <a:latin typeface="Calibri"/>
                <a:cs typeface="Calibri"/>
              </a:rPr>
              <a:t>	</a:t>
            </a:r>
            <a:r>
              <a:rPr sz="2500" spc="-5" dirty="0">
                <a:latin typeface="Calibri"/>
                <a:cs typeface="Calibri"/>
              </a:rPr>
              <a:t>lama</a:t>
            </a:r>
            <a:r>
              <a:rPr sz="2500" dirty="0">
                <a:latin typeface="Calibri"/>
                <a:cs typeface="Calibri"/>
              </a:rPr>
              <a:t>	</a:t>
            </a:r>
            <a:r>
              <a:rPr sz="2500" spc="-10" dirty="0">
                <a:latin typeface="Calibri"/>
                <a:cs typeface="Calibri"/>
              </a:rPr>
              <a:t>d</a:t>
            </a:r>
            <a:r>
              <a:rPr sz="2500" spc="5" dirty="0">
                <a:latin typeface="Calibri"/>
                <a:cs typeface="Calibri"/>
              </a:rPr>
              <a:t>e</a:t>
            </a:r>
            <a:r>
              <a:rPr sz="2500" spc="-10" dirty="0">
                <a:latin typeface="Calibri"/>
                <a:cs typeface="Calibri"/>
              </a:rPr>
              <a:t>n</a:t>
            </a:r>
            <a:r>
              <a:rPr sz="2500" spc="-60" dirty="0">
                <a:latin typeface="Calibri"/>
                <a:cs typeface="Calibri"/>
              </a:rPr>
              <a:t>g</a:t>
            </a:r>
            <a:r>
              <a:rPr sz="2500" spc="-5" dirty="0">
                <a:latin typeface="Calibri"/>
                <a:cs typeface="Calibri"/>
              </a:rPr>
              <a:t>an</a:t>
            </a:r>
            <a:r>
              <a:rPr sz="2500" dirty="0">
                <a:latin typeface="Calibri"/>
                <a:cs typeface="Calibri"/>
              </a:rPr>
              <a:t>	</a:t>
            </a:r>
            <a:r>
              <a:rPr sz="2500" spc="-60" dirty="0">
                <a:latin typeface="Calibri"/>
                <a:cs typeface="Calibri"/>
              </a:rPr>
              <a:t>s</a:t>
            </a:r>
            <a:r>
              <a:rPr sz="2500" spc="-45" dirty="0">
                <a:latin typeface="Calibri"/>
                <a:cs typeface="Calibri"/>
              </a:rPr>
              <a:t>y</a:t>
            </a:r>
            <a:r>
              <a:rPr sz="2500" spc="-5" dirty="0">
                <a:latin typeface="Calibri"/>
                <a:cs typeface="Calibri"/>
              </a:rPr>
              <a:t>a</a:t>
            </a:r>
            <a:r>
              <a:rPr sz="2500" spc="-45" dirty="0">
                <a:latin typeface="Calibri"/>
                <a:cs typeface="Calibri"/>
              </a:rPr>
              <a:t>r</a:t>
            </a:r>
            <a:r>
              <a:rPr sz="2500" spc="-25" dirty="0">
                <a:latin typeface="Calibri"/>
                <a:cs typeface="Calibri"/>
              </a:rPr>
              <a:t>a</a:t>
            </a:r>
            <a:r>
              <a:rPr sz="2500" spc="-5" dirty="0">
                <a:latin typeface="Calibri"/>
                <a:cs typeface="Calibri"/>
              </a:rPr>
              <a:t>t  </a:t>
            </a:r>
            <a:r>
              <a:rPr sz="2500" spc="-10" dirty="0">
                <a:latin typeface="Calibri"/>
                <a:cs typeface="Calibri"/>
              </a:rPr>
              <a:t>putri?</a:t>
            </a:r>
            <a:endParaRPr sz="2500">
              <a:latin typeface="Calibri"/>
              <a:cs typeface="Calibri"/>
            </a:endParaRPr>
          </a:p>
        </p:txBody>
      </p:sp>
      <p:sp>
        <p:nvSpPr>
          <p:cNvPr id="4" name="object 4"/>
          <p:cNvSpPr txBox="1"/>
          <p:nvPr/>
        </p:nvSpPr>
        <p:spPr>
          <a:xfrm>
            <a:off x="2637282" y="3725672"/>
            <a:ext cx="1091565" cy="40640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2500" spc="-10" dirty="0">
                <a:latin typeface="Calibri"/>
                <a:cs typeface="Calibri"/>
              </a:rPr>
              <a:t>P(A/B)</a:t>
            </a:r>
            <a:r>
              <a:rPr sz="2500" spc="-40" dirty="0">
                <a:latin typeface="Calibri"/>
                <a:cs typeface="Calibri"/>
              </a:rPr>
              <a:t> </a:t>
            </a:r>
            <a:r>
              <a:rPr sz="2500" spc="-5" dirty="0">
                <a:latin typeface="Calibri"/>
                <a:cs typeface="Calibri"/>
              </a:rPr>
              <a:t>=</a:t>
            </a:r>
            <a:endParaRPr sz="2500">
              <a:latin typeface="Calibri"/>
              <a:cs typeface="Calibri"/>
            </a:endParaRPr>
          </a:p>
        </p:txBody>
      </p:sp>
      <p:sp>
        <p:nvSpPr>
          <p:cNvPr id="5" name="object 5"/>
          <p:cNvSpPr/>
          <p:nvPr/>
        </p:nvSpPr>
        <p:spPr>
          <a:xfrm>
            <a:off x="3716274" y="3696080"/>
            <a:ext cx="824865" cy="279400"/>
          </a:xfrm>
          <a:custGeom>
            <a:avLst/>
            <a:gdLst/>
            <a:ahLst/>
            <a:cxnLst/>
            <a:rect l="l" t="t" r="r" b="b"/>
            <a:pathLst>
              <a:path w="824864" h="279400">
                <a:moveTo>
                  <a:pt x="247396" y="8763"/>
                </a:moveTo>
                <a:lnTo>
                  <a:pt x="244348" y="0"/>
                </a:lnTo>
                <a:lnTo>
                  <a:pt x="228739" y="5651"/>
                </a:lnTo>
                <a:lnTo>
                  <a:pt x="215087" y="13804"/>
                </a:lnTo>
                <a:lnTo>
                  <a:pt x="185801" y="52819"/>
                </a:lnTo>
                <a:lnTo>
                  <a:pt x="175895" y="107442"/>
                </a:lnTo>
                <a:lnTo>
                  <a:pt x="176987" y="127088"/>
                </a:lnTo>
                <a:lnTo>
                  <a:pt x="193548" y="177165"/>
                </a:lnTo>
                <a:lnTo>
                  <a:pt x="228727" y="209016"/>
                </a:lnTo>
                <a:lnTo>
                  <a:pt x="244348" y="214630"/>
                </a:lnTo>
                <a:lnTo>
                  <a:pt x="247015" y="205867"/>
                </a:lnTo>
                <a:lnTo>
                  <a:pt x="234797" y="200494"/>
                </a:lnTo>
                <a:lnTo>
                  <a:pt x="224243" y="192951"/>
                </a:lnTo>
                <a:lnTo>
                  <a:pt x="202577" y="157797"/>
                </a:lnTo>
                <a:lnTo>
                  <a:pt x="195453" y="106299"/>
                </a:lnTo>
                <a:lnTo>
                  <a:pt x="196240" y="87972"/>
                </a:lnTo>
                <a:lnTo>
                  <a:pt x="208153" y="42799"/>
                </a:lnTo>
                <a:lnTo>
                  <a:pt x="235013" y="14173"/>
                </a:lnTo>
                <a:lnTo>
                  <a:pt x="247396" y="8763"/>
                </a:lnTo>
                <a:close/>
              </a:path>
              <a:path w="824864" h="279400">
                <a:moveTo>
                  <a:pt x="804291" y="107442"/>
                </a:moveTo>
                <a:lnTo>
                  <a:pt x="799884" y="69519"/>
                </a:lnTo>
                <a:lnTo>
                  <a:pt x="776820" y="24460"/>
                </a:lnTo>
                <a:lnTo>
                  <a:pt x="735838" y="0"/>
                </a:lnTo>
                <a:lnTo>
                  <a:pt x="732790" y="8763"/>
                </a:lnTo>
                <a:lnTo>
                  <a:pt x="745236" y="14173"/>
                </a:lnTo>
                <a:lnTo>
                  <a:pt x="755929" y="21640"/>
                </a:lnTo>
                <a:lnTo>
                  <a:pt x="777595" y="56210"/>
                </a:lnTo>
                <a:lnTo>
                  <a:pt x="784733" y="106299"/>
                </a:lnTo>
                <a:lnTo>
                  <a:pt x="783932" y="125183"/>
                </a:lnTo>
                <a:lnTo>
                  <a:pt x="772033" y="171450"/>
                </a:lnTo>
                <a:lnTo>
                  <a:pt x="745375" y="200494"/>
                </a:lnTo>
                <a:lnTo>
                  <a:pt x="733171" y="205867"/>
                </a:lnTo>
                <a:lnTo>
                  <a:pt x="735838" y="214630"/>
                </a:lnTo>
                <a:lnTo>
                  <a:pt x="776871" y="190296"/>
                </a:lnTo>
                <a:lnTo>
                  <a:pt x="799884" y="145262"/>
                </a:lnTo>
                <a:lnTo>
                  <a:pt x="803186" y="127088"/>
                </a:lnTo>
                <a:lnTo>
                  <a:pt x="804291" y="107442"/>
                </a:lnTo>
                <a:close/>
              </a:path>
              <a:path w="824864" h="279400">
                <a:moveTo>
                  <a:pt x="824484" y="257937"/>
                </a:moveTo>
                <a:lnTo>
                  <a:pt x="0" y="257937"/>
                </a:lnTo>
                <a:lnTo>
                  <a:pt x="0" y="279273"/>
                </a:lnTo>
                <a:lnTo>
                  <a:pt x="824484" y="279273"/>
                </a:lnTo>
                <a:lnTo>
                  <a:pt x="824484" y="257937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6" name="object 6"/>
          <p:cNvSpPr/>
          <p:nvPr/>
        </p:nvSpPr>
        <p:spPr>
          <a:xfrm>
            <a:off x="4953761" y="3954017"/>
            <a:ext cx="533400" cy="21590"/>
          </a:xfrm>
          <a:custGeom>
            <a:avLst/>
            <a:gdLst/>
            <a:ahLst/>
            <a:cxnLst/>
            <a:rect l="l" t="t" r="r" b="b"/>
            <a:pathLst>
              <a:path w="533400" h="21589">
                <a:moveTo>
                  <a:pt x="533400" y="0"/>
                </a:moveTo>
                <a:lnTo>
                  <a:pt x="0" y="0"/>
                </a:lnTo>
                <a:lnTo>
                  <a:pt x="0" y="21335"/>
                </a:lnTo>
                <a:lnTo>
                  <a:pt x="533400" y="21335"/>
                </a:lnTo>
                <a:lnTo>
                  <a:pt x="533400" y="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7" name="object 7"/>
          <p:cNvSpPr txBox="1"/>
          <p:nvPr/>
        </p:nvSpPr>
        <p:spPr>
          <a:xfrm>
            <a:off x="3704335" y="3625088"/>
            <a:ext cx="1731010" cy="303530"/>
          </a:xfrm>
          <a:prstGeom prst="rect">
            <a:avLst/>
          </a:prstGeom>
        </p:spPr>
        <p:txBody>
          <a:bodyPr vert="horz" wrap="square" lIns="0" tIns="1587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25"/>
              </a:spcBef>
              <a:tabLst>
                <a:tab pos="1315085" algn="l"/>
              </a:tabLst>
            </a:pPr>
            <a:r>
              <a:rPr sz="1800" spc="100" dirty="0">
                <a:latin typeface="Cambria Math"/>
                <a:cs typeface="Cambria Math"/>
              </a:rPr>
              <a:t>𝑃 </a:t>
            </a:r>
            <a:r>
              <a:rPr sz="1800" spc="5" dirty="0">
                <a:latin typeface="Cambria Math"/>
                <a:cs typeface="Cambria Math"/>
              </a:rPr>
              <a:t> </a:t>
            </a:r>
            <a:r>
              <a:rPr sz="1800" spc="120" dirty="0">
                <a:latin typeface="Cambria Math"/>
                <a:cs typeface="Cambria Math"/>
              </a:rPr>
              <a:t>𝐴</a:t>
            </a:r>
            <a:r>
              <a:rPr sz="1800" spc="20" dirty="0">
                <a:latin typeface="Cambria Math"/>
                <a:cs typeface="Cambria Math"/>
              </a:rPr>
              <a:t>∩</a:t>
            </a:r>
            <a:r>
              <a:rPr sz="1800" spc="85" dirty="0">
                <a:latin typeface="Cambria Math"/>
                <a:cs typeface="Cambria Math"/>
              </a:rPr>
              <a:t>𝐵</a:t>
            </a:r>
            <a:r>
              <a:rPr sz="1800" dirty="0">
                <a:latin typeface="Cambria Math"/>
                <a:cs typeface="Cambria Math"/>
              </a:rPr>
              <a:t>	</a:t>
            </a:r>
            <a:r>
              <a:rPr sz="1800" spc="55" dirty="0">
                <a:latin typeface="Cambria Math"/>
                <a:cs typeface="Cambria Math"/>
              </a:rPr>
              <a:t>800</a:t>
            </a:r>
            <a:endParaRPr sz="1800">
              <a:latin typeface="Cambria Math"/>
              <a:cs typeface="Cambria Math"/>
            </a:endParaRPr>
          </a:p>
        </p:txBody>
      </p:sp>
      <p:sp>
        <p:nvSpPr>
          <p:cNvPr id="8" name="object 8"/>
          <p:cNvSpPr txBox="1"/>
          <p:nvPr/>
        </p:nvSpPr>
        <p:spPr>
          <a:xfrm>
            <a:off x="3859784" y="3971035"/>
            <a:ext cx="1642745" cy="303530"/>
          </a:xfrm>
          <a:prstGeom prst="rect">
            <a:avLst/>
          </a:prstGeom>
        </p:spPr>
        <p:txBody>
          <a:bodyPr vert="horz" wrap="square" lIns="0" tIns="1587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25"/>
              </a:spcBef>
              <a:tabLst>
                <a:tab pos="1094105" algn="l"/>
              </a:tabLst>
            </a:pPr>
            <a:r>
              <a:rPr sz="1800" spc="140" dirty="0">
                <a:latin typeface="Cambria Math"/>
                <a:cs typeface="Cambria Math"/>
              </a:rPr>
              <a:t>𝑃</a:t>
            </a:r>
            <a:r>
              <a:rPr sz="1800" spc="5" dirty="0">
                <a:latin typeface="Cambria Math"/>
                <a:cs typeface="Cambria Math"/>
              </a:rPr>
              <a:t>(</a:t>
            </a:r>
            <a:r>
              <a:rPr sz="1800" spc="140" dirty="0">
                <a:latin typeface="Cambria Math"/>
                <a:cs typeface="Cambria Math"/>
              </a:rPr>
              <a:t>𝐵</a:t>
            </a:r>
            <a:r>
              <a:rPr sz="1800" spc="10" dirty="0">
                <a:latin typeface="Cambria Math"/>
                <a:cs typeface="Cambria Math"/>
              </a:rPr>
              <a:t>)</a:t>
            </a:r>
            <a:r>
              <a:rPr sz="1800" dirty="0">
                <a:latin typeface="Cambria Math"/>
                <a:cs typeface="Cambria Math"/>
              </a:rPr>
              <a:t>	</a:t>
            </a:r>
            <a:r>
              <a:rPr sz="1800" spc="55" dirty="0">
                <a:latin typeface="Cambria Math"/>
                <a:cs typeface="Cambria Math"/>
              </a:rPr>
              <a:t>35</a:t>
            </a:r>
            <a:r>
              <a:rPr sz="1800" spc="40" dirty="0">
                <a:latin typeface="Cambria Math"/>
                <a:cs typeface="Cambria Math"/>
              </a:rPr>
              <a:t>0</a:t>
            </a:r>
            <a:r>
              <a:rPr sz="1800" spc="55" dirty="0">
                <a:latin typeface="Cambria Math"/>
                <a:cs typeface="Cambria Math"/>
              </a:rPr>
              <a:t>0</a:t>
            </a:r>
            <a:endParaRPr sz="1800">
              <a:latin typeface="Cambria Math"/>
              <a:cs typeface="Cambria Math"/>
            </a:endParaRPr>
          </a:p>
        </p:txBody>
      </p:sp>
      <p:sp>
        <p:nvSpPr>
          <p:cNvPr id="9" name="object 9"/>
          <p:cNvSpPr txBox="1"/>
          <p:nvPr/>
        </p:nvSpPr>
        <p:spPr>
          <a:xfrm>
            <a:off x="4617211" y="3725672"/>
            <a:ext cx="1888489" cy="40640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  <a:tabLst>
                <a:tab pos="956944" algn="l"/>
              </a:tabLst>
            </a:pPr>
            <a:r>
              <a:rPr sz="2500" spc="-5" dirty="0">
                <a:latin typeface="Cambria Math"/>
                <a:cs typeface="Cambria Math"/>
              </a:rPr>
              <a:t>=	=</a:t>
            </a:r>
            <a:r>
              <a:rPr sz="2500" spc="80" dirty="0">
                <a:latin typeface="Cambria Math"/>
                <a:cs typeface="Cambria Math"/>
              </a:rPr>
              <a:t> </a:t>
            </a:r>
            <a:r>
              <a:rPr sz="2500" spc="-10" dirty="0">
                <a:latin typeface="Cambria Math"/>
                <a:cs typeface="Cambria Math"/>
              </a:rPr>
              <a:t>0,23</a:t>
            </a:r>
            <a:endParaRPr sz="2500">
              <a:latin typeface="Cambria Math"/>
              <a:cs typeface="Cambria Math"/>
            </a:endParaRPr>
          </a:p>
        </p:txBody>
      </p:sp>
      <p:sp>
        <p:nvSpPr>
          <p:cNvPr id="10" name="object 10"/>
          <p:cNvSpPr txBox="1"/>
          <p:nvPr/>
        </p:nvSpPr>
        <p:spPr>
          <a:xfrm>
            <a:off x="1050442" y="4591558"/>
            <a:ext cx="7042150" cy="711200"/>
          </a:xfrm>
          <a:prstGeom prst="rect">
            <a:avLst/>
          </a:prstGeom>
        </p:spPr>
        <p:txBody>
          <a:bodyPr vert="horz" wrap="square" lIns="0" tIns="85725" rIns="0" bIns="0" rtlCol="0">
            <a:spAutoFit/>
          </a:bodyPr>
          <a:lstStyle/>
          <a:p>
            <a:pPr marL="12700" marR="5080">
              <a:lnSpc>
                <a:spcPts val="2400"/>
              </a:lnSpc>
              <a:spcBef>
                <a:spcPts val="675"/>
              </a:spcBef>
              <a:tabLst>
                <a:tab pos="1082675" algn="l"/>
                <a:tab pos="2769870" algn="l"/>
                <a:tab pos="4353560" algn="l"/>
                <a:tab pos="5141595" algn="l"/>
                <a:tab pos="6258560" algn="l"/>
              </a:tabLst>
            </a:pPr>
            <a:r>
              <a:rPr sz="2500" spc="-5" dirty="0">
                <a:latin typeface="Calibri"/>
                <a:cs typeface="Calibri"/>
              </a:rPr>
              <a:t>Be</a:t>
            </a:r>
            <a:r>
              <a:rPr sz="2500" spc="-45" dirty="0">
                <a:latin typeface="Calibri"/>
                <a:cs typeface="Calibri"/>
              </a:rPr>
              <a:t>r</a:t>
            </a:r>
            <a:r>
              <a:rPr sz="2500" spc="-5" dirty="0">
                <a:latin typeface="Calibri"/>
                <a:cs typeface="Calibri"/>
              </a:rPr>
              <a:t>apa</a:t>
            </a:r>
            <a:r>
              <a:rPr sz="2500" dirty="0">
                <a:latin typeface="Calibri"/>
                <a:cs typeface="Calibri"/>
              </a:rPr>
              <a:t>	</a:t>
            </a:r>
            <a:r>
              <a:rPr sz="2500" spc="-10" dirty="0">
                <a:latin typeface="Calibri"/>
                <a:cs typeface="Calibri"/>
              </a:rPr>
              <a:t>p</a:t>
            </a:r>
            <a:r>
              <a:rPr sz="2500" spc="-40" dirty="0">
                <a:latin typeface="Calibri"/>
                <a:cs typeface="Calibri"/>
              </a:rPr>
              <a:t>r</a:t>
            </a:r>
            <a:r>
              <a:rPr sz="2500" spc="-10" dirty="0">
                <a:latin typeface="Calibri"/>
                <a:cs typeface="Calibri"/>
              </a:rPr>
              <a:t>obabi</a:t>
            </a:r>
            <a:r>
              <a:rPr sz="2500" spc="-5" dirty="0">
                <a:latin typeface="Calibri"/>
                <a:cs typeface="Calibri"/>
              </a:rPr>
              <a:t>li</a:t>
            </a:r>
            <a:r>
              <a:rPr sz="2500" spc="-35" dirty="0">
                <a:latin typeface="Calibri"/>
                <a:cs typeface="Calibri"/>
              </a:rPr>
              <a:t>t</a:t>
            </a:r>
            <a:r>
              <a:rPr sz="2500" spc="-5" dirty="0">
                <a:latin typeface="Calibri"/>
                <a:cs typeface="Calibri"/>
              </a:rPr>
              <a:t>as</a:t>
            </a:r>
            <a:r>
              <a:rPr sz="2500" dirty="0">
                <a:latin typeface="Calibri"/>
                <a:cs typeface="Calibri"/>
              </a:rPr>
              <a:t>	m</a:t>
            </a:r>
            <a:r>
              <a:rPr sz="2500" spc="-5" dirty="0">
                <a:latin typeface="Calibri"/>
                <a:cs typeface="Calibri"/>
              </a:rPr>
              <a:t>ahasi</a:t>
            </a:r>
            <a:r>
              <a:rPr sz="2500" spc="-20" dirty="0">
                <a:latin typeface="Calibri"/>
                <a:cs typeface="Calibri"/>
              </a:rPr>
              <a:t>s</a:t>
            </a:r>
            <a:r>
              <a:rPr sz="2500" spc="-25" dirty="0">
                <a:latin typeface="Calibri"/>
                <a:cs typeface="Calibri"/>
              </a:rPr>
              <a:t>w</a:t>
            </a:r>
            <a:r>
              <a:rPr sz="2500" spc="-5" dirty="0">
                <a:latin typeface="Calibri"/>
                <a:cs typeface="Calibri"/>
              </a:rPr>
              <a:t>a</a:t>
            </a:r>
            <a:r>
              <a:rPr sz="2500" dirty="0">
                <a:latin typeface="Calibri"/>
                <a:cs typeface="Calibri"/>
              </a:rPr>
              <a:t>	p</a:t>
            </a:r>
            <a:r>
              <a:rPr sz="2500" spc="-10" dirty="0">
                <a:latin typeface="Calibri"/>
                <a:cs typeface="Calibri"/>
              </a:rPr>
              <a:t>utr</a:t>
            </a:r>
            <a:r>
              <a:rPr sz="2500" spc="-5" dirty="0">
                <a:latin typeface="Calibri"/>
                <a:cs typeface="Calibri"/>
              </a:rPr>
              <a:t>i</a:t>
            </a:r>
            <a:r>
              <a:rPr sz="2500" dirty="0">
                <a:latin typeface="Calibri"/>
                <a:cs typeface="Calibri"/>
              </a:rPr>
              <a:t>	</a:t>
            </a:r>
            <a:r>
              <a:rPr sz="2500" spc="-10" dirty="0">
                <a:latin typeface="Calibri"/>
                <a:cs typeface="Calibri"/>
              </a:rPr>
              <a:t>den</a:t>
            </a:r>
            <a:r>
              <a:rPr sz="2500" spc="-55" dirty="0">
                <a:latin typeface="Calibri"/>
                <a:cs typeface="Calibri"/>
              </a:rPr>
              <a:t>g</a:t>
            </a:r>
            <a:r>
              <a:rPr sz="2500" spc="10" dirty="0">
                <a:latin typeface="Calibri"/>
                <a:cs typeface="Calibri"/>
              </a:rPr>
              <a:t>a</a:t>
            </a:r>
            <a:r>
              <a:rPr sz="2500" spc="-5" dirty="0">
                <a:latin typeface="Calibri"/>
                <a:cs typeface="Calibri"/>
              </a:rPr>
              <a:t>n</a:t>
            </a:r>
            <a:r>
              <a:rPr sz="2500" dirty="0">
                <a:latin typeface="Calibri"/>
                <a:cs typeface="Calibri"/>
              </a:rPr>
              <a:t>	</a:t>
            </a:r>
            <a:r>
              <a:rPr sz="2500" spc="-50" dirty="0">
                <a:latin typeface="Calibri"/>
                <a:cs typeface="Calibri"/>
              </a:rPr>
              <a:t>s</a:t>
            </a:r>
            <a:r>
              <a:rPr sz="2500" spc="-45" dirty="0">
                <a:latin typeface="Calibri"/>
                <a:cs typeface="Calibri"/>
              </a:rPr>
              <a:t>y</a:t>
            </a:r>
            <a:r>
              <a:rPr sz="2500" spc="-5" dirty="0">
                <a:latin typeface="Calibri"/>
                <a:cs typeface="Calibri"/>
              </a:rPr>
              <a:t>a</a:t>
            </a:r>
            <a:r>
              <a:rPr sz="2500" spc="-45" dirty="0">
                <a:latin typeface="Calibri"/>
                <a:cs typeface="Calibri"/>
              </a:rPr>
              <a:t>r</a:t>
            </a:r>
            <a:r>
              <a:rPr sz="2500" spc="-25" dirty="0">
                <a:latin typeface="Calibri"/>
                <a:cs typeface="Calibri"/>
              </a:rPr>
              <a:t>a</a:t>
            </a:r>
            <a:r>
              <a:rPr sz="2500" spc="-5" dirty="0">
                <a:latin typeface="Calibri"/>
                <a:cs typeface="Calibri"/>
              </a:rPr>
              <a:t>t  </a:t>
            </a:r>
            <a:r>
              <a:rPr sz="2500" spc="-10" dirty="0">
                <a:latin typeface="Calibri"/>
                <a:cs typeface="Calibri"/>
              </a:rPr>
              <a:t>mahasiswa</a:t>
            </a:r>
            <a:r>
              <a:rPr sz="2500" spc="10" dirty="0">
                <a:latin typeface="Calibri"/>
                <a:cs typeface="Calibri"/>
              </a:rPr>
              <a:t> </a:t>
            </a:r>
            <a:r>
              <a:rPr sz="2500" spc="-5" dirty="0">
                <a:latin typeface="Calibri"/>
                <a:cs typeface="Calibri"/>
              </a:rPr>
              <a:t>lama?</a:t>
            </a:r>
            <a:endParaRPr sz="2500">
              <a:latin typeface="Calibri"/>
              <a:cs typeface="Calibri"/>
            </a:endParaRPr>
          </a:p>
        </p:txBody>
      </p:sp>
      <p:sp>
        <p:nvSpPr>
          <p:cNvPr id="11" name="object 11"/>
          <p:cNvSpPr txBox="1"/>
          <p:nvPr/>
        </p:nvSpPr>
        <p:spPr>
          <a:xfrm>
            <a:off x="2708910" y="5408167"/>
            <a:ext cx="1081405" cy="40640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2500" spc="-20" dirty="0">
                <a:latin typeface="Calibri"/>
                <a:cs typeface="Calibri"/>
              </a:rPr>
              <a:t>P(B/A)</a:t>
            </a:r>
            <a:r>
              <a:rPr sz="2500" spc="-55" dirty="0">
                <a:latin typeface="Calibri"/>
                <a:cs typeface="Calibri"/>
              </a:rPr>
              <a:t> </a:t>
            </a:r>
            <a:r>
              <a:rPr sz="2500" spc="-5" dirty="0">
                <a:latin typeface="Calibri"/>
                <a:cs typeface="Calibri"/>
              </a:rPr>
              <a:t>=</a:t>
            </a:r>
            <a:endParaRPr sz="2500">
              <a:latin typeface="Calibri"/>
              <a:cs typeface="Calibri"/>
            </a:endParaRPr>
          </a:p>
        </p:txBody>
      </p:sp>
      <p:sp>
        <p:nvSpPr>
          <p:cNvPr id="12" name="object 12"/>
          <p:cNvSpPr/>
          <p:nvPr/>
        </p:nvSpPr>
        <p:spPr>
          <a:xfrm>
            <a:off x="3777234" y="5378576"/>
            <a:ext cx="824865" cy="279400"/>
          </a:xfrm>
          <a:custGeom>
            <a:avLst/>
            <a:gdLst/>
            <a:ahLst/>
            <a:cxnLst/>
            <a:rect l="l" t="t" r="r" b="b"/>
            <a:pathLst>
              <a:path w="824864" h="279400">
                <a:moveTo>
                  <a:pt x="245872" y="8763"/>
                </a:moveTo>
                <a:lnTo>
                  <a:pt x="242824" y="0"/>
                </a:lnTo>
                <a:lnTo>
                  <a:pt x="227215" y="5651"/>
                </a:lnTo>
                <a:lnTo>
                  <a:pt x="213563" y="13804"/>
                </a:lnTo>
                <a:lnTo>
                  <a:pt x="184277" y="52819"/>
                </a:lnTo>
                <a:lnTo>
                  <a:pt x="174371" y="107442"/>
                </a:lnTo>
                <a:lnTo>
                  <a:pt x="175463" y="127088"/>
                </a:lnTo>
                <a:lnTo>
                  <a:pt x="192024" y="177165"/>
                </a:lnTo>
                <a:lnTo>
                  <a:pt x="227203" y="209003"/>
                </a:lnTo>
                <a:lnTo>
                  <a:pt x="242824" y="214604"/>
                </a:lnTo>
                <a:lnTo>
                  <a:pt x="245491" y="205867"/>
                </a:lnTo>
                <a:lnTo>
                  <a:pt x="233273" y="200494"/>
                </a:lnTo>
                <a:lnTo>
                  <a:pt x="222719" y="192951"/>
                </a:lnTo>
                <a:lnTo>
                  <a:pt x="201053" y="157797"/>
                </a:lnTo>
                <a:lnTo>
                  <a:pt x="193929" y="106299"/>
                </a:lnTo>
                <a:lnTo>
                  <a:pt x="194716" y="87972"/>
                </a:lnTo>
                <a:lnTo>
                  <a:pt x="206629" y="42799"/>
                </a:lnTo>
                <a:lnTo>
                  <a:pt x="233489" y="14173"/>
                </a:lnTo>
                <a:lnTo>
                  <a:pt x="245872" y="8763"/>
                </a:lnTo>
                <a:close/>
              </a:path>
              <a:path w="824864" h="279400">
                <a:moveTo>
                  <a:pt x="804291" y="107442"/>
                </a:moveTo>
                <a:lnTo>
                  <a:pt x="799884" y="69519"/>
                </a:lnTo>
                <a:lnTo>
                  <a:pt x="776820" y="24460"/>
                </a:lnTo>
                <a:lnTo>
                  <a:pt x="735838" y="0"/>
                </a:lnTo>
                <a:lnTo>
                  <a:pt x="732790" y="8763"/>
                </a:lnTo>
                <a:lnTo>
                  <a:pt x="745236" y="14173"/>
                </a:lnTo>
                <a:lnTo>
                  <a:pt x="755929" y="21640"/>
                </a:lnTo>
                <a:lnTo>
                  <a:pt x="777595" y="56210"/>
                </a:lnTo>
                <a:lnTo>
                  <a:pt x="784733" y="106299"/>
                </a:lnTo>
                <a:lnTo>
                  <a:pt x="783932" y="125183"/>
                </a:lnTo>
                <a:lnTo>
                  <a:pt x="772033" y="171450"/>
                </a:lnTo>
                <a:lnTo>
                  <a:pt x="745375" y="200494"/>
                </a:lnTo>
                <a:lnTo>
                  <a:pt x="733171" y="205867"/>
                </a:lnTo>
                <a:lnTo>
                  <a:pt x="735838" y="214604"/>
                </a:lnTo>
                <a:lnTo>
                  <a:pt x="776871" y="190296"/>
                </a:lnTo>
                <a:lnTo>
                  <a:pt x="799884" y="145262"/>
                </a:lnTo>
                <a:lnTo>
                  <a:pt x="803186" y="127088"/>
                </a:lnTo>
                <a:lnTo>
                  <a:pt x="804291" y="107442"/>
                </a:lnTo>
                <a:close/>
              </a:path>
              <a:path w="824864" h="279400">
                <a:moveTo>
                  <a:pt x="824484" y="257975"/>
                </a:moveTo>
                <a:lnTo>
                  <a:pt x="0" y="257975"/>
                </a:lnTo>
                <a:lnTo>
                  <a:pt x="0" y="279311"/>
                </a:lnTo>
                <a:lnTo>
                  <a:pt x="824484" y="279311"/>
                </a:lnTo>
                <a:lnTo>
                  <a:pt x="824484" y="257975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3" name="object 13"/>
          <p:cNvSpPr/>
          <p:nvPr/>
        </p:nvSpPr>
        <p:spPr>
          <a:xfrm>
            <a:off x="4111625" y="5724562"/>
            <a:ext cx="307340" cy="214629"/>
          </a:xfrm>
          <a:custGeom>
            <a:avLst/>
            <a:gdLst/>
            <a:ahLst/>
            <a:cxnLst/>
            <a:rect l="l" t="t" r="r" b="b"/>
            <a:pathLst>
              <a:path w="307339" h="214629">
                <a:moveTo>
                  <a:pt x="238378" y="0"/>
                </a:moveTo>
                <a:lnTo>
                  <a:pt x="235330" y="8712"/>
                </a:lnTo>
                <a:lnTo>
                  <a:pt x="247784" y="14100"/>
                </a:lnTo>
                <a:lnTo>
                  <a:pt x="258476" y="21561"/>
                </a:lnTo>
                <a:lnTo>
                  <a:pt x="280148" y="56146"/>
                </a:lnTo>
                <a:lnTo>
                  <a:pt x="287274" y="106210"/>
                </a:lnTo>
                <a:lnTo>
                  <a:pt x="286486" y="125133"/>
                </a:lnTo>
                <a:lnTo>
                  <a:pt x="274574" y="171475"/>
                </a:lnTo>
                <a:lnTo>
                  <a:pt x="247927" y="200441"/>
                </a:lnTo>
                <a:lnTo>
                  <a:pt x="235712" y="205854"/>
                </a:lnTo>
                <a:lnTo>
                  <a:pt x="238378" y="214566"/>
                </a:lnTo>
                <a:lnTo>
                  <a:pt x="279419" y="190213"/>
                </a:lnTo>
                <a:lnTo>
                  <a:pt x="302434" y="145251"/>
                </a:lnTo>
                <a:lnTo>
                  <a:pt x="306832" y="107340"/>
                </a:lnTo>
                <a:lnTo>
                  <a:pt x="305734" y="87671"/>
                </a:lnTo>
                <a:lnTo>
                  <a:pt x="289178" y="37604"/>
                </a:lnTo>
                <a:lnTo>
                  <a:pt x="253978" y="5614"/>
                </a:lnTo>
                <a:lnTo>
                  <a:pt x="238378" y="0"/>
                </a:lnTo>
                <a:close/>
              </a:path>
              <a:path w="307339" h="214629">
                <a:moveTo>
                  <a:pt x="68452" y="0"/>
                </a:moveTo>
                <a:lnTo>
                  <a:pt x="27465" y="24417"/>
                </a:lnTo>
                <a:lnTo>
                  <a:pt x="4397" y="69491"/>
                </a:lnTo>
                <a:lnTo>
                  <a:pt x="0" y="107340"/>
                </a:lnTo>
                <a:lnTo>
                  <a:pt x="1097" y="127057"/>
                </a:lnTo>
                <a:lnTo>
                  <a:pt x="17652" y="177076"/>
                </a:lnTo>
                <a:lnTo>
                  <a:pt x="52835" y="208958"/>
                </a:lnTo>
                <a:lnTo>
                  <a:pt x="68452" y="214566"/>
                </a:lnTo>
                <a:lnTo>
                  <a:pt x="71120" y="205854"/>
                </a:lnTo>
                <a:lnTo>
                  <a:pt x="58904" y="200441"/>
                </a:lnTo>
                <a:lnTo>
                  <a:pt x="48355" y="192908"/>
                </a:lnTo>
                <a:lnTo>
                  <a:pt x="26683" y="157766"/>
                </a:lnTo>
                <a:lnTo>
                  <a:pt x="19558" y="106210"/>
                </a:lnTo>
                <a:lnTo>
                  <a:pt x="20345" y="87903"/>
                </a:lnTo>
                <a:lnTo>
                  <a:pt x="32258" y="42697"/>
                </a:lnTo>
                <a:lnTo>
                  <a:pt x="59118" y="14100"/>
                </a:lnTo>
                <a:lnTo>
                  <a:pt x="71500" y="8712"/>
                </a:lnTo>
                <a:lnTo>
                  <a:pt x="68452" y="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4" name="object 14"/>
          <p:cNvSpPr/>
          <p:nvPr/>
        </p:nvSpPr>
        <p:spPr>
          <a:xfrm>
            <a:off x="5013197" y="5636552"/>
            <a:ext cx="401320" cy="21590"/>
          </a:xfrm>
          <a:custGeom>
            <a:avLst/>
            <a:gdLst/>
            <a:ahLst/>
            <a:cxnLst/>
            <a:rect l="l" t="t" r="r" b="b"/>
            <a:pathLst>
              <a:path w="401320" h="21589">
                <a:moveTo>
                  <a:pt x="400812" y="0"/>
                </a:moveTo>
                <a:lnTo>
                  <a:pt x="0" y="0"/>
                </a:lnTo>
                <a:lnTo>
                  <a:pt x="0" y="21336"/>
                </a:lnTo>
                <a:lnTo>
                  <a:pt x="400812" y="21336"/>
                </a:lnTo>
                <a:lnTo>
                  <a:pt x="400812" y="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5" name="object 15"/>
          <p:cNvSpPr txBox="1"/>
          <p:nvPr/>
        </p:nvSpPr>
        <p:spPr>
          <a:xfrm>
            <a:off x="3765296" y="5307838"/>
            <a:ext cx="1663700" cy="303530"/>
          </a:xfrm>
          <a:prstGeom prst="rect">
            <a:avLst/>
          </a:prstGeom>
        </p:spPr>
        <p:txBody>
          <a:bodyPr vert="horz" wrap="square" lIns="0" tIns="1524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20"/>
              </a:spcBef>
              <a:tabLst>
                <a:tab pos="1248410" algn="l"/>
              </a:tabLst>
            </a:pPr>
            <a:r>
              <a:rPr sz="1800" spc="100" dirty="0">
                <a:latin typeface="Cambria Math"/>
                <a:cs typeface="Cambria Math"/>
              </a:rPr>
              <a:t>𝑃 </a:t>
            </a:r>
            <a:r>
              <a:rPr sz="1800" spc="-5" dirty="0">
                <a:latin typeface="Cambria Math"/>
                <a:cs typeface="Cambria Math"/>
              </a:rPr>
              <a:t> </a:t>
            </a:r>
            <a:r>
              <a:rPr sz="1800" spc="130" dirty="0">
                <a:latin typeface="Cambria Math"/>
                <a:cs typeface="Cambria Math"/>
              </a:rPr>
              <a:t>𝐴</a:t>
            </a:r>
            <a:r>
              <a:rPr sz="1800" spc="20" dirty="0">
                <a:latin typeface="Cambria Math"/>
                <a:cs typeface="Cambria Math"/>
              </a:rPr>
              <a:t>∩</a:t>
            </a:r>
            <a:r>
              <a:rPr sz="1800" spc="85" dirty="0">
                <a:latin typeface="Cambria Math"/>
                <a:cs typeface="Cambria Math"/>
              </a:rPr>
              <a:t>𝐵</a:t>
            </a:r>
            <a:r>
              <a:rPr sz="1800" dirty="0">
                <a:latin typeface="Cambria Math"/>
                <a:cs typeface="Cambria Math"/>
              </a:rPr>
              <a:t>	</a:t>
            </a:r>
            <a:r>
              <a:rPr sz="1800" spc="55" dirty="0">
                <a:latin typeface="Cambria Math"/>
                <a:cs typeface="Cambria Math"/>
              </a:rPr>
              <a:t>800</a:t>
            </a:r>
            <a:endParaRPr sz="1800">
              <a:latin typeface="Cambria Math"/>
              <a:cs typeface="Cambria Math"/>
            </a:endParaRPr>
          </a:p>
        </p:txBody>
      </p:sp>
      <p:sp>
        <p:nvSpPr>
          <p:cNvPr id="16" name="object 16"/>
          <p:cNvSpPr txBox="1"/>
          <p:nvPr/>
        </p:nvSpPr>
        <p:spPr>
          <a:xfrm>
            <a:off x="3925315" y="5653532"/>
            <a:ext cx="1503680" cy="304165"/>
          </a:xfrm>
          <a:prstGeom prst="rect">
            <a:avLst/>
          </a:prstGeom>
        </p:spPr>
        <p:txBody>
          <a:bodyPr vert="horz" wrap="square" lIns="0" tIns="1587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25"/>
              </a:spcBef>
              <a:tabLst>
                <a:tab pos="1088390" algn="l"/>
              </a:tabLst>
            </a:pPr>
            <a:r>
              <a:rPr sz="1800" spc="100" dirty="0">
                <a:latin typeface="Cambria Math"/>
                <a:cs typeface="Cambria Math"/>
              </a:rPr>
              <a:t>𝑃 </a:t>
            </a:r>
            <a:r>
              <a:rPr sz="1800" spc="-10" dirty="0">
                <a:latin typeface="Cambria Math"/>
                <a:cs typeface="Cambria Math"/>
              </a:rPr>
              <a:t> </a:t>
            </a:r>
            <a:r>
              <a:rPr sz="1800" spc="105" dirty="0">
                <a:latin typeface="Cambria Math"/>
                <a:cs typeface="Cambria Math"/>
              </a:rPr>
              <a:t>𝐴</a:t>
            </a:r>
            <a:r>
              <a:rPr sz="1800" dirty="0">
                <a:latin typeface="Cambria Math"/>
                <a:cs typeface="Cambria Math"/>
              </a:rPr>
              <a:t>	</a:t>
            </a:r>
            <a:r>
              <a:rPr sz="1800" spc="55" dirty="0">
                <a:latin typeface="Cambria Math"/>
                <a:cs typeface="Cambria Math"/>
              </a:rPr>
              <a:t>200</a:t>
            </a:r>
            <a:endParaRPr sz="1800">
              <a:latin typeface="Cambria Math"/>
              <a:cs typeface="Cambria Math"/>
            </a:endParaRPr>
          </a:p>
        </p:txBody>
      </p:sp>
      <p:sp>
        <p:nvSpPr>
          <p:cNvPr id="17" name="object 17"/>
          <p:cNvSpPr txBox="1"/>
          <p:nvPr/>
        </p:nvSpPr>
        <p:spPr>
          <a:xfrm>
            <a:off x="4676647" y="5408167"/>
            <a:ext cx="1755775" cy="40640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  <a:tabLst>
                <a:tab pos="826135" algn="l"/>
              </a:tabLst>
            </a:pPr>
            <a:r>
              <a:rPr sz="2500" spc="-5" dirty="0">
                <a:latin typeface="Cambria Math"/>
                <a:cs typeface="Cambria Math"/>
              </a:rPr>
              <a:t>=	=</a:t>
            </a:r>
            <a:r>
              <a:rPr sz="2500" spc="55" dirty="0">
                <a:latin typeface="Cambria Math"/>
                <a:cs typeface="Cambria Math"/>
              </a:rPr>
              <a:t> </a:t>
            </a:r>
            <a:r>
              <a:rPr sz="2500" spc="-5" dirty="0">
                <a:latin typeface="Cambria Math"/>
                <a:cs typeface="Cambria Math"/>
              </a:rPr>
              <a:t>0,40</a:t>
            </a:r>
            <a:endParaRPr sz="2500">
              <a:latin typeface="Cambria Math"/>
              <a:cs typeface="Cambria Math"/>
            </a:endParaRP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3138297" y="714832"/>
            <a:ext cx="2871470" cy="45212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2800" u="heavy" spc="-5" dirty="0">
                <a:uFill>
                  <a:solidFill>
                    <a:srgbClr val="000000"/>
                  </a:solidFill>
                </a:uFill>
              </a:rPr>
              <a:t>Union </a:t>
            </a:r>
            <a:r>
              <a:rPr sz="2800" u="heavy" spc="-10" dirty="0">
                <a:uFill>
                  <a:solidFill>
                    <a:srgbClr val="000000"/>
                  </a:solidFill>
                </a:uFill>
              </a:rPr>
              <a:t>Dua</a:t>
            </a:r>
            <a:r>
              <a:rPr sz="2800" u="heavy" spc="-25" dirty="0">
                <a:uFill>
                  <a:solidFill>
                    <a:srgbClr val="000000"/>
                  </a:solidFill>
                </a:uFill>
              </a:rPr>
              <a:t> </a:t>
            </a:r>
            <a:r>
              <a:rPr sz="2800" u="heavy" spc="-10" dirty="0">
                <a:uFill>
                  <a:solidFill>
                    <a:srgbClr val="000000"/>
                  </a:solidFill>
                </a:uFill>
              </a:rPr>
              <a:t>Kejadian</a:t>
            </a:r>
            <a:endParaRPr sz="2800"/>
          </a:p>
        </p:txBody>
      </p:sp>
      <p:sp>
        <p:nvSpPr>
          <p:cNvPr id="3" name="object 3"/>
          <p:cNvSpPr/>
          <p:nvPr/>
        </p:nvSpPr>
        <p:spPr>
          <a:xfrm>
            <a:off x="2929889" y="4737227"/>
            <a:ext cx="708660" cy="212090"/>
          </a:xfrm>
          <a:custGeom>
            <a:avLst/>
            <a:gdLst/>
            <a:ahLst/>
            <a:cxnLst/>
            <a:rect l="l" t="t" r="r" b="b"/>
            <a:pathLst>
              <a:path w="708660" h="212089">
                <a:moveTo>
                  <a:pt x="640969" y="0"/>
                </a:moveTo>
                <a:lnTo>
                  <a:pt x="637921" y="8636"/>
                </a:lnTo>
                <a:lnTo>
                  <a:pt x="650134" y="13946"/>
                </a:lnTo>
                <a:lnTo>
                  <a:pt x="660669" y="21304"/>
                </a:lnTo>
                <a:lnTo>
                  <a:pt x="682083" y="55431"/>
                </a:lnTo>
                <a:lnTo>
                  <a:pt x="689101" y="104902"/>
                </a:lnTo>
                <a:lnTo>
                  <a:pt x="688316" y="123571"/>
                </a:lnTo>
                <a:lnTo>
                  <a:pt x="676529" y="169291"/>
                </a:lnTo>
                <a:lnTo>
                  <a:pt x="650275" y="197866"/>
                </a:lnTo>
                <a:lnTo>
                  <a:pt x="638175" y="203200"/>
                </a:lnTo>
                <a:lnTo>
                  <a:pt x="640969" y="211836"/>
                </a:lnTo>
                <a:lnTo>
                  <a:pt x="681366" y="187707"/>
                </a:lnTo>
                <a:lnTo>
                  <a:pt x="704088" y="143335"/>
                </a:lnTo>
                <a:lnTo>
                  <a:pt x="708406" y="105918"/>
                </a:lnTo>
                <a:lnTo>
                  <a:pt x="707312" y="86536"/>
                </a:lnTo>
                <a:lnTo>
                  <a:pt x="691007" y="37084"/>
                </a:lnTo>
                <a:lnTo>
                  <a:pt x="656306" y="5544"/>
                </a:lnTo>
                <a:lnTo>
                  <a:pt x="640969" y="0"/>
                </a:lnTo>
                <a:close/>
              </a:path>
              <a:path w="708660" h="212089">
                <a:moveTo>
                  <a:pt x="67437" y="0"/>
                </a:moveTo>
                <a:lnTo>
                  <a:pt x="27092" y="24110"/>
                </a:lnTo>
                <a:lnTo>
                  <a:pt x="4318" y="68595"/>
                </a:lnTo>
                <a:lnTo>
                  <a:pt x="0" y="105918"/>
                </a:lnTo>
                <a:lnTo>
                  <a:pt x="1075" y="125370"/>
                </a:lnTo>
                <a:lnTo>
                  <a:pt x="17399" y="174752"/>
                </a:lnTo>
                <a:lnTo>
                  <a:pt x="52081" y="206238"/>
                </a:lnTo>
                <a:lnTo>
                  <a:pt x="67437" y="211836"/>
                </a:lnTo>
                <a:lnTo>
                  <a:pt x="70104" y="203200"/>
                </a:lnTo>
                <a:lnTo>
                  <a:pt x="58058" y="197866"/>
                </a:lnTo>
                <a:lnTo>
                  <a:pt x="47656" y="190436"/>
                </a:lnTo>
                <a:lnTo>
                  <a:pt x="26376" y="155765"/>
                </a:lnTo>
                <a:lnTo>
                  <a:pt x="19304" y="104902"/>
                </a:lnTo>
                <a:lnTo>
                  <a:pt x="20089" y="86776"/>
                </a:lnTo>
                <a:lnTo>
                  <a:pt x="31877" y="42164"/>
                </a:lnTo>
                <a:lnTo>
                  <a:pt x="58273" y="13946"/>
                </a:lnTo>
                <a:lnTo>
                  <a:pt x="70485" y="8636"/>
                </a:lnTo>
                <a:lnTo>
                  <a:pt x="67437" y="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" name="object 4"/>
          <p:cNvSpPr/>
          <p:nvPr/>
        </p:nvSpPr>
        <p:spPr>
          <a:xfrm>
            <a:off x="4126229" y="4737227"/>
            <a:ext cx="295910" cy="212090"/>
          </a:xfrm>
          <a:custGeom>
            <a:avLst/>
            <a:gdLst/>
            <a:ahLst/>
            <a:cxnLst/>
            <a:rect l="l" t="t" r="r" b="b"/>
            <a:pathLst>
              <a:path w="295910" h="212089">
                <a:moveTo>
                  <a:pt x="227965" y="0"/>
                </a:moveTo>
                <a:lnTo>
                  <a:pt x="224917" y="8636"/>
                </a:lnTo>
                <a:lnTo>
                  <a:pt x="237130" y="13946"/>
                </a:lnTo>
                <a:lnTo>
                  <a:pt x="247665" y="21304"/>
                </a:lnTo>
                <a:lnTo>
                  <a:pt x="269079" y="55431"/>
                </a:lnTo>
                <a:lnTo>
                  <a:pt x="276098" y="104902"/>
                </a:lnTo>
                <a:lnTo>
                  <a:pt x="275312" y="123571"/>
                </a:lnTo>
                <a:lnTo>
                  <a:pt x="263525" y="169291"/>
                </a:lnTo>
                <a:lnTo>
                  <a:pt x="237271" y="197866"/>
                </a:lnTo>
                <a:lnTo>
                  <a:pt x="225171" y="203200"/>
                </a:lnTo>
                <a:lnTo>
                  <a:pt x="227965" y="211836"/>
                </a:lnTo>
                <a:lnTo>
                  <a:pt x="268362" y="187707"/>
                </a:lnTo>
                <a:lnTo>
                  <a:pt x="291084" y="143335"/>
                </a:lnTo>
                <a:lnTo>
                  <a:pt x="295402" y="105918"/>
                </a:lnTo>
                <a:lnTo>
                  <a:pt x="294308" y="86536"/>
                </a:lnTo>
                <a:lnTo>
                  <a:pt x="278003" y="37084"/>
                </a:lnTo>
                <a:lnTo>
                  <a:pt x="243302" y="5544"/>
                </a:lnTo>
                <a:lnTo>
                  <a:pt x="227965" y="0"/>
                </a:lnTo>
                <a:close/>
              </a:path>
              <a:path w="295910" h="212089">
                <a:moveTo>
                  <a:pt x="67437" y="0"/>
                </a:moveTo>
                <a:lnTo>
                  <a:pt x="27092" y="24110"/>
                </a:lnTo>
                <a:lnTo>
                  <a:pt x="4318" y="68595"/>
                </a:lnTo>
                <a:lnTo>
                  <a:pt x="0" y="105918"/>
                </a:lnTo>
                <a:lnTo>
                  <a:pt x="1075" y="125370"/>
                </a:lnTo>
                <a:lnTo>
                  <a:pt x="17399" y="174752"/>
                </a:lnTo>
                <a:lnTo>
                  <a:pt x="52081" y="206238"/>
                </a:lnTo>
                <a:lnTo>
                  <a:pt x="67437" y="211836"/>
                </a:lnTo>
                <a:lnTo>
                  <a:pt x="70104" y="203200"/>
                </a:lnTo>
                <a:lnTo>
                  <a:pt x="58058" y="197866"/>
                </a:lnTo>
                <a:lnTo>
                  <a:pt x="47656" y="190436"/>
                </a:lnTo>
                <a:lnTo>
                  <a:pt x="26376" y="155765"/>
                </a:lnTo>
                <a:lnTo>
                  <a:pt x="19304" y="104902"/>
                </a:lnTo>
                <a:lnTo>
                  <a:pt x="20089" y="86776"/>
                </a:lnTo>
                <a:lnTo>
                  <a:pt x="31877" y="42164"/>
                </a:lnTo>
                <a:lnTo>
                  <a:pt x="58273" y="13946"/>
                </a:lnTo>
                <a:lnTo>
                  <a:pt x="70485" y="8636"/>
                </a:lnTo>
                <a:lnTo>
                  <a:pt x="67437" y="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" name="object 5"/>
          <p:cNvSpPr/>
          <p:nvPr/>
        </p:nvSpPr>
        <p:spPr>
          <a:xfrm>
            <a:off x="4882134" y="4737227"/>
            <a:ext cx="304800" cy="212090"/>
          </a:xfrm>
          <a:custGeom>
            <a:avLst/>
            <a:gdLst/>
            <a:ahLst/>
            <a:cxnLst/>
            <a:rect l="l" t="t" r="r" b="b"/>
            <a:pathLst>
              <a:path w="304800" h="212089">
                <a:moveTo>
                  <a:pt x="237108" y="0"/>
                </a:moveTo>
                <a:lnTo>
                  <a:pt x="234061" y="8636"/>
                </a:lnTo>
                <a:lnTo>
                  <a:pt x="246274" y="13946"/>
                </a:lnTo>
                <a:lnTo>
                  <a:pt x="256809" y="21304"/>
                </a:lnTo>
                <a:lnTo>
                  <a:pt x="278223" y="55431"/>
                </a:lnTo>
                <a:lnTo>
                  <a:pt x="285241" y="104902"/>
                </a:lnTo>
                <a:lnTo>
                  <a:pt x="284456" y="123571"/>
                </a:lnTo>
                <a:lnTo>
                  <a:pt x="272668" y="169291"/>
                </a:lnTo>
                <a:lnTo>
                  <a:pt x="246415" y="197866"/>
                </a:lnTo>
                <a:lnTo>
                  <a:pt x="234314" y="203200"/>
                </a:lnTo>
                <a:lnTo>
                  <a:pt x="237108" y="211836"/>
                </a:lnTo>
                <a:lnTo>
                  <a:pt x="277506" y="187707"/>
                </a:lnTo>
                <a:lnTo>
                  <a:pt x="300227" y="143335"/>
                </a:lnTo>
                <a:lnTo>
                  <a:pt x="304545" y="105918"/>
                </a:lnTo>
                <a:lnTo>
                  <a:pt x="303452" y="86536"/>
                </a:lnTo>
                <a:lnTo>
                  <a:pt x="287146" y="37084"/>
                </a:lnTo>
                <a:lnTo>
                  <a:pt x="252446" y="5544"/>
                </a:lnTo>
                <a:lnTo>
                  <a:pt x="237108" y="0"/>
                </a:lnTo>
                <a:close/>
              </a:path>
              <a:path w="304800" h="212089">
                <a:moveTo>
                  <a:pt x="67437" y="0"/>
                </a:moveTo>
                <a:lnTo>
                  <a:pt x="27092" y="24110"/>
                </a:lnTo>
                <a:lnTo>
                  <a:pt x="4317" y="68595"/>
                </a:lnTo>
                <a:lnTo>
                  <a:pt x="0" y="105918"/>
                </a:lnTo>
                <a:lnTo>
                  <a:pt x="1075" y="125370"/>
                </a:lnTo>
                <a:lnTo>
                  <a:pt x="17399" y="174752"/>
                </a:lnTo>
                <a:lnTo>
                  <a:pt x="52081" y="206238"/>
                </a:lnTo>
                <a:lnTo>
                  <a:pt x="67437" y="211836"/>
                </a:lnTo>
                <a:lnTo>
                  <a:pt x="70103" y="203200"/>
                </a:lnTo>
                <a:lnTo>
                  <a:pt x="58058" y="197866"/>
                </a:lnTo>
                <a:lnTo>
                  <a:pt x="47656" y="190436"/>
                </a:lnTo>
                <a:lnTo>
                  <a:pt x="26376" y="155765"/>
                </a:lnTo>
                <a:lnTo>
                  <a:pt x="19303" y="104902"/>
                </a:lnTo>
                <a:lnTo>
                  <a:pt x="20089" y="86776"/>
                </a:lnTo>
                <a:lnTo>
                  <a:pt x="31876" y="42164"/>
                </a:lnTo>
                <a:lnTo>
                  <a:pt x="58273" y="13946"/>
                </a:lnTo>
                <a:lnTo>
                  <a:pt x="70485" y="8636"/>
                </a:lnTo>
                <a:lnTo>
                  <a:pt x="67437" y="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6" name="object 6"/>
          <p:cNvSpPr txBox="1"/>
          <p:nvPr/>
        </p:nvSpPr>
        <p:spPr>
          <a:xfrm>
            <a:off x="978509" y="3350514"/>
            <a:ext cx="5415915" cy="1616710"/>
          </a:xfrm>
          <a:prstGeom prst="rect">
            <a:avLst/>
          </a:prstGeom>
        </p:spPr>
        <p:txBody>
          <a:bodyPr vert="horz" wrap="square" lIns="0" tIns="6731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530"/>
              </a:spcBef>
            </a:pPr>
            <a:r>
              <a:rPr sz="1800" spc="-5" dirty="0">
                <a:latin typeface="Calibri"/>
                <a:cs typeface="Calibri"/>
              </a:rPr>
              <a:t>Misal: </a:t>
            </a:r>
            <a:r>
              <a:rPr sz="1800" dirty="0">
                <a:latin typeface="Cambria Math"/>
                <a:cs typeface="Cambria Math"/>
              </a:rPr>
              <a:t>𝐴 = </a:t>
            </a:r>
            <a:r>
              <a:rPr sz="1800" spc="5" dirty="0">
                <a:latin typeface="Cambria Math"/>
                <a:cs typeface="Cambria Math"/>
              </a:rPr>
              <a:t>{𝑥 </a:t>
            </a:r>
            <a:r>
              <a:rPr sz="1800" dirty="0">
                <a:latin typeface="Cambria Math"/>
                <a:cs typeface="Cambria Math"/>
              </a:rPr>
              <a:t>∶ 2 ≤ 𝑥 ≤ 5 } </a:t>
            </a:r>
            <a:r>
              <a:rPr sz="1800" spc="-5" dirty="0">
                <a:latin typeface="Calibri"/>
                <a:cs typeface="Calibri"/>
              </a:rPr>
              <a:t>dan </a:t>
            </a:r>
            <a:r>
              <a:rPr sz="1800" dirty="0">
                <a:latin typeface="Cambria Math"/>
                <a:cs typeface="Cambria Math"/>
              </a:rPr>
              <a:t>𝐵 = </a:t>
            </a:r>
            <a:r>
              <a:rPr sz="1800" spc="5" dirty="0">
                <a:latin typeface="Cambria Math"/>
                <a:cs typeface="Cambria Math"/>
              </a:rPr>
              <a:t>{𝑥 </a:t>
            </a:r>
            <a:r>
              <a:rPr sz="1800" dirty="0">
                <a:latin typeface="Cambria Math"/>
                <a:cs typeface="Cambria Math"/>
              </a:rPr>
              <a:t>∶ 6 ≤ 𝑥 ≤</a:t>
            </a:r>
            <a:r>
              <a:rPr sz="1800" spc="-65" dirty="0">
                <a:latin typeface="Cambria Math"/>
                <a:cs typeface="Cambria Math"/>
              </a:rPr>
              <a:t> </a:t>
            </a:r>
            <a:r>
              <a:rPr sz="1800" dirty="0">
                <a:latin typeface="Cambria Math"/>
                <a:cs typeface="Cambria Math"/>
              </a:rPr>
              <a:t>12}</a:t>
            </a:r>
            <a:endParaRPr sz="1800">
              <a:latin typeface="Cambria Math"/>
              <a:cs typeface="Cambria Math"/>
            </a:endParaRPr>
          </a:p>
          <a:p>
            <a:pPr marL="12700">
              <a:lnSpc>
                <a:spcPct val="100000"/>
              </a:lnSpc>
              <a:spcBef>
                <a:spcPts val="430"/>
              </a:spcBef>
            </a:pPr>
            <a:r>
              <a:rPr sz="1800" spc="-10" dirty="0">
                <a:latin typeface="Calibri"/>
                <a:cs typeface="Calibri"/>
              </a:rPr>
              <a:t>maka </a:t>
            </a:r>
            <a:r>
              <a:rPr sz="1800" dirty="0">
                <a:latin typeface="Cambria Math"/>
                <a:cs typeface="Cambria Math"/>
              </a:rPr>
              <a:t>𝐴 ∪ 𝐵 = </a:t>
            </a:r>
            <a:r>
              <a:rPr sz="1800" spc="-5" dirty="0">
                <a:latin typeface="Cambria Math"/>
                <a:cs typeface="Cambria Math"/>
              </a:rPr>
              <a:t>{𝑥 </a:t>
            </a:r>
            <a:r>
              <a:rPr sz="1800" dirty="0">
                <a:latin typeface="Cambria Math"/>
                <a:cs typeface="Cambria Math"/>
              </a:rPr>
              <a:t>∶ 2 ≤ 𝑥 ≤</a:t>
            </a:r>
            <a:r>
              <a:rPr sz="1800" spc="-165" dirty="0">
                <a:latin typeface="Cambria Math"/>
                <a:cs typeface="Cambria Math"/>
              </a:rPr>
              <a:t> </a:t>
            </a:r>
            <a:r>
              <a:rPr sz="1800" spc="-5" dirty="0">
                <a:latin typeface="Cambria Math"/>
                <a:cs typeface="Cambria Math"/>
              </a:rPr>
              <a:t>12}</a:t>
            </a:r>
            <a:endParaRPr sz="1800">
              <a:latin typeface="Cambria Math"/>
              <a:cs typeface="Cambria Math"/>
            </a:endParaRPr>
          </a:p>
          <a:p>
            <a:pPr>
              <a:lnSpc>
                <a:spcPct val="100000"/>
              </a:lnSpc>
              <a:spcBef>
                <a:spcPts val="55"/>
              </a:spcBef>
            </a:pPr>
            <a:endParaRPr sz="2500">
              <a:latin typeface="Cambria Math"/>
              <a:cs typeface="Cambria Math"/>
            </a:endParaRPr>
          </a:p>
          <a:p>
            <a:pPr marL="12700">
              <a:lnSpc>
                <a:spcPts val="2240"/>
              </a:lnSpc>
            </a:pPr>
            <a:r>
              <a:rPr sz="1900" i="1" spc="-55" dirty="0">
                <a:latin typeface="Cambria Math"/>
                <a:cs typeface="Cambria Math"/>
              </a:rPr>
              <a:t>Kejadian </a:t>
            </a:r>
            <a:r>
              <a:rPr sz="1900" i="1" spc="-105" dirty="0">
                <a:latin typeface="Cambria Math"/>
                <a:cs typeface="Cambria Math"/>
              </a:rPr>
              <a:t>Tak </a:t>
            </a:r>
            <a:r>
              <a:rPr sz="1900" i="1" spc="-50" dirty="0">
                <a:latin typeface="Cambria Math"/>
                <a:cs typeface="Cambria Math"/>
              </a:rPr>
              <a:t>Saling</a:t>
            </a:r>
            <a:r>
              <a:rPr sz="1900" i="1" spc="80" dirty="0">
                <a:latin typeface="Cambria Math"/>
                <a:cs typeface="Cambria Math"/>
              </a:rPr>
              <a:t> </a:t>
            </a:r>
            <a:r>
              <a:rPr sz="1900" i="1" spc="-55" dirty="0">
                <a:latin typeface="Cambria Math"/>
                <a:cs typeface="Cambria Math"/>
              </a:rPr>
              <a:t>Lepas:</a:t>
            </a:r>
            <a:endParaRPr sz="1900">
              <a:latin typeface="Cambria Math"/>
              <a:cs typeface="Cambria Math"/>
            </a:endParaRPr>
          </a:p>
          <a:p>
            <a:pPr marL="1784985">
              <a:lnSpc>
                <a:spcPts val="2120"/>
              </a:lnSpc>
              <a:tabLst>
                <a:tab pos="2745105" algn="l"/>
                <a:tab pos="3515360" algn="l"/>
                <a:tab pos="4281805" algn="l"/>
              </a:tabLst>
            </a:pPr>
            <a:r>
              <a:rPr sz="1800" dirty="0">
                <a:latin typeface="Cambria Math"/>
                <a:cs typeface="Cambria Math"/>
              </a:rPr>
              <a:t>𝑃  𝐴</a:t>
            </a:r>
            <a:r>
              <a:rPr sz="1800" spc="5" dirty="0">
                <a:latin typeface="Cambria Math"/>
                <a:cs typeface="Cambria Math"/>
              </a:rPr>
              <a:t> </a:t>
            </a:r>
            <a:r>
              <a:rPr sz="1800" dirty="0">
                <a:latin typeface="Cambria Math"/>
                <a:cs typeface="Cambria Math"/>
              </a:rPr>
              <a:t>∪</a:t>
            </a:r>
            <a:r>
              <a:rPr sz="1800" spc="-5" dirty="0">
                <a:latin typeface="Cambria Math"/>
                <a:cs typeface="Cambria Math"/>
              </a:rPr>
              <a:t> </a:t>
            </a:r>
            <a:r>
              <a:rPr sz="1800" dirty="0">
                <a:latin typeface="Cambria Math"/>
                <a:cs typeface="Cambria Math"/>
              </a:rPr>
              <a:t>𝐵	=</a:t>
            </a:r>
            <a:r>
              <a:rPr sz="1800" spc="105" dirty="0">
                <a:latin typeface="Cambria Math"/>
                <a:cs typeface="Cambria Math"/>
              </a:rPr>
              <a:t> </a:t>
            </a:r>
            <a:r>
              <a:rPr sz="1800" dirty="0">
                <a:latin typeface="Cambria Math"/>
                <a:cs typeface="Cambria Math"/>
              </a:rPr>
              <a:t>𝑃</a:t>
            </a:r>
            <a:r>
              <a:rPr sz="1800" spc="390" dirty="0">
                <a:latin typeface="Cambria Math"/>
                <a:cs typeface="Cambria Math"/>
              </a:rPr>
              <a:t> </a:t>
            </a:r>
            <a:r>
              <a:rPr sz="1800" dirty="0">
                <a:latin typeface="Cambria Math"/>
                <a:cs typeface="Cambria Math"/>
              </a:rPr>
              <a:t>𝐴	+</a:t>
            </a:r>
            <a:r>
              <a:rPr sz="1800" spc="10" dirty="0">
                <a:latin typeface="Cambria Math"/>
                <a:cs typeface="Cambria Math"/>
              </a:rPr>
              <a:t> </a:t>
            </a:r>
            <a:r>
              <a:rPr sz="1800" dirty="0">
                <a:latin typeface="Cambria Math"/>
                <a:cs typeface="Cambria Math"/>
              </a:rPr>
              <a:t>𝑃</a:t>
            </a:r>
            <a:r>
              <a:rPr sz="1800" spc="380" dirty="0">
                <a:latin typeface="Cambria Math"/>
                <a:cs typeface="Cambria Math"/>
              </a:rPr>
              <a:t> </a:t>
            </a:r>
            <a:r>
              <a:rPr sz="1800" dirty="0">
                <a:latin typeface="Cambria Math"/>
                <a:cs typeface="Cambria Math"/>
              </a:rPr>
              <a:t>𝐵	− </a:t>
            </a:r>
            <a:r>
              <a:rPr sz="1800" spc="10" dirty="0">
                <a:latin typeface="Cambria Math"/>
                <a:cs typeface="Cambria Math"/>
              </a:rPr>
              <a:t>𝑃(𝐴 </a:t>
            </a:r>
            <a:r>
              <a:rPr sz="1800" dirty="0">
                <a:latin typeface="Cambria Math"/>
                <a:cs typeface="Cambria Math"/>
              </a:rPr>
              <a:t>∩</a:t>
            </a:r>
            <a:r>
              <a:rPr sz="1800" spc="-60" dirty="0">
                <a:latin typeface="Cambria Math"/>
                <a:cs typeface="Cambria Math"/>
              </a:rPr>
              <a:t> </a:t>
            </a:r>
            <a:r>
              <a:rPr sz="1800" spc="25" dirty="0">
                <a:latin typeface="Cambria Math"/>
                <a:cs typeface="Cambria Math"/>
              </a:rPr>
              <a:t>𝐵)</a:t>
            </a:r>
            <a:endParaRPr sz="1800">
              <a:latin typeface="Cambria Math"/>
              <a:cs typeface="Cambria Math"/>
            </a:endParaRPr>
          </a:p>
        </p:txBody>
      </p:sp>
      <p:sp>
        <p:nvSpPr>
          <p:cNvPr id="7" name="object 7"/>
          <p:cNvSpPr/>
          <p:nvPr/>
        </p:nvSpPr>
        <p:spPr>
          <a:xfrm>
            <a:off x="3131820" y="1301496"/>
            <a:ext cx="3069335" cy="1908048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5073650" y="3087497"/>
            <a:ext cx="1261745" cy="377190"/>
          </a:xfrm>
          <a:custGeom>
            <a:avLst/>
            <a:gdLst/>
            <a:ahLst/>
            <a:cxnLst/>
            <a:rect l="l" t="t" r="r" b="b"/>
            <a:pathLst>
              <a:path w="1261745" h="377189">
                <a:moveTo>
                  <a:pt x="1141476" y="0"/>
                </a:moveTo>
                <a:lnTo>
                  <a:pt x="1136014" y="15239"/>
                </a:lnTo>
                <a:lnTo>
                  <a:pt x="1157827" y="24691"/>
                </a:lnTo>
                <a:lnTo>
                  <a:pt x="1176591" y="37798"/>
                </a:lnTo>
                <a:lnTo>
                  <a:pt x="1204976" y="74929"/>
                </a:lnTo>
                <a:lnTo>
                  <a:pt x="1221660" y="125031"/>
                </a:lnTo>
                <a:lnTo>
                  <a:pt x="1227201" y="186562"/>
                </a:lnTo>
                <a:lnTo>
                  <a:pt x="1225815" y="219803"/>
                </a:lnTo>
                <a:lnTo>
                  <a:pt x="1214663" y="277092"/>
                </a:lnTo>
                <a:lnTo>
                  <a:pt x="1192228" y="321831"/>
                </a:lnTo>
                <a:lnTo>
                  <a:pt x="1158128" y="352069"/>
                </a:lnTo>
                <a:lnTo>
                  <a:pt x="1136650" y="361568"/>
                </a:lnTo>
                <a:lnTo>
                  <a:pt x="1141476" y="376808"/>
                </a:lnTo>
                <a:lnTo>
                  <a:pt x="1192815" y="352726"/>
                </a:lnTo>
                <a:lnTo>
                  <a:pt x="1230629" y="311023"/>
                </a:lnTo>
                <a:lnTo>
                  <a:pt x="1253886" y="255079"/>
                </a:lnTo>
                <a:lnTo>
                  <a:pt x="1261617" y="188467"/>
                </a:lnTo>
                <a:lnTo>
                  <a:pt x="1259667" y="153943"/>
                </a:lnTo>
                <a:lnTo>
                  <a:pt x="1244097" y="92706"/>
                </a:lnTo>
                <a:lnTo>
                  <a:pt x="1213288" y="42844"/>
                </a:lnTo>
                <a:lnTo>
                  <a:pt x="1168763" y="9836"/>
                </a:lnTo>
                <a:lnTo>
                  <a:pt x="1141476" y="0"/>
                </a:lnTo>
                <a:close/>
              </a:path>
              <a:path w="1261745" h="377189">
                <a:moveTo>
                  <a:pt x="120141" y="0"/>
                </a:moveTo>
                <a:lnTo>
                  <a:pt x="68849" y="24114"/>
                </a:lnTo>
                <a:lnTo>
                  <a:pt x="30987" y="66039"/>
                </a:lnTo>
                <a:lnTo>
                  <a:pt x="7731" y="122015"/>
                </a:lnTo>
                <a:lnTo>
                  <a:pt x="0" y="188467"/>
                </a:lnTo>
                <a:lnTo>
                  <a:pt x="1930" y="223119"/>
                </a:lnTo>
                <a:lnTo>
                  <a:pt x="17412" y="284372"/>
                </a:lnTo>
                <a:lnTo>
                  <a:pt x="48132" y="334071"/>
                </a:lnTo>
                <a:lnTo>
                  <a:pt x="92709" y="366976"/>
                </a:lnTo>
                <a:lnTo>
                  <a:pt x="120141" y="376808"/>
                </a:lnTo>
                <a:lnTo>
                  <a:pt x="124967" y="361568"/>
                </a:lnTo>
                <a:lnTo>
                  <a:pt x="103469" y="352069"/>
                </a:lnTo>
                <a:lnTo>
                  <a:pt x="84899" y="338820"/>
                </a:lnTo>
                <a:lnTo>
                  <a:pt x="56641" y="301116"/>
                </a:lnTo>
                <a:lnTo>
                  <a:pt x="39893" y="249983"/>
                </a:lnTo>
                <a:lnTo>
                  <a:pt x="34289" y="186562"/>
                </a:lnTo>
                <a:lnTo>
                  <a:pt x="35692" y="154368"/>
                </a:lnTo>
                <a:lnTo>
                  <a:pt x="46880" y="98551"/>
                </a:lnTo>
                <a:lnTo>
                  <a:pt x="69308" y="54548"/>
                </a:lnTo>
                <a:lnTo>
                  <a:pt x="103737" y="24691"/>
                </a:lnTo>
                <a:lnTo>
                  <a:pt x="125475" y="15239"/>
                </a:lnTo>
                <a:lnTo>
                  <a:pt x="120141" y="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" name="object 3"/>
          <p:cNvSpPr/>
          <p:nvPr/>
        </p:nvSpPr>
        <p:spPr>
          <a:xfrm>
            <a:off x="2571242" y="4059809"/>
            <a:ext cx="1261745" cy="377190"/>
          </a:xfrm>
          <a:custGeom>
            <a:avLst/>
            <a:gdLst/>
            <a:ahLst/>
            <a:cxnLst/>
            <a:rect l="l" t="t" r="r" b="b"/>
            <a:pathLst>
              <a:path w="1261745" h="377189">
                <a:moveTo>
                  <a:pt x="1141475" y="0"/>
                </a:moveTo>
                <a:lnTo>
                  <a:pt x="1136015" y="15240"/>
                </a:lnTo>
                <a:lnTo>
                  <a:pt x="1157827" y="24691"/>
                </a:lnTo>
                <a:lnTo>
                  <a:pt x="1176591" y="37798"/>
                </a:lnTo>
                <a:lnTo>
                  <a:pt x="1204975" y="74930"/>
                </a:lnTo>
                <a:lnTo>
                  <a:pt x="1221660" y="125031"/>
                </a:lnTo>
                <a:lnTo>
                  <a:pt x="1227200" y="186563"/>
                </a:lnTo>
                <a:lnTo>
                  <a:pt x="1225815" y="219803"/>
                </a:lnTo>
                <a:lnTo>
                  <a:pt x="1214663" y="277092"/>
                </a:lnTo>
                <a:lnTo>
                  <a:pt x="1192228" y="321831"/>
                </a:lnTo>
                <a:lnTo>
                  <a:pt x="1158128" y="352069"/>
                </a:lnTo>
                <a:lnTo>
                  <a:pt x="1136649" y="361569"/>
                </a:lnTo>
                <a:lnTo>
                  <a:pt x="1141475" y="376809"/>
                </a:lnTo>
                <a:lnTo>
                  <a:pt x="1192815" y="352726"/>
                </a:lnTo>
                <a:lnTo>
                  <a:pt x="1230630" y="311023"/>
                </a:lnTo>
                <a:lnTo>
                  <a:pt x="1253886" y="255079"/>
                </a:lnTo>
                <a:lnTo>
                  <a:pt x="1261618" y="188468"/>
                </a:lnTo>
                <a:lnTo>
                  <a:pt x="1259667" y="153943"/>
                </a:lnTo>
                <a:lnTo>
                  <a:pt x="1244097" y="92706"/>
                </a:lnTo>
                <a:lnTo>
                  <a:pt x="1213288" y="42844"/>
                </a:lnTo>
                <a:lnTo>
                  <a:pt x="1168763" y="9836"/>
                </a:lnTo>
                <a:lnTo>
                  <a:pt x="1141475" y="0"/>
                </a:lnTo>
                <a:close/>
              </a:path>
              <a:path w="1261745" h="377189">
                <a:moveTo>
                  <a:pt x="120141" y="0"/>
                </a:moveTo>
                <a:lnTo>
                  <a:pt x="68849" y="24114"/>
                </a:lnTo>
                <a:lnTo>
                  <a:pt x="30987" y="66040"/>
                </a:lnTo>
                <a:lnTo>
                  <a:pt x="7731" y="122015"/>
                </a:lnTo>
                <a:lnTo>
                  <a:pt x="0" y="188468"/>
                </a:lnTo>
                <a:lnTo>
                  <a:pt x="1930" y="223119"/>
                </a:lnTo>
                <a:lnTo>
                  <a:pt x="17412" y="284372"/>
                </a:lnTo>
                <a:lnTo>
                  <a:pt x="48132" y="334071"/>
                </a:lnTo>
                <a:lnTo>
                  <a:pt x="92709" y="366976"/>
                </a:lnTo>
                <a:lnTo>
                  <a:pt x="120141" y="376809"/>
                </a:lnTo>
                <a:lnTo>
                  <a:pt x="124968" y="361569"/>
                </a:lnTo>
                <a:lnTo>
                  <a:pt x="103469" y="352069"/>
                </a:lnTo>
                <a:lnTo>
                  <a:pt x="84899" y="338820"/>
                </a:lnTo>
                <a:lnTo>
                  <a:pt x="56641" y="301117"/>
                </a:lnTo>
                <a:lnTo>
                  <a:pt x="39893" y="249983"/>
                </a:lnTo>
                <a:lnTo>
                  <a:pt x="34289" y="186563"/>
                </a:lnTo>
                <a:lnTo>
                  <a:pt x="35692" y="154368"/>
                </a:lnTo>
                <a:lnTo>
                  <a:pt x="46880" y="98552"/>
                </a:lnTo>
                <a:lnTo>
                  <a:pt x="69308" y="54548"/>
                </a:lnTo>
                <a:lnTo>
                  <a:pt x="103737" y="24691"/>
                </a:lnTo>
                <a:lnTo>
                  <a:pt x="125475" y="15240"/>
                </a:lnTo>
                <a:lnTo>
                  <a:pt x="120141" y="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" name="object 4"/>
          <p:cNvSpPr/>
          <p:nvPr/>
        </p:nvSpPr>
        <p:spPr>
          <a:xfrm>
            <a:off x="4695697" y="4059809"/>
            <a:ext cx="528955" cy="377190"/>
          </a:xfrm>
          <a:custGeom>
            <a:avLst/>
            <a:gdLst/>
            <a:ahLst/>
            <a:cxnLst/>
            <a:rect l="l" t="t" r="r" b="b"/>
            <a:pathLst>
              <a:path w="528954" h="377189">
                <a:moveTo>
                  <a:pt x="408431" y="0"/>
                </a:moveTo>
                <a:lnTo>
                  <a:pt x="402971" y="15240"/>
                </a:lnTo>
                <a:lnTo>
                  <a:pt x="424783" y="24691"/>
                </a:lnTo>
                <a:lnTo>
                  <a:pt x="443547" y="37798"/>
                </a:lnTo>
                <a:lnTo>
                  <a:pt x="471931" y="74930"/>
                </a:lnTo>
                <a:lnTo>
                  <a:pt x="488616" y="125031"/>
                </a:lnTo>
                <a:lnTo>
                  <a:pt x="494156" y="186563"/>
                </a:lnTo>
                <a:lnTo>
                  <a:pt x="492771" y="219803"/>
                </a:lnTo>
                <a:lnTo>
                  <a:pt x="481619" y="277092"/>
                </a:lnTo>
                <a:lnTo>
                  <a:pt x="459184" y="321831"/>
                </a:lnTo>
                <a:lnTo>
                  <a:pt x="425084" y="352069"/>
                </a:lnTo>
                <a:lnTo>
                  <a:pt x="403605" y="361569"/>
                </a:lnTo>
                <a:lnTo>
                  <a:pt x="408431" y="376809"/>
                </a:lnTo>
                <a:lnTo>
                  <a:pt x="459771" y="352726"/>
                </a:lnTo>
                <a:lnTo>
                  <a:pt x="497586" y="311023"/>
                </a:lnTo>
                <a:lnTo>
                  <a:pt x="520842" y="255079"/>
                </a:lnTo>
                <a:lnTo>
                  <a:pt x="528574" y="188468"/>
                </a:lnTo>
                <a:lnTo>
                  <a:pt x="526623" y="153943"/>
                </a:lnTo>
                <a:lnTo>
                  <a:pt x="511053" y="92706"/>
                </a:lnTo>
                <a:lnTo>
                  <a:pt x="480244" y="42844"/>
                </a:lnTo>
                <a:lnTo>
                  <a:pt x="435719" y="9836"/>
                </a:lnTo>
                <a:lnTo>
                  <a:pt x="408431" y="0"/>
                </a:lnTo>
                <a:close/>
              </a:path>
              <a:path w="528954" h="377189">
                <a:moveTo>
                  <a:pt x="120141" y="0"/>
                </a:moveTo>
                <a:lnTo>
                  <a:pt x="68849" y="24114"/>
                </a:lnTo>
                <a:lnTo>
                  <a:pt x="30987" y="66040"/>
                </a:lnTo>
                <a:lnTo>
                  <a:pt x="7731" y="122015"/>
                </a:lnTo>
                <a:lnTo>
                  <a:pt x="0" y="188468"/>
                </a:lnTo>
                <a:lnTo>
                  <a:pt x="1930" y="223119"/>
                </a:lnTo>
                <a:lnTo>
                  <a:pt x="17412" y="284372"/>
                </a:lnTo>
                <a:lnTo>
                  <a:pt x="48132" y="334071"/>
                </a:lnTo>
                <a:lnTo>
                  <a:pt x="92709" y="366976"/>
                </a:lnTo>
                <a:lnTo>
                  <a:pt x="120141" y="376809"/>
                </a:lnTo>
                <a:lnTo>
                  <a:pt x="124967" y="361569"/>
                </a:lnTo>
                <a:lnTo>
                  <a:pt x="103469" y="352069"/>
                </a:lnTo>
                <a:lnTo>
                  <a:pt x="84899" y="338820"/>
                </a:lnTo>
                <a:lnTo>
                  <a:pt x="56641" y="301117"/>
                </a:lnTo>
                <a:lnTo>
                  <a:pt x="39893" y="249983"/>
                </a:lnTo>
                <a:lnTo>
                  <a:pt x="34289" y="186563"/>
                </a:lnTo>
                <a:lnTo>
                  <a:pt x="35692" y="154368"/>
                </a:lnTo>
                <a:lnTo>
                  <a:pt x="46880" y="98552"/>
                </a:lnTo>
                <a:lnTo>
                  <a:pt x="69308" y="54548"/>
                </a:lnTo>
                <a:lnTo>
                  <a:pt x="103737" y="24691"/>
                </a:lnTo>
                <a:lnTo>
                  <a:pt x="125475" y="15240"/>
                </a:lnTo>
                <a:lnTo>
                  <a:pt x="120141" y="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" name="object 5"/>
          <p:cNvSpPr/>
          <p:nvPr/>
        </p:nvSpPr>
        <p:spPr>
          <a:xfrm>
            <a:off x="6039865" y="4059809"/>
            <a:ext cx="544195" cy="377190"/>
          </a:xfrm>
          <a:custGeom>
            <a:avLst/>
            <a:gdLst/>
            <a:ahLst/>
            <a:cxnLst/>
            <a:rect l="l" t="t" r="r" b="b"/>
            <a:pathLst>
              <a:path w="544195" h="377189">
                <a:moveTo>
                  <a:pt x="423672" y="0"/>
                </a:moveTo>
                <a:lnTo>
                  <a:pt x="418211" y="15240"/>
                </a:lnTo>
                <a:lnTo>
                  <a:pt x="440023" y="24691"/>
                </a:lnTo>
                <a:lnTo>
                  <a:pt x="458787" y="37798"/>
                </a:lnTo>
                <a:lnTo>
                  <a:pt x="487172" y="74930"/>
                </a:lnTo>
                <a:lnTo>
                  <a:pt x="503856" y="125031"/>
                </a:lnTo>
                <a:lnTo>
                  <a:pt x="509397" y="186563"/>
                </a:lnTo>
                <a:lnTo>
                  <a:pt x="508011" y="219803"/>
                </a:lnTo>
                <a:lnTo>
                  <a:pt x="496859" y="277092"/>
                </a:lnTo>
                <a:lnTo>
                  <a:pt x="474424" y="321831"/>
                </a:lnTo>
                <a:lnTo>
                  <a:pt x="440324" y="352069"/>
                </a:lnTo>
                <a:lnTo>
                  <a:pt x="418846" y="361569"/>
                </a:lnTo>
                <a:lnTo>
                  <a:pt x="423672" y="376809"/>
                </a:lnTo>
                <a:lnTo>
                  <a:pt x="475011" y="352726"/>
                </a:lnTo>
                <a:lnTo>
                  <a:pt x="512826" y="311023"/>
                </a:lnTo>
                <a:lnTo>
                  <a:pt x="536082" y="255079"/>
                </a:lnTo>
                <a:lnTo>
                  <a:pt x="543813" y="188468"/>
                </a:lnTo>
                <a:lnTo>
                  <a:pt x="541863" y="153943"/>
                </a:lnTo>
                <a:lnTo>
                  <a:pt x="526293" y="92706"/>
                </a:lnTo>
                <a:lnTo>
                  <a:pt x="495484" y="42844"/>
                </a:lnTo>
                <a:lnTo>
                  <a:pt x="450959" y="9836"/>
                </a:lnTo>
                <a:lnTo>
                  <a:pt x="423672" y="0"/>
                </a:lnTo>
                <a:close/>
              </a:path>
              <a:path w="544195" h="377189">
                <a:moveTo>
                  <a:pt x="120142" y="0"/>
                </a:moveTo>
                <a:lnTo>
                  <a:pt x="68849" y="24114"/>
                </a:lnTo>
                <a:lnTo>
                  <a:pt x="30987" y="66040"/>
                </a:lnTo>
                <a:lnTo>
                  <a:pt x="7731" y="122015"/>
                </a:lnTo>
                <a:lnTo>
                  <a:pt x="0" y="188468"/>
                </a:lnTo>
                <a:lnTo>
                  <a:pt x="1930" y="223119"/>
                </a:lnTo>
                <a:lnTo>
                  <a:pt x="17412" y="284372"/>
                </a:lnTo>
                <a:lnTo>
                  <a:pt x="48133" y="334071"/>
                </a:lnTo>
                <a:lnTo>
                  <a:pt x="92710" y="366976"/>
                </a:lnTo>
                <a:lnTo>
                  <a:pt x="120142" y="376809"/>
                </a:lnTo>
                <a:lnTo>
                  <a:pt x="124968" y="361569"/>
                </a:lnTo>
                <a:lnTo>
                  <a:pt x="103469" y="352069"/>
                </a:lnTo>
                <a:lnTo>
                  <a:pt x="84899" y="338820"/>
                </a:lnTo>
                <a:lnTo>
                  <a:pt x="56642" y="301117"/>
                </a:lnTo>
                <a:lnTo>
                  <a:pt x="39893" y="249983"/>
                </a:lnTo>
                <a:lnTo>
                  <a:pt x="34289" y="186563"/>
                </a:lnTo>
                <a:lnTo>
                  <a:pt x="35692" y="154368"/>
                </a:lnTo>
                <a:lnTo>
                  <a:pt x="46880" y="98552"/>
                </a:lnTo>
                <a:lnTo>
                  <a:pt x="69308" y="54548"/>
                </a:lnTo>
                <a:lnTo>
                  <a:pt x="103737" y="24691"/>
                </a:lnTo>
                <a:lnTo>
                  <a:pt x="125475" y="15240"/>
                </a:lnTo>
                <a:lnTo>
                  <a:pt x="120142" y="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6" name="object 6"/>
          <p:cNvSpPr txBox="1"/>
          <p:nvPr/>
        </p:nvSpPr>
        <p:spPr>
          <a:xfrm>
            <a:off x="942543" y="2950555"/>
            <a:ext cx="6390005" cy="1508125"/>
          </a:xfrm>
          <a:prstGeom prst="rect">
            <a:avLst/>
          </a:prstGeom>
        </p:spPr>
        <p:txBody>
          <a:bodyPr vert="horz" wrap="square" lIns="0" tIns="53340" rIns="0" bIns="0" rtlCol="0">
            <a:spAutoFit/>
          </a:bodyPr>
          <a:lstStyle/>
          <a:p>
            <a:pPr marL="12700" marR="5080">
              <a:lnSpc>
                <a:spcPts val="3820"/>
              </a:lnSpc>
              <a:spcBef>
                <a:spcPts val="420"/>
              </a:spcBef>
              <a:tabLst>
                <a:tab pos="4264660" algn="l"/>
                <a:tab pos="5540375" algn="l"/>
              </a:tabLst>
            </a:pPr>
            <a:r>
              <a:rPr sz="3350" i="1" spc="-85" dirty="0">
                <a:latin typeface="Cambria Math"/>
                <a:cs typeface="Cambria Math"/>
              </a:rPr>
              <a:t>Kejadian </a:t>
            </a:r>
            <a:r>
              <a:rPr sz="3350" i="1" spc="-65" dirty="0">
                <a:latin typeface="Cambria Math"/>
                <a:cs typeface="Cambria Math"/>
              </a:rPr>
              <a:t>saling</a:t>
            </a:r>
            <a:r>
              <a:rPr sz="3350" i="1" spc="30" dirty="0">
                <a:latin typeface="Cambria Math"/>
                <a:cs typeface="Cambria Math"/>
              </a:rPr>
              <a:t> </a:t>
            </a:r>
            <a:r>
              <a:rPr sz="3350" i="1" spc="-60" dirty="0">
                <a:latin typeface="Cambria Math"/>
                <a:cs typeface="Cambria Math"/>
              </a:rPr>
              <a:t>lepas</a:t>
            </a:r>
            <a:r>
              <a:rPr sz="3200" spc="-60" dirty="0">
                <a:latin typeface="Calibri"/>
                <a:cs typeface="Calibri"/>
              </a:rPr>
              <a:t>,</a:t>
            </a:r>
            <a:r>
              <a:rPr sz="3200" spc="15" dirty="0">
                <a:latin typeface="Calibri"/>
                <a:cs typeface="Calibri"/>
              </a:rPr>
              <a:t> </a:t>
            </a:r>
            <a:r>
              <a:rPr sz="3200" dirty="0">
                <a:latin typeface="Cambria Math"/>
                <a:cs typeface="Cambria Math"/>
              </a:rPr>
              <a:t>𝑃	𝐴</a:t>
            </a:r>
            <a:r>
              <a:rPr sz="3200" spc="25" dirty="0">
                <a:latin typeface="Cambria Math"/>
                <a:cs typeface="Cambria Math"/>
              </a:rPr>
              <a:t> </a:t>
            </a:r>
            <a:r>
              <a:rPr sz="3200" dirty="0">
                <a:latin typeface="Cambria Math"/>
                <a:cs typeface="Cambria Math"/>
              </a:rPr>
              <a:t>∩</a:t>
            </a:r>
            <a:r>
              <a:rPr sz="3200" spc="5" dirty="0">
                <a:latin typeface="Cambria Math"/>
                <a:cs typeface="Cambria Math"/>
              </a:rPr>
              <a:t> </a:t>
            </a:r>
            <a:r>
              <a:rPr sz="3200" dirty="0">
                <a:latin typeface="Cambria Math"/>
                <a:cs typeface="Cambria Math"/>
              </a:rPr>
              <a:t>𝐵	= 0 </a:t>
            </a:r>
            <a:r>
              <a:rPr sz="3200" dirty="0">
                <a:latin typeface="Calibri"/>
                <a:cs typeface="Calibri"/>
              </a:rPr>
              <a:t>,  </a:t>
            </a:r>
            <a:r>
              <a:rPr sz="3200" spc="-10" dirty="0">
                <a:latin typeface="Calibri"/>
                <a:cs typeface="Calibri"/>
              </a:rPr>
              <a:t>sehingga</a:t>
            </a:r>
            <a:endParaRPr sz="3200">
              <a:latin typeface="Calibri"/>
              <a:cs typeface="Calibri"/>
            </a:endParaRPr>
          </a:p>
          <a:p>
            <a:pPr marL="1330960">
              <a:lnSpc>
                <a:spcPts val="3710"/>
              </a:lnSpc>
              <a:tabLst>
                <a:tab pos="1762125" algn="l"/>
                <a:tab pos="3039110" algn="l"/>
                <a:tab pos="3886835" algn="l"/>
                <a:tab pos="4406265" algn="l"/>
                <a:tab pos="5231130" algn="l"/>
              </a:tabLst>
            </a:pPr>
            <a:r>
              <a:rPr sz="3200" dirty="0">
                <a:latin typeface="Cambria Math"/>
                <a:cs typeface="Cambria Math"/>
              </a:rPr>
              <a:t>𝑃	𝐴</a:t>
            </a:r>
            <a:r>
              <a:rPr sz="3200" spc="25" dirty="0">
                <a:latin typeface="Cambria Math"/>
                <a:cs typeface="Cambria Math"/>
              </a:rPr>
              <a:t> </a:t>
            </a:r>
            <a:r>
              <a:rPr sz="3200" dirty="0">
                <a:latin typeface="Cambria Math"/>
                <a:cs typeface="Cambria Math"/>
              </a:rPr>
              <a:t>∪ 𝐵	=</a:t>
            </a:r>
            <a:r>
              <a:rPr sz="3200" spc="180" dirty="0">
                <a:latin typeface="Cambria Math"/>
                <a:cs typeface="Cambria Math"/>
              </a:rPr>
              <a:t> </a:t>
            </a:r>
            <a:r>
              <a:rPr sz="3200" dirty="0">
                <a:latin typeface="Cambria Math"/>
                <a:cs typeface="Cambria Math"/>
              </a:rPr>
              <a:t>𝑃	𝐴	+</a:t>
            </a:r>
            <a:r>
              <a:rPr sz="3200" spc="-5" dirty="0">
                <a:latin typeface="Cambria Math"/>
                <a:cs typeface="Cambria Math"/>
              </a:rPr>
              <a:t> </a:t>
            </a:r>
            <a:r>
              <a:rPr sz="3200" dirty="0">
                <a:latin typeface="Cambria Math"/>
                <a:cs typeface="Cambria Math"/>
              </a:rPr>
              <a:t>𝑃	𝐵</a:t>
            </a:r>
            <a:endParaRPr sz="3200">
              <a:latin typeface="Cambria Math"/>
              <a:cs typeface="Cambria Math"/>
            </a:endParaRPr>
          </a:p>
        </p:txBody>
      </p:sp>
      <p:grpSp>
        <p:nvGrpSpPr>
          <p:cNvPr id="7" name="object 7"/>
          <p:cNvGrpSpPr/>
          <p:nvPr/>
        </p:nvGrpSpPr>
        <p:grpSpPr>
          <a:xfrm>
            <a:off x="3185096" y="969200"/>
            <a:ext cx="2749550" cy="1754505"/>
            <a:chOff x="3185096" y="969200"/>
            <a:chExt cx="2749550" cy="1754505"/>
          </a:xfrm>
        </p:grpSpPr>
        <p:sp>
          <p:nvSpPr>
            <p:cNvPr id="8" name="object 8"/>
            <p:cNvSpPr/>
            <p:nvPr/>
          </p:nvSpPr>
          <p:spPr>
            <a:xfrm>
              <a:off x="3198113" y="982218"/>
              <a:ext cx="2723515" cy="1728470"/>
            </a:xfrm>
            <a:custGeom>
              <a:avLst/>
              <a:gdLst/>
              <a:ahLst/>
              <a:cxnLst/>
              <a:rect l="l" t="t" r="r" b="b"/>
              <a:pathLst>
                <a:path w="2723515" h="1728470">
                  <a:moveTo>
                    <a:pt x="2723388" y="0"/>
                  </a:moveTo>
                  <a:lnTo>
                    <a:pt x="0" y="0"/>
                  </a:lnTo>
                  <a:lnTo>
                    <a:pt x="0" y="1728215"/>
                  </a:lnTo>
                  <a:lnTo>
                    <a:pt x="2723388" y="1728215"/>
                  </a:lnTo>
                  <a:lnTo>
                    <a:pt x="2723388" y="0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9" name="object 9"/>
            <p:cNvSpPr/>
            <p:nvPr/>
          </p:nvSpPr>
          <p:spPr>
            <a:xfrm>
              <a:off x="3198113" y="982218"/>
              <a:ext cx="2723515" cy="1728470"/>
            </a:xfrm>
            <a:custGeom>
              <a:avLst/>
              <a:gdLst/>
              <a:ahLst/>
              <a:cxnLst/>
              <a:rect l="l" t="t" r="r" b="b"/>
              <a:pathLst>
                <a:path w="2723515" h="1728470">
                  <a:moveTo>
                    <a:pt x="0" y="1728215"/>
                  </a:moveTo>
                  <a:lnTo>
                    <a:pt x="2723388" y="1728215"/>
                  </a:lnTo>
                  <a:lnTo>
                    <a:pt x="2723388" y="0"/>
                  </a:lnTo>
                  <a:lnTo>
                    <a:pt x="0" y="0"/>
                  </a:lnTo>
                  <a:lnTo>
                    <a:pt x="0" y="1728215"/>
                  </a:lnTo>
                  <a:close/>
                </a:path>
              </a:pathLst>
            </a:custGeom>
            <a:ln w="25908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0" name="object 10"/>
            <p:cNvSpPr/>
            <p:nvPr/>
          </p:nvSpPr>
          <p:spPr>
            <a:xfrm>
              <a:off x="3208019" y="981456"/>
              <a:ext cx="361315" cy="368935"/>
            </a:xfrm>
            <a:custGeom>
              <a:avLst/>
              <a:gdLst/>
              <a:ahLst/>
              <a:cxnLst/>
              <a:rect l="l" t="t" r="r" b="b"/>
              <a:pathLst>
                <a:path w="361314" h="368934">
                  <a:moveTo>
                    <a:pt x="0" y="368808"/>
                  </a:moveTo>
                  <a:lnTo>
                    <a:pt x="361188" y="368808"/>
                  </a:lnTo>
                  <a:lnTo>
                    <a:pt x="361188" y="0"/>
                  </a:lnTo>
                  <a:lnTo>
                    <a:pt x="0" y="0"/>
                  </a:lnTo>
                  <a:lnTo>
                    <a:pt x="0" y="368808"/>
                  </a:lnTo>
                  <a:close/>
                </a:path>
              </a:pathLst>
            </a:custGeom>
            <a:ln w="9144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11" name="object 11"/>
          <p:cNvSpPr txBox="1"/>
          <p:nvPr/>
        </p:nvSpPr>
        <p:spPr>
          <a:xfrm>
            <a:off x="3352546" y="998296"/>
            <a:ext cx="118110" cy="30035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>
              <a:lnSpc>
                <a:spcPct val="100000"/>
              </a:lnSpc>
              <a:spcBef>
                <a:spcPts val="100"/>
              </a:spcBef>
            </a:pPr>
            <a:r>
              <a:rPr sz="1800" dirty="0">
                <a:latin typeface="Calibri"/>
                <a:cs typeface="Calibri"/>
              </a:rPr>
              <a:t>S</a:t>
            </a:r>
            <a:endParaRPr sz="1800">
              <a:latin typeface="Calibri"/>
              <a:cs typeface="Calibri"/>
            </a:endParaRPr>
          </a:p>
        </p:txBody>
      </p:sp>
      <p:grpSp>
        <p:nvGrpSpPr>
          <p:cNvPr id="12" name="object 12"/>
          <p:cNvGrpSpPr/>
          <p:nvPr/>
        </p:nvGrpSpPr>
        <p:grpSpPr>
          <a:xfrm>
            <a:off x="3624008" y="1312100"/>
            <a:ext cx="818515" cy="881380"/>
            <a:chOff x="3624008" y="1312100"/>
            <a:chExt cx="818515" cy="881380"/>
          </a:xfrm>
        </p:grpSpPr>
        <p:sp>
          <p:nvSpPr>
            <p:cNvPr id="13" name="object 13"/>
            <p:cNvSpPr/>
            <p:nvPr/>
          </p:nvSpPr>
          <p:spPr>
            <a:xfrm>
              <a:off x="3637026" y="1325118"/>
              <a:ext cx="792480" cy="855344"/>
            </a:xfrm>
            <a:custGeom>
              <a:avLst/>
              <a:gdLst/>
              <a:ahLst/>
              <a:cxnLst/>
              <a:rect l="l" t="t" r="r" b="b"/>
              <a:pathLst>
                <a:path w="792479" h="855344">
                  <a:moveTo>
                    <a:pt x="396239" y="0"/>
                  </a:moveTo>
                  <a:lnTo>
                    <a:pt x="350033" y="2875"/>
                  </a:lnTo>
                  <a:lnTo>
                    <a:pt x="305390" y="11290"/>
                  </a:lnTo>
                  <a:lnTo>
                    <a:pt x="262611" y="24921"/>
                  </a:lnTo>
                  <a:lnTo>
                    <a:pt x="221990" y="43449"/>
                  </a:lnTo>
                  <a:lnTo>
                    <a:pt x="183827" y="66553"/>
                  </a:lnTo>
                  <a:lnTo>
                    <a:pt x="148418" y="93912"/>
                  </a:lnTo>
                  <a:lnTo>
                    <a:pt x="116062" y="125206"/>
                  </a:lnTo>
                  <a:lnTo>
                    <a:pt x="87054" y="160113"/>
                  </a:lnTo>
                  <a:lnTo>
                    <a:pt x="61693" y="198313"/>
                  </a:lnTo>
                  <a:lnTo>
                    <a:pt x="40277" y="239485"/>
                  </a:lnTo>
                  <a:lnTo>
                    <a:pt x="23102" y="283309"/>
                  </a:lnTo>
                  <a:lnTo>
                    <a:pt x="10465" y="329463"/>
                  </a:lnTo>
                  <a:lnTo>
                    <a:pt x="2666" y="377628"/>
                  </a:lnTo>
                  <a:lnTo>
                    <a:pt x="0" y="427482"/>
                  </a:lnTo>
                  <a:lnTo>
                    <a:pt x="2666" y="477335"/>
                  </a:lnTo>
                  <a:lnTo>
                    <a:pt x="10465" y="525500"/>
                  </a:lnTo>
                  <a:lnTo>
                    <a:pt x="23102" y="571654"/>
                  </a:lnTo>
                  <a:lnTo>
                    <a:pt x="40277" y="615478"/>
                  </a:lnTo>
                  <a:lnTo>
                    <a:pt x="61693" y="656650"/>
                  </a:lnTo>
                  <a:lnTo>
                    <a:pt x="87054" y="694850"/>
                  </a:lnTo>
                  <a:lnTo>
                    <a:pt x="116062" y="729757"/>
                  </a:lnTo>
                  <a:lnTo>
                    <a:pt x="148418" y="761051"/>
                  </a:lnTo>
                  <a:lnTo>
                    <a:pt x="183827" y="788410"/>
                  </a:lnTo>
                  <a:lnTo>
                    <a:pt x="221990" y="811514"/>
                  </a:lnTo>
                  <a:lnTo>
                    <a:pt x="262611" y="830042"/>
                  </a:lnTo>
                  <a:lnTo>
                    <a:pt x="305390" y="843673"/>
                  </a:lnTo>
                  <a:lnTo>
                    <a:pt x="350033" y="852088"/>
                  </a:lnTo>
                  <a:lnTo>
                    <a:pt x="396239" y="854964"/>
                  </a:lnTo>
                  <a:lnTo>
                    <a:pt x="442446" y="852088"/>
                  </a:lnTo>
                  <a:lnTo>
                    <a:pt x="487089" y="843673"/>
                  </a:lnTo>
                  <a:lnTo>
                    <a:pt x="529868" y="830042"/>
                  </a:lnTo>
                  <a:lnTo>
                    <a:pt x="570489" y="811514"/>
                  </a:lnTo>
                  <a:lnTo>
                    <a:pt x="608652" y="788410"/>
                  </a:lnTo>
                  <a:lnTo>
                    <a:pt x="644061" y="761051"/>
                  </a:lnTo>
                  <a:lnTo>
                    <a:pt x="676417" y="729757"/>
                  </a:lnTo>
                  <a:lnTo>
                    <a:pt x="705425" y="694850"/>
                  </a:lnTo>
                  <a:lnTo>
                    <a:pt x="730786" y="656650"/>
                  </a:lnTo>
                  <a:lnTo>
                    <a:pt x="752202" y="615478"/>
                  </a:lnTo>
                  <a:lnTo>
                    <a:pt x="769377" y="571654"/>
                  </a:lnTo>
                  <a:lnTo>
                    <a:pt x="782014" y="525500"/>
                  </a:lnTo>
                  <a:lnTo>
                    <a:pt x="789813" y="477335"/>
                  </a:lnTo>
                  <a:lnTo>
                    <a:pt x="792479" y="427482"/>
                  </a:lnTo>
                  <a:lnTo>
                    <a:pt x="789813" y="377628"/>
                  </a:lnTo>
                  <a:lnTo>
                    <a:pt x="782014" y="329463"/>
                  </a:lnTo>
                  <a:lnTo>
                    <a:pt x="769377" y="283309"/>
                  </a:lnTo>
                  <a:lnTo>
                    <a:pt x="752202" y="239485"/>
                  </a:lnTo>
                  <a:lnTo>
                    <a:pt x="730786" y="198313"/>
                  </a:lnTo>
                  <a:lnTo>
                    <a:pt x="705425" y="160113"/>
                  </a:lnTo>
                  <a:lnTo>
                    <a:pt x="676417" y="125206"/>
                  </a:lnTo>
                  <a:lnTo>
                    <a:pt x="644061" y="93912"/>
                  </a:lnTo>
                  <a:lnTo>
                    <a:pt x="608652" y="66553"/>
                  </a:lnTo>
                  <a:lnTo>
                    <a:pt x="570489" y="43449"/>
                  </a:lnTo>
                  <a:lnTo>
                    <a:pt x="529868" y="24921"/>
                  </a:lnTo>
                  <a:lnTo>
                    <a:pt x="487089" y="11290"/>
                  </a:lnTo>
                  <a:lnTo>
                    <a:pt x="442446" y="2875"/>
                  </a:lnTo>
                  <a:lnTo>
                    <a:pt x="396239" y="0"/>
                  </a:lnTo>
                  <a:close/>
                </a:path>
              </a:pathLst>
            </a:custGeom>
            <a:solidFill>
              <a:srgbClr val="4F81BC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4" name="object 14"/>
            <p:cNvSpPr/>
            <p:nvPr/>
          </p:nvSpPr>
          <p:spPr>
            <a:xfrm>
              <a:off x="3637026" y="1325118"/>
              <a:ext cx="792480" cy="855344"/>
            </a:xfrm>
            <a:custGeom>
              <a:avLst/>
              <a:gdLst/>
              <a:ahLst/>
              <a:cxnLst/>
              <a:rect l="l" t="t" r="r" b="b"/>
              <a:pathLst>
                <a:path w="792479" h="855344">
                  <a:moveTo>
                    <a:pt x="0" y="427482"/>
                  </a:moveTo>
                  <a:lnTo>
                    <a:pt x="2666" y="377628"/>
                  </a:lnTo>
                  <a:lnTo>
                    <a:pt x="10465" y="329463"/>
                  </a:lnTo>
                  <a:lnTo>
                    <a:pt x="23102" y="283309"/>
                  </a:lnTo>
                  <a:lnTo>
                    <a:pt x="40277" y="239485"/>
                  </a:lnTo>
                  <a:lnTo>
                    <a:pt x="61693" y="198313"/>
                  </a:lnTo>
                  <a:lnTo>
                    <a:pt x="87054" y="160113"/>
                  </a:lnTo>
                  <a:lnTo>
                    <a:pt x="116062" y="125206"/>
                  </a:lnTo>
                  <a:lnTo>
                    <a:pt x="148418" y="93912"/>
                  </a:lnTo>
                  <a:lnTo>
                    <a:pt x="183827" y="66553"/>
                  </a:lnTo>
                  <a:lnTo>
                    <a:pt x="221990" y="43449"/>
                  </a:lnTo>
                  <a:lnTo>
                    <a:pt x="262611" y="24921"/>
                  </a:lnTo>
                  <a:lnTo>
                    <a:pt x="305390" y="11290"/>
                  </a:lnTo>
                  <a:lnTo>
                    <a:pt x="350033" y="2875"/>
                  </a:lnTo>
                  <a:lnTo>
                    <a:pt x="396239" y="0"/>
                  </a:lnTo>
                  <a:lnTo>
                    <a:pt x="442446" y="2875"/>
                  </a:lnTo>
                  <a:lnTo>
                    <a:pt x="487089" y="11290"/>
                  </a:lnTo>
                  <a:lnTo>
                    <a:pt x="529868" y="24921"/>
                  </a:lnTo>
                  <a:lnTo>
                    <a:pt x="570489" y="43449"/>
                  </a:lnTo>
                  <a:lnTo>
                    <a:pt x="608652" y="66553"/>
                  </a:lnTo>
                  <a:lnTo>
                    <a:pt x="644061" y="93912"/>
                  </a:lnTo>
                  <a:lnTo>
                    <a:pt x="676417" y="125206"/>
                  </a:lnTo>
                  <a:lnTo>
                    <a:pt x="705425" y="160113"/>
                  </a:lnTo>
                  <a:lnTo>
                    <a:pt x="730786" y="198313"/>
                  </a:lnTo>
                  <a:lnTo>
                    <a:pt x="752202" y="239485"/>
                  </a:lnTo>
                  <a:lnTo>
                    <a:pt x="769377" y="283309"/>
                  </a:lnTo>
                  <a:lnTo>
                    <a:pt x="782014" y="329463"/>
                  </a:lnTo>
                  <a:lnTo>
                    <a:pt x="789813" y="377628"/>
                  </a:lnTo>
                  <a:lnTo>
                    <a:pt x="792479" y="427482"/>
                  </a:lnTo>
                  <a:lnTo>
                    <a:pt x="789813" y="477335"/>
                  </a:lnTo>
                  <a:lnTo>
                    <a:pt x="782014" y="525500"/>
                  </a:lnTo>
                  <a:lnTo>
                    <a:pt x="769377" y="571654"/>
                  </a:lnTo>
                  <a:lnTo>
                    <a:pt x="752202" y="615478"/>
                  </a:lnTo>
                  <a:lnTo>
                    <a:pt x="730786" y="656650"/>
                  </a:lnTo>
                  <a:lnTo>
                    <a:pt x="705425" y="694850"/>
                  </a:lnTo>
                  <a:lnTo>
                    <a:pt x="676417" y="729757"/>
                  </a:lnTo>
                  <a:lnTo>
                    <a:pt x="644061" y="761051"/>
                  </a:lnTo>
                  <a:lnTo>
                    <a:pt x="608652" y="788410"/>
                  </a:lnTo>
                  <a:lnTo>
                    <a:pt x="570489" y="811514"/>
                  </a:lnTo>
                  <a:lnTo>
                    <a:pt x="529868" y="830042"/>
                  </a:lnTo>
                  <a:lnTo>
                    <a:pt x="487089" y="843673"/>
                  </a:lnTo>
                  <a:lnTo>
                    <a:pt x="442446" y="852088"/>
                  </a:lnTo>
                  <a:lnTo>
                    <a:pt x="396239" y="854964"/>
                  </a:lnTo>
                  <a:lnTo>
                    <a:pt x="350033" y="852088"/>
                  </a:lnTo>
                  <a:lnTo>
                    <a:pt x="305390" y="843673"/>
                  </a:lnTo>
                  <a:lnTo>
                    <a:pt x="262611" y="830042"/>
                  </a:lnTo>
                  <a:lnTo>
                    <a:pt x="221990" y="811514"/>
                  </a:lnTo>
                  <a:lnTo>
                    <a:pt x="183827" y="788410"/>
                  </a:lnTo>
                  <a:lnTo>
                    <a:pt x="148418" y="761051"/>
                  </a:lnTo>
                  <a:lnTo>
                    <a:pt x="116062" y="729757"/>
                  </a:lnTo>
                  <a:lnTo>
                    <a:pt x="87054" y="694850"/>
                  </a:lnTo>
                  <a:lnTo>
                    <a:pt x="61693" y="656650"/>
                  </a:lnTo>
                  <a:lnTo>
                    <a:pt x="40277" y="615478"/>
                  </a:lnTo>
                  <a:lnTo>
                    <a:pt x="23102" y="571654"/>
                  </a:lnTo>
                  <a:lnTo>
                    <a:pt x="10465" y="525500"/>
                  </a:lnTo>
                  <a:lnTo>
                    <a:pt x="2666" y="477335"/>
                  </a:lnTo>
                  <a:lnTo>
                    <a:pt x="0" y="427482"/>
                  </a:lnTo>
                  <a:close/>
                </a:path>
              </a:pathLst>
            </a:custGeom>
            <a:ln w="25908">
              <a:solidFill>
                <a:srgbClr val="385D89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15" name="object 15"/>
          <p:cNvSpPr txBox="1"/>
          <p:nvPr/>
        </p:nvSpPr>
        <p:spPr>
          <a:xfrm>
            <a:off x="3966336" y="1586610"/>
            <a:ext cx="145415" cy="29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>
              <a:lnSpc>
                <a:spcPct val="100000"/>
              </a:lnSpc>
              <a:spcBef>
                <a:spcPts val="100"/>
              </a:spcBef>
            </a:pPr>
            <a:r>
              <a:rPr sz="1800" dirty="0">
                <a:solidFill>
                  <a:srgbClr val="FFFFFF"/>
                </a:solidFill>
                <a:latin typeface="Calibri"/>
                <a:cs typeface="Calibri"/>
              </a:rPr>
              <a:t>A</a:t>
            </a:r>
            <a:endParaRPr sz="1800">
              <a:latin typeface="Calibri"/>
              <a:cs typeface="Calibri"/>
            </a:endParaRPr>
          </a:p>
        </p:txBody>
      </p:sp>
      <p:grpSp>
        <p:nvGrpSpPr>
          <p:cNvPr id="16" name="object 16"/>
          <p:cNvGrpSpPr/>
          <p:nvPr/>
        </p:nvGrpSpPr>
        <p:grpSpPr>
          <a:xfrm>
            <a:off x="4631435" y="1338072"/>
            <a:ext cx="818515" cy="855344"/>
            <a:chOff x="4631435" y="1338072"/>
            <a:chExt cx="818515" cy="855344"/>
          </a:xfrm>
        </p:grpSpPr>
        <p:sp>
          <p:nvSpPr>
            <p:cNvPr id="17" name="object 17"/>
            <p:cNvSpPr/>
            <p:nvPr/>
          </p:nvSpPr>
          <p:spPr>
            <a:xfrm>
              <a:off x="4644389" y="1351026"/>
              <a:ext cx="792480" cy="829310"/>
            </a:xfrm>
            <a:custGeom>
              <a:avLst/>
              <a:gdLst/>
              <a:ahLst/>
              <a:cxnLst/>
              <a:rect l="l" t="t" r="r" b="b"/>
              <a:pathLst>
                <a:path w="792479" h="829310">
                  <a:moveTo>
                    <a:pt x="396239" y="0"/>
                  </a:moveTo>
                  <a:lnTo>
                    <a:pt x="350033" y="2788"/>
                  </a:lnTo>
                  <a:lnTo>
                    <a:pt x="305390" y="10945"/>
                  </a:lnTo>
                  <a:lnTo>
                    <a:pt x="262611" y="24161"/>
                  </a:lnTo>
                  <a:lnTo>
                    <a:pt x="221990" y="42125"/>
                  </a:lnTo>
                  <a:lnTo>
                    <a:pt x="183827" y="64526"/>
                  </a:lnTo>
                  <a:lnTo>
                    <a:pt x="148418" y="91053"/>
                  </a:lnTo>
                  <a:lnTo>
                    <a:pt x="116062" y="121396"/>
                  </a:lnTo>
                  <a:lnTo>
                    <a:pt x="87054" y="155243"/>
                  </a:lnTo>
                  <a:lnTo>
                    <a:pt x="61693" y="192285"/>
                  </a:lnTo>
                  <a:lnTo>
                    <a:pt x="40277" y="232210"/>
                  </a:lnTo>
                  <a:lnTo>
                    <a:pt x="23102" y="274707"/>
                  </a:lnTo>
                  <a:lnTo>
                    <a:pt x="10465" y="319466"/>
                  </a:lnTo>
                  <a:lnTo>
                    <a:pt x="2666" y="366177"/>
                  </a:lnTo>
                  <a:lnTo>
                    <a:pt x="0" y="414527"/>
                  </a:lnTo>
                  <a:lnTo>
                    <a:pt x="2666" y="462878"/>
                  </a:lnTo>
                  <a:lnTo>
                    <a:pt x="10465" y="509589"/>
                  </a:lnTo>
                  <a:lnTo>
                    <a:pt x="23102" y="554348"/>
                  </a:lnTo>
                  <a:lnTo>
                    <a:pt x="40277" y="596845"/>
                  </a:lnTo>
                  <a:lnTo>
                    <a:pt x="61693" y="636770"/>
                  </a:lnTo>
                  <a:lnTo>
                    <a:pt x="87054" y="673812"/>
                  </a:lnTo>
                  <a:lnTo>
                    <a:pt x="116062" y="707659"/>
                  </a:lnTo>
                  <a:lnTo>
                    <a:pt x="148418" y="738002"/>
                  </a:lnTo>
                  <a:lnTo>
                    <a:pt x="183827" y="764529"/>
                  </a:lnTo>
                  <a:lnTo>
                    <a:pt x="221990" y="786930"/>
                  </a:lnTo>
                  <a:lnTo>
                    <a:pt x="262611" y="804894"/>
                  </a:lnTo>
                  <a:lnTo>
                    <a:pt x="305390" y="818110"/>
                  </a:lnTo>
                  <a:lnTo>
                    <a:pt x="350033" y="826267"/>
                  </a:lnTo>
                  <a:lnTo>
                    <a:pt x="396239" y="829056"/>
                  </a:lnTo>
                  <a:lnTo>
                    <a:pt x="442446" y="826267"/>
                  </a:lnTo>
                  <a:lnTo>
                    <a:pt x="487089" y="818110"/>
                  </a:lnTo>
                  <a:lnTo>
                    <a:pt x="529868" y="804894"/>
                  </a:lnTo>
                  <a:lnTo>
                    <a:pt x="570489" y="786930"/>
                  </a:lnTo>
                  <a:lnTo>
                    <a:pt x="608652" y="764529"/>
                  </a:lnTo>
                  <a:lnTo>
                    <a:pt x="644061" y="738002"/>
                  </a:lnTo>
                  <a:lnTo>
                    <a:pt x="676417" y="707659"/>
                  </a:lnTo>
                  <a:lnTo>
                    <a:pt x="705425" y="673812"/>
                  </a:lnTo>
                  <a:lnTo>
                    <a:pt x="730786" y="636770"/>
                  </a:lnTo>
                  <a:lnTo>
                    <a:pt x="752202" y="596845"/>
                  </a:lnTo>
                  <a:lnTo>
                    <a:pt x="769377" y="554348"/>
                  </a:lnTo>
                  <a:lnTo>
                    <a:pt x="782014" y="509589"/>
                  </a:lnTo>
                  <a:lnTo>
                    <a:pt x="789813" y="462878"/>
                  </a:lnTo>
                  <a:lnTo>
                    <a:pt x="792480" y="414527"/>
                  </a:lnTo>
                  <a:lnTo>
                    <a:pt x="789813" y="366177"/>
                  </a:lnTo>
                  <a:lnTo>
                    <a:pt x="782014" y="319466"/>
                  </a:lnTo>
                  <a:lnTo>
                    <a:pt x="769377" y="274707"/>
                  </a:lnTo>
                  <a:lnTo>
                    <a:pt x="752202" y="232210"/>
                  </a:lnTo>
                  <a:lnTo>
                    <a:pt x="730786" y="192285"/>
                  </a:lnTo>
                  <a:lnTo>
                    <a:pt x="705425" y="155243"/>
                  </a:lnTo>
                  <a:lnTo>
                    <a:pt x="676417" y="121396"/>
                  </a:lnTo>
                  <a:lnTo>
                    <a:pt x="644061" y="91053"/>
                  </a:lnTo>
                  <a:lnTo>
                    <a:pt x="608652" y="64526"/>
                  </a:lnTo>
                  <a:lnTo>
                    <a:pt x="570489" y="42125"/>
                  </a:lnTo>
                  <a:lnTo>
                    <a:pt x="529868" y="24161"/>
                  </a:lnTo>
                  <a:lnTo>
                    <a:pt x="487089" y="10945"/>
                  </a:lnTo>
                  <a:lnTo>
                    <a:pt x="442446" y="2788"/>
                  </a:lnTo>
                  <a:lnTo>
                    <a:pt x="396239" y="0"/>
                  </a:lnTo>
                  <a:close/>
                </a:path>
              </a:pathLst>
            </a:custGeom>
            <a:solidFill>
              <a:srgbClr val="4F81BC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8" name="object 18"/>
            <p:cNvSpPr/>
            <p:nvPr/>
          </p:nvSpPr>
          <p:spPr>
            <a:xfrm>
              <a:off x="4644389" y="1351026"/>
              <a:ext cx="792480" cy="829310"/>
            </a:xfrm>
            <a:custGeom>
              <a:avLst/>
              <a:gdLst/>
              <a:ahLst/>
              <a:cxnLst/>
              <a:rect l="l" t="t" r="r" b="b"/>
              <a:pathLst>
                <a:path w="792479" h="829310">
                  <a:moveTo>
                    <a:pt x="0" y="414527"/>
                  </a:moveTo>
                  <a:lnTo>
                    <a:pt x="2666" y="366177"/>
                  </a:lnTo>
                  <a:lnTo>
                    <a:pt x="10465" y="319466"/>
                  </a:lnTo>
                  <a:lnTo>
                    <a:pt x="23102" y="274707"/>
                  </a:lnTo>
                  <a:lnTo>
                    <a:pt x="40277" y="232210"/>
                  </a:lnTo>
                  <a:lnTo>
                    <a:pt x="61693" y="192285"/>
                  </a:lnTo>
                  <a:lnTo>
                    <a:pt x="87054" y="155243"/>
                  </a:lnTo>
                  <a:lnTo>
                    <a:pt x="116062" y="121396"/>
                  </a:lnTo>
                  <a:lnTo>
                    <a:pt x="148418" y="91053"/>
                  </a:lnTo>
                  <a:lnTo>
                    <a:pt x="183827" y="64526"/>
                  </a:lnTo>
                  <a:lnTo>
                    <a:pt x="221990" y="42125"/>
                  </a:lnTo>
                  <a:lnTo>
                    <a:pt x="262611" y="24161"/>
                  </a:lnTo>
                  <a:lnTo>
                    <a:pt x="305390" y="10945"/>
                  </a:lnTo>
                  <a:lnTo>
                    <a:pt x="350033" y="2788"/>
                  </a:lnTo>
                  <a:lnTo>
                    <a:pt x="396239" y="0"/>
                  </a:lnTo>
                  <a:lnTo>
                    <a:pt x="442446" y="2788"/>
                  </a:lnTo>
                  <a:lnTo>
                    <a:pt x="487089" y="10945"/>
                  </a:lnTo>
                  <a:lnTo>
                    <a:pt x="529868" y="24161"/>
                  </a:lnTo>
                  <a:lnTo>
                    <a:pt x="570489" y="42125"/>
                  </a:lnTo>
                  <a:lnTo>
                    <a:pt x="608652" y="64526"/>
                  </a:lnTo>
                  <a:lnTo>
                    <a:pt x="644061" y="91053"/>
                  </a:lnTo>
                  <a:lnTo>
                    <a:pt x="676417" y="121396"/>
                  </a:lnTo>
                  <a:lnTo>
                    <a:pt x="705425" y="155243"/>
                  </a:lnTo>
                  <a:lnTo>
                    <a:pt x="730786" y="192285"/>
                  </a:lnTo>
                  <a:lnTo>
                    <a:pt x="752202" y="232210"/>
                  </a:lnTo>
                  <a:lnTo>
                    <a:pt x="769377" y="274707"/>
                  </a:lnTo>
                  <a:lnTo>
                    <a:pt x="782014" y="319466"/>
                  </a:lnTo>
                  <a:lnTo>
                    <a:pt x="789813" y="366177"/>
                  </a:lnTo>
                  <a:lnTo>
                    <a:pt x="792480" y="414527"/>
                  </a:lnTo>
                  <a:lnTo>
                    <a:pt x="789813" y="462878"/>
                  </a:lnTo>
                  <a:lnTo>
                    <a:pt x="782014" y="509589"/>
                  </a:lnTo>
                  <a:lnTo>
                    <a:pt x="769377" y="554348"/>
                  </a:lnTo>
                  <a:lnTo>
                    <a:pt x="752202" y="596845"/>
                  </a:lnTo>
                  <a:lnTo>
                    <a:pt x="730786" y="636770"/>
                  </a:lnTo>
                  <a:lnTo>
                    <a:pt x="705425" y="673812"/>
                  </a:lnTo>
                  <a:lnTo>
                    <a:pt x="676417" y="707659"/>
                  </a:lnTo>
                  <a:lnTo>
                    <a:pt x="644061" y="738002"/>
                  </a:lnTo>
                  <a:lnTo>
                    <a:pt x="608652" y="764529"/>
                  </a:lnTo>
                  <a:lnTo>
                    <a:pt x="570489" y="786930"/>
                  </a:lnTo>
                  <a:lnTo>
                    <a:pt x="529868" y="804894"/>
                  </a:lnTo>
                  <a:lnTo>
                    <a:pt x="487089" y="818110"/>
                  </a:lnTo>
                  <a:lnTo>
                    <a:pt x="442446" y="826267"/>
                  </a:lnTo>
                  <a:lnTo>
                    <a:pt x="396239" y="829056"/>
                  </a:lnTo>
                  <a:lnTo>
                    <a:pt x="350033" y="826267"/>
                  </a:lnTo>
                  <a:lnTo>
                    <a:pt x="305390" y="818110"/>
                  </a:lnTo>
                  <a:lnTo>
                    <a:pt x="262611" y="804894"/>
                  </a:lnTo>
                  <a:lnTo>
                    <a:pt x="221990" y="786930"/>
                  </a:lnTo>
                  <a:lnTo>
                    <a:pt x="183827" y="764529"/>
                  </a:lnTo>
                  <a:lnTo>
                    <a:pt x="148418" y="738002"/>
                  </a:lnTo>
                  <a:lnTo>
                    <a:pt x="116062" y="707659"/>
                  </a:lnTo>
                  <a:lnTo>
                    <a:pt x="87054" y="673812"/>
                  </a:lnTo>
                  <a:lnTo>
                    <a:pt x="61693" y="636770"/>
                  </a:lnTo>
                  <a:lnTo>
                    <a:pt x="40277" y="596845"/>
                  </a:lnTo>
                  <a:lnTo>
                    <a:pt x="23102" y="554348"/>
                  </a:lnTo>
                  <a:lnTo>
                    <a:pt x="10465" y="509589"/>
                  </a:lnTo>
                  <a:lnTo>
                    <a:pt x="2666" y="462878"/>
                  </a:lnTo>
                  <a:lnTo>
                    <a:pt x="0" y="414527"/>
                  </a:lnTo>
                  <a:close/>
                </a:path>
              </a:pathLst>
            </a:custGeom>
            <a:ln w="25908">
              <a:solidFill>
                <a:srgbClr val="385D89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19" name="object 19"/>
          <p:cNvSpPr txBox="1"/>
          <p:nvPr/>
        </p:nvSpPr>
        <p:spPr>
          <a:xfrm>
            <a:off x="4977638" y="1599691"/>
            <a:ext cx="137160" cy="29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>
              <a:lnSpc>
                <a:spcPct val="100000"/>
              </a:lnSpc>
              <a:spcBef>
                <a:spcPts val="100"/>
              </a:spcBef>
            </a:pPr>
            <a:r>
              <a:rPr sz="1800" dirty="0">
                <a:solidFill>
                  <a:srgbClr val="FFFFFF"/>
                </a:solidFill>
                <a:latin typeface="Calibri"/>
                <a:cs typeface="Calibri"/>
              </a:rPr>
              <a:t>B</a:t>
            </a:r>
            <a:endParaRPr sz="1800">
              <a:latin typeface="Calibri"/>
              <a:cs typeface="Calibri"/>
            </a:endParaRPr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1762125" y="773049"/>
            <a:ext cx="5621655" cy="513715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z="3200" spc="-15" dirty="0"/>
              <a:t>Contoh </a:t>
            </a:r>
            <a:r>
              <a:rPr sz="3200" spc="-5" dirty="0"/>
              <a:t>Soal </a:t>
            </a:r>
            <a:r>
              <a:rPr sz="3200" spc="-10" dirty="0"/>
              <a:t>Kejadian </a:t>
            </a:r>
            <a:r>
              <a:rPr sz="3200" spc="-5" dirty="0"/>
              <a:t>Saling</a:t>
            </a:r>
            <a:r>
              <a:rPr sz="3200" spc="60" dirty="0"/>
              <a:t> </a:t>
            </a:r>
            <a:r>
              <a:rPr sz="3200" spc="-5" dirty="0"/>
              <a:t>Lepas</a:t>
            </a:r>
            <a:endParaRPr sz="3200"/>
          </a:p>
        </p:txBody>
      </p:sp>
      <p:sp>
        <p:nvSpPr>
          <p:cNvPr id="3" name="object 3"/>
          <p:cNvSpPr txBox="1"/>
          <p:nvPr/>
        </p:nvSpPr>
        <p:spPr>
          <a:xfrm>
            <a:off x="906576" y="1357376"/>
            <a:ext cx="7405370" cy="940435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 marR="5080" algn="just">
              <a:lnSpc>
                <a:spcPct val="100000"/>
              </a:lnSpc>
              <a:spcBef>
                <a:spcPts val="105"/>
              </a:spcBef>
            </a:pPr>
            <a:r>
              <a:rPr sz="2000" dirty="0">
                <a:latin typeface="Calibri"/>
                <a:cs typeface="Calibri"/>
              </a:rPr>
              <a:t>1. </a:t>
            </a:r>
            <a:r>
              <a:rPr sz="2000" spc="-5" dirty="0">
                <a:latin typeface="Calibri"/>
                <a:cs typeface="Calibri"/>
              </a:rPr>
              <a:t>Hitung </a:t>
            </a:r>
            <a:r>
              <a:rPr sz="2000" spc="-10" dirty="0">
                <a:latin typeface="Calibri"/>
                <a:cs typeface="Calibri"/>
              </a:rPr>
              <a:t>beberapa probabilitas bahwa </a:t>
            </a:r>
            <a:r>
              <a:rPr sz="2000" spc="-5" dirty="0">
                <a:latin typeface="Calibri"/>
                <a:cs typeface="Calibri"/>
              </a:rPr>
              <a:t>sebuah </a:t>
            </a:r>
            <a:r>
              <a:rPr sz="2000" spc="-20" dirty="0">
                <a:latin typeface="Calibri"/>
                <a:cs typeface="Calibri"/>
              </a:rPr>
              <a:t>paket </a:t>
            </a:r>
            <a:r>
              <a:rPr sz="2000" spc="-10" dirty="0">
                <a:latin typeface="Calibri"/>
                <a:cs typeface="Calibri"/>
              </a:rPr>
              <a:t>tertentu </a:t>
            </a:r>
            <a:r>
              <a:rPr sz="2000" spc="-20" dirty="0">
                <a:latin typeface="Calibri"/>
                <a:cs typeface="Calibri"/>
              </a:rPr>
              <a:t>beratnya  </a:t>
            </a:r>
            <a:r>
              <a:rPr sz="2000" spc="-10" dirty="0">
                <a:latin typeface="Calibri"/>
                <a:cs typeface="Calibri"/>
              </a:rPr>
              <a:t>akan </a:t>
            </a:r>
            <a:r>
              <a:rPr sz="2000" spc="-5" dirty="0">
                <a:latin typeface="Calibri"/>
                <a:cs typeface="Calibri"/>
              </a:rPr>
              <a:t>lebih </a:t>
            </a:r>
            <a:r>
              <a:rPr sz="2000" spc="-10" dirty="0">
                <a:latin typeface="Calibri"/>
                <a:cs typeface="Calibri"/>
              </a:rPr>
              <a:t>ringan </a:t>
            </a:r>
            <a:r>
              <a:rPr sz="2000" spc="-15" dirty="0">
                <a:latin typeface="Calibri"/>
                <a:cs typeface="Calibri"/>
              </a:rPr>
              <a:t>atau </a:t>
            </a:r>
            <a:r>
              <a:rPr sz="2000" spc="-5" dirty="0">
                <a:latin typeface="Calibri"/>
                <a:cs typeface="Calibri"/>
              </a:rPr>
              <a:t>lebih </a:t>
            </a:r>
            <a:r>
              <a:rPr sz="2000" spc="-15" dirty="0">
                <a:latin typeface="Calibri"/>
                <a:cs typeface="Calibri"/>
              </a:rPr>
              <a:t>berat </a:t>
            </a:r>
            <a:r>
              <a:rPr sz="2000" spc="-5" dirty="0">
                <a:latin typeface="Calibri"/>
                <a:cs typeface="Calibri"/>
              </a:rPr>
              <a:t>dari </a:t>
            </a:r>
            <a:r>
              <a:rPr sz="2000" spc="-15" dirty="0">
                <a:latin typeface="Calibri"/>
                <a:cs typeface="Calibri"/>
              </a:rPr>
              <a:t>berat </a:t>
            </a:r>
            <a:r>
              <a:rPr sz="2000" spc="-10" dirty="0">
                <a:latin typeface="Calibri"/>
                <a:cs typeface="Calibri"/>
              </a:rPr>
              <a:t>standar </a:t>
            </a:r>
            <a:r>
              <a:rPr sz="2000" dirty="0">
                <a:latin typeface="Calibri"/>
                <a:cs typeface="Calibri"/>
              </a:rPr>
              <a:t>pada </a:t>
            </a:r>
            <a:r>
              <a:rPr sz="2000" spc="-5" dirty="0">
                <a:latin typeface="Calibri"/>
                <a:cs typeface="Calibri"/>
              </a:rPr>
              <a:t>tabel  </a:t>
            </a:r>
            <a:r>
              <a:rPr sz="2000" spc="-10" dirty="0">
                <a:latin typeface="Calibri"/>
                <a:cs typeface="Calibri"/>
              </a:rPr>
              <a:t>dibawah </a:t>
            </a:r>
            <a:r>
              <a:rPr sz="2000" dirty="0">
                <a:latin typeface="Calibri"/>
                <a:cs typeface="Calibri"/>
              </a:rPr>
              <a:t>ini?</a:t>
            </a:r>
            <a:endParaRPr sz="2000">
              <a:latin typeface="Calibri"/>
              <a:cs typeface="Calibri"/>
            </a:endParaRPr>
          </a:p>
        </p:txBody>
      </p:sp>
      <p:graphicFrame>
        <p:nvGraphicFramePr>
          <p:cNvPr id="4" name="object 4"/>
          <p:cNvGraphicFramePr>
            <a:graphicFrameLocks noGrp="1"/>
          </p:cNvGraphicFramePr>
          <p:nvPr/>
        </p:nvGraphicFramePr>
        <p:xfrm>
          <a:off x="2549398" y="2270505"/>
          <a:ext cx="4246879" cy="1872232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113728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85788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17983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071879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267462"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50"/>
                        </a:spcBef>
                      </a:pPr>
                      <a:r>
                        <a:rPr sz="1200" b="1" spc="-10" dirty="0">
                          <a:solidFill>
                            <a:srgbClr val="FFFFFF"/>
                          </a:solidFill>
                          <a:latin typeface="Calibri"/>
                          <a:cs typeface="Calibri"/>
                        </a:rPr>
                        <a:t>Berat</a:t>
                      </a:r>
                      <a:endParaRPr sz="1200">
                        <a:latin typeface="Calibri"/>
                        <a:cs typeface="Calibri"/>
                      </a:endParaRPr>
                    </a:p>
                  </a:txBody>
                  <a:tcPr marL="0" marR="0" marT="6350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38100">
                      <a:solidFill>
                        <a:srgbClr val="FFFFFF"/>
                      </a:solidFill>
                      <a:prstDash val="solid"/>
                    </a:lnB>
                    <a:solidFill>
                      <a:srgbClr val="4F81B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50"/>
                        </a:spcBef>
                      </a:pPr>
                      <a:r>
                        <a:rPr sz="1200" b="1" spc="-5" dirty="0">
                          <a:solidFill>
                            <a:srgbClr val="FFFFFF"/>
                          </a:solidFill>
                          <a:latin typeface="Calibri"/>
                          <a:cs typeface="Calibri"/>
                        </a:rPr>
                        <a:t>Kejadian</a:t>
                      </a:r>
                      <a:endParaRPr sz="1200">
                        <a:latin typeface="Calibri"/>
                        <a:cs typeface="Calibri"/>
                      </a:endParaRPr>
                    </a:p>
                  </a:txBody>
                  <a:tcPr marL="0" marR="0" marT="6350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38100">
                      <a:solidFill>
                        <a:srgbClr val="FFFFFF"/>
                      </a:solidFill>
                      <a:prstDash val="solid"/>
                    </a:lnB>
                    <a:solidFill>
                      <a:srgbClr val="4F81B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50"/>
                        </a:spcBef>
                      </a:pPr>
                      <a:r>
                        <a:rPr sz="1200" b="1" spc="-5" dirty="0">
                          <a:solidFill>
                            <a:srgbClr val="FFFFFF"/>
                          </a:solidFill>
                          <a:latin typeface="Calibri"/>
                          <a:cs typeface="Calibri"/>
                        </a:rPr>
                        <a:t>Jumlah</a:t>
                      </a:r>
                      <a:r>
                        <a:rPr sz="1200" b="1" dirty="0">
                          <a:solidFill>
                            <a:srgbClr val="FFFFFF"/>
                          </a:solidFill>
                          <a:latin typeface="Calibri"/>
                          <a:cs typeface="Calibri"/>
                        </a:rPr>
                        <a:t> </a:t>
                      </a:r>
                      <a:r>
                        <a:rPr sz="1200" b="1" spc="-20" dirty="0">
                          <a:solidFill>
                            <a:srgbClr val="FFFFFF"/>
                          </a:solidFill>
                          <a:latin typeface="Calibri"/>
                          <a:cs typeface="Calibri"/>
                        </a:rPr>
                        <a:t>Paket</a:t>
                      </a:r>
                      <a:endParaRPr sz="1200">
                        <a:latin typeface="Calibri"/>
                        <a:cs typeface="Calibri"/>
                      </a:endParaRPr>
                    </a:p>
                  </a:txBody>
                  <a:tcPr marL="0" marR="0" marT="6350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38100">
                      <a:solidFill>
                        <a:srgbClr val="FFFFFF"/>
                      </a:solidFill>
                      <a:prstDash val="solid"/>
                    </a:lnB>
                    <a:solidFill>
                      <a:srgbClr val="4F81B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50"/>
                        </a:spcBef>
                      </a:pPr>
                      <a:r>
                        <a:rPr sz="1200" b="1" spc="-5" dirty="0">
                          <a:solidFill>
                            <a:srgbClr val="FFFFFF"/>
                          </a:solidFill>
                          <a:latin typeface="Calibri"/>
                          <a:cs typeface="Calibri"/>
                        </a:rPr>
                        <a:t>Probabilitas</a:t>
                      </a:r>
                      <a:endParaRPr sz="1200">
                        <a:latin typeface="Calibri"/>
                        <a:cs typeface="Calibri"/>
                      </a:endParaRPr>
                    </a:p>
                  </a:txBody>
                  <a:tcPr marL="0" marR="0" marT="6350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38100">
                      <a:solidFill>
                        <a:srgbClr val="FFFFFF"/>
                      </a:solidFill>
                      <a:prstDash val="solid"/>
                    </a:lnB>
                    <a:solidFill>
                      <a:srgbClr val="4F81B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31343"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50"/>
                        </a:spcBef>
                      </a:pPr>
                      <a:r>
                        <a:rPr sz="1200" b="1" spc="-5" dirty="0">
                          <a:solidFill>
                            <a:srgbClr val="FFFFFF"/>
                          </a:solidFill>
                          <a:latin typeface="Calibri"/>
                          <a:cs typeface="Calibri"/>
                        </a:rPr>
                        <a:t>Lebih</a:t>
                      </a:r>
                      <a:r>
                        <a:rPr sz="1200" b="1" dirty="0">
                          <a:solidFill>
                            <a:srgbClr val="FFFFFF"/>
                          </a:solidFill>
                          <a:latin typeface="Calibri"/>
                          <a:cs typeface="Calibri"/>
                        </a:rPr>
                        <a:t> </a:t>
                      </a:r>
                      <a:r>
                        <a:rPr sz="1200" b="1" spc="-10" dirty="0">
                          <a:solidFill>
                            <a:srgbClr val="FFFFFF"/>
                          </a:solidFill>
                          <a:latin typeface="Calibri"/>
                          <a:cs typeface="Calibri"/>
                        </a:rPr>
                        <a:t>ringan</a:t>
                      </a:r>
                      <a:endParaRPr sz="1200">
                        <a:latin typeface="Calibri"/>
                        <a:cs typeface="Calibri"/>
                      </a:endParaRPr>
                    </a:p>
                  </a:txBody>
                  <a:tcPr marL="0" marR="0" marT="6350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38100">
                      <a:solidFill>
                        <a:srgbClr val="FFFFFF"/>
                      </a:solidFill>
                      <a:prstDash val="solid"/>
                    </a:lnT>
                    <a:solidFill>
                      <a:srgbClr val="4F81B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50"/>
                        </a:spcBef>
                      </a:pPr>
                      <a:r>
                        <a:rPr sz="1200" dirty="0">
                          <a:latin typeface="Calibri"/>
                          <a:cs typeface="Calibri"/>
                        </a:rPr>
                        <a:t>A</a:t>
                      </a:r>
                      <a:endParaRPr sz="1200">
                        <a:latin typeface="Calibri"/>
                        <a:cs typeface="Calibri"/>
                      </a:endParaRPr>
                    </a:p>
                  </a:txBody>
                  <a:tcPr marL="0" marR="0" marT="6350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38100">
                      <a:solidFill>
                        <a:srgbClr val="FFFFFF"/>
                      </a:solidFill>
                      <a:prstDash val="solid"/>
                    </a:lnT>
                    <a:solidFill>
                      <a:srgbClr val="D0D7E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50"/>
                        </a:spcBef>
                      </a:pPr>
                      <a:r>
                        <a:rPr sz="1200" dirty="0">
                          <a:latin typeface="Calibri"/>
                          <a:cs typeface="Calibri"/>
                        </a:rPr>
                        <a:t>100</a:t>
                      </a:r>
                      <a:endParaRPr sz="1200">
                        <a:latin typeface="Calibri"/>
                        <a:cs typeface="Calibri"/>
                      </a:endParaRPr>
                    </a:p>
                  </a:txBody>
                  <a:tcPr marL="0" marR="0" marT="6350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38100">
                      <a:solidFill>
                        <a:srgbClr val="FFFFFF"/>
                      </a:solidFill>
                      <a:prstDash val="solid"/>
                    </a:lnT>
                    <a:solidFill>
                      <a:srgbClr val="D0D7E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50"/>
                        </a:spcBef>
                      </a:pPr>
                      <a:r>
                        <a:rPr sz="1200" dirty="0">
                          <a:latin typeface="Calibri"/>
                          <a:cs typeface="Calibri"/>
                        </a:rPr>
                        <a:t>0,025</a:t>
                      </a:r>
                      <a:endParaRPr sz="1200">
                        <a:latin typeface="Calibri"/>
                        <a:cs typeface="Calibri"/>
                      </a:endParaRPr>
                    </a:p>
                  </a:txBody>
                  <a:tcPr marL="0" marR="0" marT="6350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38100">
                      <a:solidFill>
                        <a:srgbClr val="FFFFFF"/>
                      </a:solidFill>
                      <a:prstDash val="solid"/>
                    </a:lnT>
                    <a:solidFill>
                      <a:srgbClr val="D0D7E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20750"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755"/>
                        </a:spcBef>
                      </a:pPr>
                      <a:r>
                        <a:rPr sz="1200" b="1" spc="-5" dirty="0">
                          <a:solidFill>
                            <a:srgbClr val="FFFFFF"/>
                          </a:solidFill>
                          <a:latin typeface="Calibri"/>
                          <a:cs typeface="Calibri"/>
                        </a:rPr>
                        <a:t>Standar</a:t>
                      </a:r>
                      <a:endParaRPr sz="1200">
                        <a:latin typeface="Calibri"/>
                        <a:cs typeface="Calibri"/>
                      </a:endParaRPr>
                    </a:p>
                  </a:txBody>
                  <a:tcPr marL="0" marR="0" marT="95885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solidFill>
                      <a:srgbClr val="4F81B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755"/>
                        </a:spcBef>
                      </a:pPr>
                      <a:r>
                        <a:rPr sz="1200" dirty="0">
                          <a:latin typeface="Calibri"/>
                          <a:cs typeface="Calibri"/>
                        </a:rPr>
                        <a:t>B</a:t>
                      </a:r>
                      <a:endParaRPr sz="1200">
                        <a:latin typeface="Calibri"/>
                        <a:cs typeface="Calibri"/>
                      </a:endParaRPr>
                    </a:p>
                  </a:txBody>
                  <a:tcPr marL="0" marR="0" marT="95885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solidFill>
                      <a:srgbClr val="D0D7E8"/>
                    </a:solidFill>
                  </a:tcPr>
                </a:tc>
                <a:tc>
                  <a:txBody>
                    <a:bodyPr/>
                    <a:lstStyle/>
                    <a:p>
                      <a:pPr marL="635" algn="ctr">
                        <a:lnSpc>
                          <a:spcPct val="100000"/>
                        </a:lnSpc>
                        <a:spcBef>
                          <a:spcPts val="755"/>
                        </a:spcBef>
                      </a:pPr>
                      <a:r>
                        <a:rPr sz="1200" dirty="0">
                          <a:latin typeface="Calibri"/>
                          <a:cs typeface="Calibri"/>
                        </a:rPr>
                        <a:t>3600</a:t>
                      </a:r>
                      <a:endParaRPr sz="1200">
                        <a:latin typeface="Calibri"/>
                        <a:cs typeface="Calibri"/>
                      </a:endParaRPr>
                    </a:p>
                  </a:txBody>
                  <a:tcPr marL="0" marR="0" marT="95885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solidFill>
                      <a:srgbClr val="D0D7E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755"/>
                        </a:spcBef>
                      </a:pPr>
                      <a:r>
                        <a:rPr sz="1200" dirty="0">
                          <a:latin typeface="Calibri"/>
                          <a:cs typeface="Calibri"/>
                        </a:rPr>
                        <a:t>0,900</a:t>
                      </a:r>
                      <a:endParaRPr sz="1200">
                        <a:latin typeface="Calibri"/>
                        <a:cs typeface="Calibri"/>
                      </a:endParaRPr>
                    </a:p>
                  </a:txBody>
                  <a:tcPr marL="0" marR="0" marT="95885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solidFill>
                      <a:srgbClr val="D0D7E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585215"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755"/>
                        </a:spcBef>
                      </a:pPr>
                      <a:r>
                        <a:rPr sz="1200" b="1" spc="-5" dirty="0">
                          <a:solidFill>
                            <a:srgbClr val="FFFFFF"/>
                          </a:solidFill>
                          <a:latin typeface="Calibri"/>
                          <a:cs typeface="Calibri"/>
                        </a:rPr>
                        <a:t>Lebih</a:t>
                      </a:r>
                      <a:r>
                        <a:rPr sz="1200" b="1" dirty="0">
                          <a:solidFill>
                            <a:srgbClr val="FFFFFF"/>
                          </a:solidFill>
                          <a:latin typeface="Calibri"/>
                          <a:cs typeface="Calibri"/>
                        </a:rPr>
                        <a:t> </a:t>
                      </a:r>
                      <a:r>
                        <a:rPr sz="1200" b="1" spc="-10" dirty="0">
                          <a:solidFill>
                            <a:srgbClr val="FFFFFF"/>
                          </a:solidFill>
                          <a:latin typeface="Calibri"/>
                          <a:cs typeface="Calibri"/>
                        </a:rPr>
                        <a:t>berat</a:t>
                      </a:r>
                      <a:endParaRPr sz="1200">
                        <a:latin typeface="Calibri"/>
                        <a:cs typeface="Calibri"/>
                      </a:endParaRPr>
                    </a:p>
                  </a:txBody>
                  <a:tcPr marL="0" marR="0" marT="95885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4F81BC"/>
                    </a:solidFill>
                  </a:tcPr>
                </a:tc>
                <a:tc>
                  <a:txBody>
                    <a:bodyPr/>
                    <a:lstStyle/>
                    <a:p>
                      <a:pPr marL="1270" algn="ctr">
                        <a:lnSpc>
                          <a:spcPct val="100000"/>
                        </a:lnSpc>
                        <a:spcBef>
                          <a:spcPts val="755"/>
                        </a:spcBef>
                      </a:pPr>
                      <a:r>
                        <a:rPr sz="1200" dirty="0">
                          <a:latin typeface="Calibri"/>
                          <a:cs typeface="Calibri"/>
                        </a:rPr>
                        <a:t>C</a:t>
                      </a:r>
                      <a:endParaRPr sz="1200">
                        <a:latin typeface="Calibri"/>
                        <a:cs typeface="Calibri"/>
                      </a:endParaRPr>
                    </a:p>
                  </a:txBody>
                  <a:tcPr marL="0" marR="0" marT="95885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D0D7E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755"/>
                        </a:spcBef>
                      </a:pPr>
                      <a:r>
                        <a:rPr sz="1200" dirty="0">
                          <a:latin typeface="Calibri"/>
                          <a:cs typeface="Calibri"/>
                        </a:rPr>
                        <a:t>300</a:t>
                      </a:r>
                      <a:endParaRPr sz="1200">
                        <a:latin typeface="Calibri"/>
                        <a:cs typeface="Calibri"/>
                      </a:endParaRPr>
                    </a:p>
                  </a:txBody>
                  <a:tcPr marL="0" marR="0" marT="95885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D0D7E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755"/>
                        </a:spcBef>
                      </a:pPr>
                      <a:r>
                        <a:rPr sz="1200" dirty="0">
                          <a:latin typeface="Calibri"/>
                          <a:cs typeface="Calibri"/>
                        </a:rPr>
                        <a:t>0,075</a:t>
                      </a:r>
                      <a:endParaRPr sz="1200">
                        <a:latin typeface="Calibri"/>
                        <a:cs typeface="Calibri"/>
                      </a:endParaRPr>
                    </a:p>
                  </a:txBody>
                  <a:tcPr marL="0" marR="0" marT="95885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D0D7E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267462"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55"/>
                        </a:spcBef>
                      </a:pPr>
                      <a:r>
                        <a:rPr sz="1200" b="1" spc="-5" dirty="0">
                          <a:solidFill>
                            <a:srgbClr val="FFFFFF"/>
                          </a:solidFill>
                          <a:latin typeface="Calibri"/>
                          <a:cs typeface="Calibri"/>
                        </a:rPr>
                        <a:t>Jumlah</a:t>
                      </a:r>
                      <a:endParaRPr sz="1200">
                        <a:latin typeface="Calibri"/>
                        <a:cs typeface="Calibri"/>
                      </a:endParaRPr>
                    </a:p>
                  </a:txBody>
                  <a:tcPr marL="0" marR="0" marT="6985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4F81BC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6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E9ECF4"/>
                    </a:solidFill>
                  </a:tcPr>
                </a:tc>
                <a:tc>
                  <a:txBody>
                    <a:bodyPr/>
                    <a:lstStyle/>
                    <a:p>
                      <a:pPr marL="635" algn="ctr">
                        <a:lnSpc>
                          <a:spcPct val="100000"/>
                        </a:lnSpc>
                        <a:spcBef>
                          <a:spcPts val="55"/>
                        </a:spcBef>
                      </a:pPr>
                      <a:r>
                        <a:rPr sz="1200" dirty="0">
                          <a:latin typeface="Calibri"/>
                          <a:cs typeface="Calibri"/>
                        </a:rPr>
                        <a:t>4000</a:t>
                      </a:r>
                      <a:endParaRPr sz="1200">
                        <a:latin typeface="Calibri"/>
                        <a:cs typeface="Calibri"/>
                      </a:endParaRPr>
                    </a:p>
                  </a:txBody>
                  <a:tcPr marL="0" marR="0" marT="6985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E9ECF4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55"/>
                        </a:spcBef>
                      </a:pPr>
                      <a:r>
                        <a:rPr sz="1200" dirty="0">
                          <a:latin typeface="Calibri"/>
                          <a:cs typeface="Calibri"/>
                        </a:rPr>
                        <a:t>1,000</a:t>
                      </a:r>
                      <a:endParaRPr sz="1200">
                        <a:latin typeface="Calibri"/>
                        <a:cs typeface="Calibri"/>
                      </a:endParaRPr>
                    </a:p>
                  </a:txBody>
                  <a:tcPr marL="0" marR="0" marT="6985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E9ECF4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  <p:sp>
        <p:nvSpPr>
          <p:cNvPr id="5" name="object 5"/>
          <p:cNvSpPr/>
          <p:nvPr/>
        </p:nvSpPr>
        <p:spPr>
          <a:xfrm>
            <a:off x="2666110" y="4601971"/>
            <a:ext cx="701040" cy="212090"/>
          </a:xfrm>
          <a:custGeom>
            <a:avLst/>
            <a:gdLst/>
            <a:ahLst/>
            <a:cxnLst/>
            <a:rect l="l" t="t" r="r" b="b"/>
            <a:pathLst>
              <a:path w="701039" h="212089">
                <a:moveTo>
                  <a:pt x="633349" y="0"/>
                </a:moveTo>
                <a:lnTo>
                  <a:pt x="630427" y="8635"/>
                </a:lnTo>
                <a:lnTo>
                  <a:pt x="642641" y="13946"/>
                </a:lnTo>
                <a:lnTo>
                  <a:pt x="653176" y="21304"/>
                </a:lnTo>
                <a:lnTo>
                  <a:pt x="674590" y="55429"/>
                </a:lnTo>
                <a:lnTo>
                  <a:pt x="681609" y="104775"/>
                </a:lnTo>
                <a:lnTo>
                  <a:pt x="680823" y="123517"/>
                </a:lnTo>
                <a:lnTo>
                  <a:pt x="669036" y="169290"/>
                </a:lnTo>
                <a:lnTo>
                  <a:pt x="642782" y="197865"/>
                </a:lnTo>
                <a:lnTo>
                  <a:pt x="630681" y="203200"/>
                </a:lnTo>
                <a:lnTo>
                  <a:pt x="633349" y="211708"/>
                </a:lnTo>
                <a:lnTo>
                  <a:pt x="673871" y="187706"/>
                </a:lnTo>
                <a:lnTo>
                  <a:pt x="696547" y="143335"/>
                </a:lnTo>
                <a:lnTo>
                  <a:pt x="700913" y="105917"/>
                </a:lnTo>
                <a:lnTo>
                  <a:pt x="699819" y="86536"/>
                </a:lnTo>
                <a:lnTo>
                  <a:pt x="683513" y="37083"/>
                </a:lnTo>
                <a:lnTo>
                  <a:pt x="648706" y="5544"/>
                </a:lnTo>
                <a:lnTo>
                  <a:pt x="633349" y="0"/>
                </a:lnTo>
                <a:close/>
              </a:path>
              <a:path w="701039" h="212089">
                <a:moveTo>
                  <a:pt x="67563" y="0"/>
                </a:moveTo>
                <a:lnTo>
                  <a:pt x="27219" y="24110"/>
                </a:lnTo>
                <a:lnTo>
                  <a:pt x="4381" y="68595"/>
                </a:lnTo>
                <a:lnTo>
                  <a:pt x="0" y="105917"/>
                </a:lnTo>
                <a:lnTo>
                  <a:pt x="1095" y="125370"/>
                </a:lnTo>
                <a:lnTo>
                  <a:pt x="17525" y="174751"/>
                </a:lnTo>
                <a:lnTo>
                  <a:pt x="52208" y="206184"/>
                </a:lnTo>
                <a:lnTo>
                  <a:pt x="67563" y="211708"/>
                </a:lnTo>
                <a:lnTo>
                  <a:pt x="70231" y="203200"/>
                </a:lnTo>
                <a:lnTo>
                  <a:pt x="58183" y="197865"/>
                </a:lnTo>
                <a:lnTo>
                  <a:pt x="47767" y="190436"/>
                </a:lnTo>
                <a:lnTo>
                  <a:pt x="26396" y="155763"/>
                </a:lnTo>
                <a:lnTo>
                  <a:pt x="19431" y="104775"/>
                </a:lnTo>
                <a:lnTo>
                  <a:pt x="20196" y="86723"/>
                </a:lnTo>
                <a:lnTo>
                  <a:pt x="31876" y="42163"/>
                </a:lnTo>
                <a:lnTo>
                  <a:pt x="58398" y="13946"/>
                </a:lnTo>
                <a:lnTo>
                  <a:pt x="70612" y="8635"/>
                </a:lnTo>
                <a:lnTo>
                  <a:pt x="67563" y="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6" name="object 6"/>
          <p:cNvSpPr/>
          <p:nvPr/>
        </p:nvSpPr>
        <p:spPr>
          <a:xfrm>
            <a:off x="3851783" y="4601971"/>
            <a:ext cx="295910" cy="212090"/>
          </a:xfrm>
          <a:custGeom>
            <a:avLst/>
            <a:gdLst/>
            <a:ahLst/>
            <a:cxnLst/>
            <a:rect l="l" t="t" r="r" b="b"/>
            <a:pathLst>
              <a:path w="295910" h="212089">
                <a:moveTo>
                  <a:pt x="227964" y="0"/>
                </a:moveTo>
                <a:lnTo>
                  <a:pt x="225043" y="8635"/>
                </a:lnTo>
                <a:lnTo>
                  <a:pt x="237257" y="13946"/>
                </a:lnTo>
                <a:lnTo>
                  <a:pt x="247792" y="21304"/>
                </a:lnTo>
                <a:lnTo>
                  <a:pt x="269206" y="55429"/>
                </a:lnTo>
                <a:lnTo>
                  <a:pt x="276225" y="104775"/>
                </a:lnTo>
                <a:lnTo>
                  <a:pt x="275439" y="123517"/>
                </a:lnTo>
                <a:lnTo>
                  <a:pt x="263651" y="169290"/>
                </a:lnTo>
                <a:lnTo>
                  <a:pt x="237398" y="197865"/>
                </a:lnTo>
                <a:lnTo>
                  <a:pt x="225297" y="203200"/>
                </a:lnTo>
                <a:lnTo>
                  <a:pt x="227964" y="211708"/>
                </a:lnTo>
                <a:lnTo>
                  <a:pt x="268487" y="187706"/>
                </a:lnTo>
                <a:lnTo>
                  <a:pt x="291163" y="143335"/>
                </a:lnTo>
                <a:lnTo>
                  <a:pt x="295528" y="105917"/>
                </a:lnTo>
                <a:lnTo>
                  <a:pt x="294435" y="86536"/>
                </a:lnTo>
                <a:lnTo>
                  <a:pt x="278129" y="37083"/>
                </a:lnTo>
                <a:lnTo>
                  <a:pt x="243322" y="5544"/>
                </a:lnTo>
                <a:lnTo>
                  <a:pt x="227964" y="0"/>
                </a:lnTo>
                <a:close/>
              </a:path>
              <a:path w="295910" h="212089">
                <a:moveTo>
                  <a:pt x="67563" y="0"/>
                </a:moveTo>
                <a:lnTo>
                  <a:pt x="27219" y="24110"/>
                </a:lnTo>
                <a:lnTo>
                  <a:pt x="4381" y="68595"/>
                </a:lnTo>
                <a:lnTo>
                  <a:pt x="0" y="105917"/>
                </a:lnTo>
                <a:lnTo>
                  <a:pt x="1095" y="125370"/>
                </a:lnTo>
                <a:lnTo>
                  <a:pt x="17525" y="174751"/>
                </a:lnTo>
                <a:lnTo>
                  <a:pt x="52208" y="206184"/>
                </a:lnTo>
                <a:lnTo>
                  <a:pt x="67563" y="211708"/>
                </a:lnTo>
                <a:lnTo>
                  <a:pt x="70230" y="203200"/>
                </a:lnTo>
                <a:lnTo>
                  <a:pt x="58183" y="197865"/>
                </a:lnTo>
                <a:lnTo>
                  <a:pt x="47767" y="190436"/>
                </a:lnTo>
                <a:lnTo>
                  <a:pt x="26396" y="155763"/>
                </a:lnTo>
                <a:lnTo>
                  <a:pt x="19430" y="104775"/>
                </a:lnTo>
                <a:lnTo>
                  <a:pt x="20196" y="86723"/>
                </a:lnTo>
                <a:lnTo>
                  <a:pt x="31876" y="42163"/>
                </a:lnTo>
                <a:lnTo>
                  <a:pt x="58398" y="13946"/>
                </a:lnTo>
                <a:lnTo>
                  <a:pt x="70612" y="8635"/>
                </a:lnTo>
                <a:lnTo>
                  <a:pt x="67563" y="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7" name="object 7"/>
          <p:cNvSpPr/>
          <p:nvPr/>
        </p:nvSpPr>
        <p:spPr>
          <a:xfrm>
            <a:off x="4607686" y="4601971"/>
            <a:ext cx="297180" cy="212090"/>
          </a:xfrm>
          <a:custGeom>
            <a:avLst/>
            <a:gdLst/>
            <a:ahLst/>
            <a:cxnLst/>
            <a:rect l="l" t="t" r="r" b="b"/>
            <a:pathLst>
              <a:path w="297179" h="212089">
                <a:moveTo>
                  <a:pt x="229488" y="0"/>
                </a:moveTo>
                <a:lnTo>
                  <a:pt x="226567" y="8635"/>
                </a:lnTo>
                <a:lnTo>
                  <a:pt x="238781" y="13946"/>
                </a:lnTo>
                <a:lnTo>
                  <a:pt x="249316" y="21304"/>
                </a:lnTo>
                <a:lnTo>
                  <a:pt x="270730" y="55429"/>
                </a:lnTo>
                <a:lnTo>
                  <a:pt x="277749" y="104775"/>
                </a:lnTo>
                <a:lnTo>
                  <a:pt x="276963" y="123517"/>
                </a:lnTo>
                <a:lnTo>
                  <a:pt x="265175" y="169290"/>
                </a:lnTo>
                <a:lnTo>
                  <a:pt x="238922" y="197865"/>
                </a:lnTo>
                <a:lnTo>
                  <a:pt x="226822" y="203200"/>
                </a:lnTo>
                <a:lnTo>
                  <a:pt x="229488" y="211708"/>
                </a:lnTo>
                <a:lnTo>
                  <a:pt x="270011" y="187706"/>
                </a:lnTo>
                <a:lnTo>
                  <a:pt x="292687" y="143335"/>
                </a:lnTo>
                <a:lnTo>
                  <a:pt x="297052" y="105917"/>
                </a:lnTo>
                <a:lnTo>
                  <a:pt x="295959" y="86536"/>
                </a:lnTo>
                <a:lnTo>
                  <a:pt x="279653" y="37083"/>
                </a:lnTo>
                <a:lnTo>
                  <a:pt x="244846" y="5544"/>
                </a:lnTo>
                <a:lnTo>
                  <a:pt x="229488" y="0"/>
                </a:lnTo>
                <a:close/>
              </a:path>
              <a:path w="297179" h="212089">
                <a:moveTo>
                  <a:pt x="67563" y="0"/>
                </a:moveTo>
                <a:lnTo>
                  <a:pt x="27219" y="24110"/>
                </a:lnTo>
                <a:lnTo>
                  <a:pt x="4381" y="68595"/>
                </a:lnTo>
                <a:lnTo>
                  <a:pt x="0" y="105917"/>
                </a:lnTo>
                <a:lnTo>
                  <a:pt x="1095" y="125370"/>
                </a:lnTo>
                <a:lnTo>
                  <a:pt x="17525" y="174751"/>
                </a:lnTo>
                <a:lnTo>
                  <a:pt x="52208" y="206184"/>
                </a:lnTo>
                <a:lnTo>
                  <a:pt x="67563" y="211708"/>
                </a:lnTo>
                <a:lnTo>
                  <a:pt x="70230" y="203200"/>
                </a:lnTo>
                <a:lnTo>
                  <a:pt x="58183" y="197865"/>
                </a:lnTo>
                <a:lnTo>
                  <a:pt x="47767" y="190436"/>
                </a:lnTo>
                <a:lnTo>
                  <a:pt x="26396" y="155763"/>
                </a:lnTo>
                <a:lnTo>
                  <a:pt x="19430" y="104775"/>
                </a:lnTo>
                <a:lnTo>
                  <a:pt x="20196" y="86723"/>
                </a:lnTo>
                <a:lnTo>
                  <a:pt x="31876" y="42163"/>
                </a:lnTo>
                <a:lnTo>
                  <a:pt x="58398" y="13946"/>
                </a:lnTo>
                <a:lnTo>
                  <a:pt x="70612" y="8635"/>
                </a:lnTo>
                <a:lnTo>
                  <a:pt x="67563" y="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8" name="object 8"/>
          <p:cNvSpPr txBox="1"/>
          <p:nvPr/>
        </p:nvSpPr>
        <p:spPr>
          <a:xfrm>
            <a:off x="3437001" y="4532121"/>
            <a:ext cx="1395095" cy="29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  <a:tabLst>
                <a:tab pos="781685" algn="l"/>
              </a:tabLst>
            </a:pPr>
            <a:r>
              <a:rPr sz="1800" dirty="0">
                <a:latin typeface="Cambria Math"/>
                <a:cs typeface="Cambria Math"/>
              </a:rPr>
              <a:t>=</a:t>
            </a:r>
            <a:r>
              <a:rPr sz="1800" spc="105" dirty="0">
                <a:latin typeface="Cambria Math"/>
                <a:cs typeface="Cambria Math"/>
              </a:rPr>
              <a:t> </a:t>
            </a:r>
            <a:r>
              <a:rPr sz="1800" dirty="0">
                <a:latin typeface="Cambria Math"/>
                <a:cs typeface="Cambria Math"/>
              </a:rPr>
              <a:t>𝑃</a:t>
            </a:r>
            <a:r>
              <a:rPr sz="1800" spc="390" dirty="0">
                <a:latin typeface="Cambria Math"/>
                <a:cs typeface="Cambria Math"/>
              </a:rPr>
              <a:t> </a:t>
            </a:r>
            <a:r>
              <a:rPr sz="1800" dirty="0">
                <a:latin typeface="Cambria Math"/>
                <a:cs typeface="Cambria Math"/>
              </a:rPr>
              <a:t>𝐴	+ 𝑃</a:t>
            </a:r>
            <a:r>
              <a:rPr sz="1800" spc="300" dirty="0">
                <a:latin typeface="Cambria Math"/>
                <a:cs typeface="Cambria Math"/>
              </a:rPr>
              <a:t> </a:t>
            </a:r>
            <a:r>
              <a:rPr sz="1800" dirty="0">
                <a:latin typeface="Cambria Math"/>
                <a:cs typeface="Cambria Math"/>
              </a:rPr>
              <a:t>𝐶</a:t>
            </a:r>
            <a:endParaRPr sz="1800">
              <a:latin typeface="Cambria Math"/>
              <a:cs typeface="Cambria Math"/>
            </a:endParaRPr>
          </a:p>
        </p:txBody>
      </p:sp>
      <p:sp>
        <p:nvSpPr>
          <p:cNvPr id="9" name="object 9"/>
          <p:cNvSpPr txBox="1"/>
          <p:nvPr/>
        </p:nvSpPr>
        <p:spPr>
          <a:xfrm>
            <a:off x="4975097" y="4532121"/>
            <a:ext cx="1644014" cy="29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dirty="0">
                <a:latin typeface="Cambria Math"/>
                <a:cs typeface="Cambria Math"/>
              </a:rPr>
              <a:t>= </a:t>
            </a:r>
            <a:r>
              <a:rPr sz="1800" spc="-5" dirty="0">
                <a:latin typeface="Cambria Math"/>
                <a:cs typeface="Cambria Math"/>
              </a:rPr>
              <a:t>0,025 </a:t>
            </a:r>
            <a:r>
              <a:rPr sz="1800" dirty="0">
                <a:latin typeface="Cambria Math"/>
                <a:cs typeface="Cambria Math"/>
              </a:rPr>
              <a:t>+</a:t>
            </a:r>
            <a:r>
              <a:rPr sz="1800" spc="70" dirty="0">
                <a:latin typeface="Cambria Math"/>
                <a:cs typeface="Cambria Math"/>
              </a:rPr>
              <a:t> </a:t>
            </a:r>
            <a:r>
              <a:rPr sz="1800" spc="-5" dirty="0">
                <a:latin typeface="Cambria Math"/>
                <a:cs typeface="Cambria Math"/>
              </a:rPr>
              <a:t>0,075</a:t>
            </a:r>
            <a:endParaRPr sz="1800">
              <a:latin typeface="Cambria Math"/>
              <a:cs typeface="Cambria Math"/>
            </a:endParaRPr>
          </a:p>
        </p:txBody>
      </p:sp>
      <p:sp>
        <p:nvSpPr>
          <p:cNvPr id="10" name="object 10"/>
          <p:cNvSpPr txBox="1"/>
          <p:nvPr/>
        </p:nvSpPr>
        <p:spPr>
          <a:xfrm>
            <a:off x="2487548" y="4532121"/>
            <a:ext cx="806450" cy="56515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ts val="2125"/>
              </a:lnSpc>
              <a:spcBef>
                <a:spcPts val="100"/>
              </a:spcBef>
            </a:pPr>
            <a:r>
              <a:rPr sz="1800" dirty="0">
                <a:latin typeface="Cambria Math"/>
                <a:cs typeface="Cambria Math"/>
              </a:rPr>
              <a:t>𝑃 𝐴 ∪</a:t>
            </a:r>
            <a:r>
              <a:rPr sz="1800" spc="-95" dirty="0">
                <a:latin typeface="Cambria Math"/>
                <a:cs typeface="Cambria Math"/>
              </a:rPr>
              <a:t> </a:t>
            </a:r>
            <a:r>
              <a:rPr sz="1800" dirty="0">
                <a:latin typeface="Cambria Math"/>
                <a:cs typeface="Cambria Math"/>
              </a:rPr>
              <a:t>𝐶</a:t>
            </a:r>
            <a:endParaRPr sz="1800">
              <a:latin typeface="Cambria Math"/>
              <a:cs typeface="Cambria Math"/>
            </a:endParaRPr>
          </a:p>
          <a:p>
            <a:pPr marL="12700">
              <a:lnSpc>
                <a:spcPts val="2125"/>
              </a:lnSpc>
            </a:pPr>
            <a:r>
              <a:rPr sz="1800" dirty="0">
                <a:latin typeface="Cambria Math"/>
                <a:cs typeface="Cambria Math"/>
              </a:rPr>
              <a:t>=</a:t>
            </a:r>
            <a:r>
              <a:rPr sz="1800" spc="70" dirty="0">
                <a:latin typeface="Cambria Math"/>
                <a:cs typeface="Cambria Math"/>
              </a:rPr>
              <a:t> </a:t>
            </a:r>
            <a:r>
              <a:rPr sz="1800" spc="-5" dirty="0">
                <a:latin typeface="Cambria Math"/>
                <a:cs typeface="Cambria Math"/>
              </a:rPr>
              <a:t>0,10</a:t>
            </a:r>
            <a:endParaRPr sz="1800">
              <a:latin typeface="Cambria Math"/>
              <a:cs typeface="Cambria Math"/>
            </a:endParaRPr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1490852" y="773049"/>
            <a:ext cx="6160135" cy="513715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z="3200" spc="-15" dirty="0"/>
              <a:t>Contoh </a:t>
            </a:r>
            <a:r>
              <a:rPr sz="3200" spc="-5" dirty="0"/>
              <a:t>Soal </a:t>
            </a:r>
            <a:r>
              <a:rPr sz="3200" spc="-10" dirty="0"/>
              <a:t>Keadian </a:t>
            </a:r>
            <a:r>
              <a:rPr sz="3200" spc="-85" dirty="0"/>
              <a:t>Tak </a:t>
            </a:r>
            <a:r>
              <a:rPr sz="3200" spc="-5" dirty="0"/>
              <a:t>Saling</a:t>
            </a:r>
            <a:r>
              <a:rPr sz="3200" spc="135" dirty="0"/>
              <a:t> </a:t>
            </a:r>
            <a:r>
              <a:rPr sz="3200" spc="-5" dirty="0"/>
              <a:t>Lepas</a:t>
            </a:r>
            <a:endParaRPr sz="3200"/>
          </a:p>
        </p:txBody>
      </p:sp>
      <p:sp>
        <p:nvSpPr>
          <p:cNvPr id="3" name="object 3"/>
          <p:cNvSpPr txBox="1"/>
          <p:nvPr/>
        </p:nvSpPr>
        <p:spPr>
          <a:xfrm>
            <a:off x="1050442" y="1434211"/>
            <a:ext cx="6971665" cy="635635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 marR="5080">
              <a:lnSpc>
                <a:spcPct val="100000"/>
              </a:lnSpc>
              <a:spcBef>
                <a:spcPts val="105"/>
              </a:spcBef>
            </a:pPr>
            <a:r>
              <a:rPr sz="2000" dirty="0">
                <a:latin typeface="Calibri"/>
                <a:cs typeface="Calibri"/>
              </a:rPr>
              <a:t>2. </a:t>
            </a:r>
            <a:r>
              <a:rPr sz="2000" spc="-5" dirty="0">
                <a:latin typeface="Calibri"/>
                <a:cs typeface="Calibri"/>
              </a:rPr>
              <a:t>Hitung </a:t>
            </a:r>
            <a:r>
              <a:rPr sz="2000" spc="-10" dirty="0">
                <a:latin typeface="Calibri"/>
                <a:cs typeface="Calibri"/>
              </a:rPr>
              <a:t>probabilitas kartu bergambar </a:t>
            </a:r>
            <a:r>
              <a:rPr sz="2000" i="1" spc="-10" dirty="0">
                <a:latin typeface="Calibri"/>
                <a:cs typeface="Calibri"/>
              </a:rPr>
              <a:t>heart </a:t>
            </a:r>
            <a:r>
              <a:rPr sz="2000" spc="-15" dirty="0">
                <a:latin typeface="Calibri"/>
                <a:cs typeface="Calibri"/>
              </a:rPr>
              <a:t>atau </a:t>
            </a:r>
            <a:r>
              <a:rPr sz="2000" i="1" spc="-5" dirty="0">
                <a:latin typeface="Calibri"/>
                <a:cs typeface="Calibri"/>
              </a:rPr>
              <a:t>king </a:t>
            </a:r>
            <a:r>
              <a:rPr sz="2000" spc="-5" dirty="0">
                <a:latin typeface="Calibri"/>
                <a:cs typeface="Calibri"/>
              </a:rPr>
              <a:t>pada tabel  </a:t>
            </a:r>
            <a:r>
              <a:rPr sz="2000" spc="-10" dirty="0">
                <a:latin typeface="Calibri"/>
                <a:cs typeface="Calibri"/>
              </a:rPr>
              <a:t>berikut</a:t>
            </a:r>
            <a:r>
              <a:rPr sz="2000" spc="10" dirty="0">
                <a:latin typeface="Calibri"/>
                <a:cs typeface="Calibri"/>
              </a:rPr>
              <a:t> </a:t>
            </a:r>
            <a:r>
              <a:rPr sz="2000" dirty="0">
                <a:latin typeface="Calibri"/>
                <a:cs typeface="Calibri"/>
              </a:rPr>
              <a:t>:</a:t>
            </a:r>
            <a:endParaRPr sz="2000">
              <a:latin typeface="Calibri"/>
              <a:cs typeface="Calibri"/>
            </a:endParaRPr>
          </a:p>
        </p:txBody>
      </p:sp>
      <p:grpSp>
        <p:nvGrpSpPr>
          <p:cNvPr id="4" name="object 4"/>
          <p:cNvGrpSpPr/>
          <p:nvPr/>
        </p:nvGrpSpPr>
        <p:grpSpPr>
          <a:xfrm>
            <a:off x="4268978" y="2343150"/>
            <a:ext cx="2463800" cy="1202055"/>
            <a:chOff x="4268978" y="2343150"/>
            <a:chExt cx="2463800" cy="1202055"/>
          </a:xfrm>
        </p:grpSpPr>
        <p:sp>
          <p:nvSpPr>
            <p:cNvPr id="5" name="object 5"/>
            <p:cNvSpPr/>
            <p:nvPr/>
          </p:nvSpPr>
          <p:spPr>
            <a:xfrm>
              <a:off x="4268978" y="2343150"/>
              <a:ext cx="2463800" cy="400050"/>
            </a:xfrm>
            <a:custGeom>
              <a:avLst/>
              <a:gdLst/>
              <a:ahLst/>
              <a:cxnLst/>
              <a:rect l="l" t="t" r="r" b="b"/>
              <a:pathLst>
                <a:path w="2463800" h="400050">
                  <a:moveTo>
                    <a:pt x="2463292" y="0"/>
                  </a:moveTo>
                  <a:lnTo>
                    <a:pt x="0" y="0"/>
                  </a:lnTo>
                  <a:lnTo>
                    <a:pt x="0" y="400050"/>
                  </a:lnTo>
                  <a:lnTo>
                    <a:pt x="2463292" y="400050"/>
                  </a:lnTo>
                  <a:lnTo>
                    <a:pt x="2463292" y="0"/>
                  </a:lnTo>
                  <a:close/>
                </a:path>
              </a:pathLst>
            </a:custGeom>
            <a:solidFill>
              <a:srgbClr val="D0D7E8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6" name="object 6"/>
            <p:cNvSpPr/>
            <p:nvPr/>
          </p:nvSpPr>
          <p:spPr>
            <a:xfrm>
              <a:off x="4268978" y="2743200"/>
              <a:ext cx="2463800" cy="401320"/>
            </a:xfrm>
            <a:custGeom>
              <a:avLst/>
              <a:gdLst/>
              <a:ahLst/>
              <a:cxnLst/>
              <a:rect l="l" t="t" r="r" b="b"/>
              <a:pathLst>
                <a:path w="2463800" h="401319">
                  <a:moveTo>
                    <a:pt x="2463292" y="0"/>
                  </a:moveTo>
                  <a:lnTo>
                    <a:pt x="0" y="0"/>
                  </a:lnTo>
                  <a:lnTo>
                    <a:pt x="0" y="400812"/>
                  </a:lnTo>
                  <a:lnTo>
                    <a:pt x="2463292" y="400812"/>
                  </a:lnTo>
                  <a:lnTo>
                    <a:pt x="2463292" y="0"/>
                  </a:lnTo>
                  <a:close/>
                </a:path>
              </a:pathLst>
            </a:custGeom>
            <a:solidFill>
              <a:srgbClr val="E9ECF4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7" name="object 7"/>
            <p:cNvSpPr/>
            <p:nvPr/>
          </p:nvSpPr>
          <p:spPr>
            <a:xfrm>
              <a:off x="4268978" y="3144012"/>
              <a:ext cx="2463800" cy="401320"/>
            </a:xfrm>
            <a:custGeom>
              <a:avLst/>
              <a:gdLst/>
              <a:ahLst/>
              <a:cxnLst/>
              <a:rect l="l" t="t" r="r" b="b"/>
              <a:pathLst>
                <a:path w="2463800" h="401320">
                  <a:moveTo>
                    <a:pt x="2463292" y="0"/>
                  </a:moveTo>
                  <a:lnTo>
                    <a:pt x="0" y="0"/>
                  </a:lnTo>
                  <a:lnTo>
                    <a:pt x="0" y="400812"/>
                  </a:lnTo>
                  <a:lnTo>
                    <a:pt x="2463292" y="400812"/>
                  </a:lnTo>
                  <a:lnTo>
                    <a:pt x="2463292" y="0"/>
                  </a:lnTo>
                  <a:close/>
                </a:path>
              </a:pathLst>
            </a:custGeom>
            <a:solidFill>
              <a:srgbClr val="D0D7E8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8" name="object 8"/>
            <p:cNvSpPr/>
            <p:nvPr/>
          </p:nvSpPr>
          <p:spPr>
            <a:xfrm>
              <a:off x="5227955" y="2491739"/>
              <a:ext cx="231648" cy="165100"/>
            </a:xfrm>
            <a:prstGeom prst="rect">
              <a:avLst/>
            </a:prstGeom>
            <a:blipFill>
              <a:blip r:embed="rId2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9" name="object 9"/>
            <p:cNvSpPr/>
            <p:nvPr/>
          </p:nvSpPr>
          <p:spPr>
            <a:xfrm>
              <a:off x="5706110" y="2567177"/>
              <a:ext cx="196850" cy="12700"/>
            </a:xfrm>
            <a:custGeom>
              <a:avLst/>
              <a:gdLst/>
              <a:ahLst/>
              <a:cxnLst/>
              <a:rect l="l" t="t" r="r" b="b"/>
              <a:pathLst>
                <a:path w="196850" h="12700">
                  <a:moveTo>
                    <a:pt x="196596" y="0"/>
                  </a:moveTo>
                  <a:lnTo>
                    <a:pt x="0" y="0"/>
                  </a:lnTo>
                  <a:lnTo>
                    <a:pt x="0" y="12192"/>
                  </a:lnTo>
                  <a:lnTo>
                    <a:pt x="196596" y="12192"/>
                  </a:lnTo>
                  <a:lnTo>
                    <a:pt x="196596" y="0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0" name="object 10"/>
            <p:cNvSpPr/>
            <p:nvPr/>
          </p:nvSpPr>
          <p:spPr>
            <a:xfrm>
              <a:off x="5223383" y="2891790"/>
              <a:ext cx="239267" cy="165100"/>
            </a:xfrm>
            <a:prstGeom prst="rect">
              <a:avLst/>
            </a:prstGeom>
            <a:blipFill>
              <a:blip r:embed="rId3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1" name="object 11"/>
            <p:cNvSpPr/>
            <p:nvPr/>
          </p:nvSpPr>
          <p:spPr>
            <a:xfrm>
              <a:off x="5066411" y="2967227"/>
              <a:ext cx="998219" cy="490855"/>
            </a:xfrm>
            <a:custGeom>
              <a:avLst/>
              <a:gdLst/>
              <a:ahLst/>
              <a:cxnLst/>
              <a:rect l="l" t="t" r="r" b="b"/>
              <a:pathLst>
                <a:path w="998220" h="490854">
                  <a:moveTo>
                    <a:pt x="54991" y="331978"/>
                  </a:moveTo>
                  <a:lnTo>
                    <a:pt x="52705" y="325374"/>
                  </a:lnTo>
                  <a:lnTo>
                    <a:pt x="40690" y="329692"/>
                  </a:lnTo>
                  <a:lnTo>
                    <a:pt x="30187" y="335940"/>
                  </a:lnTo>
                  <a:lnTo>
                    <a:pt x="3403" y="378777"/>
                  </a:lnTo>
                  <a:lnTo>
                    <a:pt x="0" y="407924"/>
                  </a:lnTo>
                  <a:lnTo>
                    <a:pt x="850" y="423125"/>
                  </a:lnTo>
                  <a:lnTo>
                    <a:pt x="13589" y="461645"/>
                  </a:lnTo>
                  <a:lnTo>
                    <a:pt x="52705" y="490474"/>
                  </a:lnTo>
                  <a:lnTo>
                    <a:pt x="54737" y="483743"/>
                  </a:lnTo>
                  <a:lnTo>
                    <a:pt x="45351" y="479602"/>
                  </a:lnTo>
                  <a:lnTo>
                    <a:pt x="37236" y="473824"/>
                  </a:lnTo>
                  <a:lnTo>
                    <a:pt x="17526" y="434860"/>
                  </a:lnTo>
                  <a:lnTo>
                    <a:pt x="15113" y="407035"/>
                  </a:lnTo>
                  <a:lnTo>
                    <a:pt x="15709" y="392976"/>
                  </a:lnTo>
                  <a:lnTo>
                    <a:pt x="30416" y="349237"/>
                  </a:lnTo>
                  <a:lnTo>
                    <a:pt x="45466" y="336181"/>
                  </a:lnTo>
                  <a:lnTo>
                    <a:pt x="54991" y="331978"/>
                  </a:lnTo>
                  <a:close/>
                </a:path>
                <a:path w="998220" h="490854">
                  <a:moveTo>
                    <a:pt x="553212" y="407924"/>
                  </a:moveTo>
                  <a:lnTo>
                    <a:pt x="545541" y="365925"/>
                  </a:lnTo>
                  <a:lnTo>
                    <a:pt x="512508" y="329692"/>
                  </a:lnTo>
                  <a:lnTo>
                    <a:pt x="500507" y="325374"/>
                  </a:lnTo>
                  <a:lnTo>
                    <a:pt x="498221" y="331978"/>
                  </a:lnTo>
                  <a:lnTo>
                    <a:pt x="507746" y="336181"/>
                  </a:lnTo>
                  <a:lnTo>
                    <a:pt x="515950" y="341922"/>
                  </a:lnTo>
                  <a:lnTo>
                    <a:pt x="535698" y="380111"/>
                  </a:lnTo>
                  <a:lnTo>
                    <a:pt x="538099" y="407035"/>
                  </a:lnTo>
                  <a:lnTo>
                    <a:pt x="537489" y="421614"/>
                  </a:lnTo>
                  <a:lnTo>
                    <a:pt x="522795" y="466407"/>
                  </a:lnTo>
                  <a:lnTo>
                    <a:pt x="498475" y="483743"/>
                  </a:lnTo>
                  <a:lnTo>
                    <a:pt x="500507" y="490474"/>
                  </a:lnTo>
                  <a:lnTo>
                    <a:pt x="539623" y="461645"/>
                  </a:lnTo>
                  <a:lnTo>
                    <a:pt x="552348" y="423125"/>
                  </a:lnTo>
                  <a:lnTo>
                    <a:pt x="553212" y="407924"/>
                  </a:lnTo>
                  <a:close/>
                </a:path>
                <a:path w="998220" h="490854">
                  <a:moveTo>
                    <a:pt x="839343" y="0"/>
                  </a:moveTo>
                  <a:lnTo>
                    <a:pt x="642747" y="0"/>
                  </a:lnTo>
                  <a:lnTo>
                    <a:pt x="642747" y="12192"/>
                  </a:lnTo>
                  <a:lnTo>
                    <a:pt x="839343" y="12192"/>
                  </a:lnTo>
                  <a:lnTo>
                    <a:pt x="839343" y="0"/>
                  </a:lnTo>
                  <a:close/>
                </a:path>
                <a:path w="998220" h="490854">
                  <a:moveTo>
                    <a:pt x="997839" y="400824"/>
                  </a:moveTo>
                  <a:lnTo>
                    <a:pt x="801243" y="400824"/>
                  </a:lnTo>
                  <a:lnTo>
                    <a:pt x="801243" y="413004"/>
                  </a:lnTo>
                  <a:lnTo>
                    <a:pt x="997839" y="413004"/>
                  </a:lnTo>
                  <a:lnTo>
                    <a:pt x="997839" y="400824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graphicFrame>
        <p:nvGraphicFramePr>
          <p:cNvPr id="12" name="object 12"/>
          <p:cNvGraphicFramePr>
            <a:graphicFrameLocks noGrp="1"/>
          </p:cNvGraphicFramePr>
          <p:nvPr/>
        </p:nvGraphicFramePr>
        <p:xfrm>
          <a:off x="1829307" y="2126488"/>
          <a:ext cx="4896484" cy="1411986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243332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463164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210312"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50"/>
                        </a:spcBef>
                      </a:pPr>
                      <a:r>
                        <a:rPr sz="1200" b="1" spc="-5" dirty="0">
                          <a:solidFill>
                            <a:srgbClr val="FFFFFF"/>
                          </a:solidFill>
                          <a:latin typeface="Calibri"/>
                          <a:cs typeface="Calibri"/>
                        </a:rPr>
                        <a:t>Kartu</a:t>
                      </a:r>
                      <a:endParaRPr sz="1200">
                        <a:latin typeface="Calibri"/>
                        <a:cs typeface="Calibri"/>
                      </a:endParaRPr>
                    </a:p>
                  </a:txBody>
                  <a:tcPr marL="0" marR="0" marT="6350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38100">
                      <a:solidFill>
                        <a:srgbClr val="FFFFFF"/>
                      </a:solidFill>
                      <a:prstDash val="solid"/>
                    </a:lnB>
                    <a:solidFill>
                      <a:srgbClr val="4F81B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50"/>
                        </a:spcBef>
                      </a:pPr>
                      <a:r>
                        <a:rPr sz="1200" b="1" spc="-5" dirty="0">
                          <a:solidFill>
                            <a:srgbClr val="FFFFFF"/>
                          </a:solidFill>
                          <a:latin typeface="Calibri"/>
                          <a:cs typeface="Calibri"/>
                        </a:rPr>
                        <a:t>Probabilitas</a:t>
                      </a:r>
                      <a:endParaRPr sz="1200">
                        <a:latin typeface="Calibri"/>
                        <a:cs typeface="Calibri"/>
                      </a:endParaRPr>
                    </a:p>
                  </a:txBody>
                  <a:tcPr marL="0" marR="0" marT="6350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38100">
                      <a:solidFill>
                        <a:srgbClr val="FFFFFF"/>
                      </a:solidFill>
                      <a:prstDash val="solid"/>
                    </a:lnB>
                    <a:solidFill>
                      <a:srgbClr val="4F81B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00050"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80"/>
                        </a:spcBef>
                      </a:pPr>
                      <a:r>
                        <a:rPr sz="1800" b="1" spc="-5" dirty="0">
                          <a:solidFill>
                            <a:srgbClr val="FFFFFF"/>
                          </a:solidFill>
                          <a:latin typeface="Calibri"/>
                          <a:cs typeface="Calibri"/>
                        </a:rPr>
                        <a:t>Raja </a:t>
                      </a:r>
                      <a:r>
                        <a:rPr sz="1800" b="1" dirty="0">
                          <a:solidFill>
                            <a:srgbClr val="FFFFFF"/>
                          </a:solidFill>
                          <a:latin typeface="Calibri"/>
                          <a:cs typeface="Calibri"/>
                        </a:rPr>
                        <a:t>(King</a:t>
                      </a:r>
                      <a:r>
                        <a:rPr sz="2000" b="1" dirty="0">
                          <a:solidFill>
                            <a:srgbClr val="FFFFFF"/>
                          </a:solidFill>
                          <a:latin typeface="Calibri"/>
                          <a:cs typeface="Calibri"/>
                        </a:rPr>
                        <a:t>)</a:t>
                      </a:r>
                      <a:endParaRPr sz="2000">
                        <a:latin typeface="Calibri"/>
                        <a:cs typeface="Calibri"/>
                      </a:endParaRPr>
                    </a:p>
                  </a:txBody>
                  <a:tcPr marL="0" marR="0" marT="10160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381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4F81BC"/>
                    </a:solidFill>
                  </a:tcPr>
                </a:tc>
                <a:tc>
                  <a:txBody>
                    <a:bodyPr/>
                    <a:lstStyle/>
                    <a:p>
                      <a:pPr marL="608965" algn="ctr">
                        <a:lnSpc>
                          <a:spcPts val="1120"/>
                        </a:lnSpc>
                      </a:pPr>
                      <a:r>
                        <a:rPr sz="1400" dirty="0">
                          <a:latin typeface="Cambria Math"/>
                          <a:cs typeface="Cambria Math"/>
                        </a:rPr>
                        <a:t>4</a:t>
                      </a:r>
                      <a:endParaRPr sz="1400">
                        <a:latin typeface="Cambria Math"/>
                        <a:cs typeface="Cambria Math"/>
                      </a:endParaRPr>
                    </a:p>
                    <a:p>
                      <a:pPr marL="2540" algn="ctr">
                        <a:lnSpc>
                          <a:spcPts val="1375"/>
                        </a:lnSpc>
                      </a:pPr>
                      <a:r>
                        <a:rPr sz="1400" dirty="0">
                          <a:latin typeface="Cambria Math"/>
                          <a:cs typeface="Cambria Math"/>
                        </a:rPr>
                        <a:t>𝑃  𝐴   =</a:t>
                      </a:r>
                      <a:r>
                        <a:rPr sz="1400" spc="105" dirty="0">
                          <a:latin typeface="Cambria Math"/>
                          <a:cs typeface="Cambria Math"/>
                        </a:rPr>
                        <a:t> </a:t>
                      </a:r>
                      <a:r>
                        <a:rPr sz="2100" baseline="-37698" dirty="0">
                          <a:latin typeface="Cambria Math"/>
                          <a:cs typeface="Cambria Math"/>
                        </a:rPr>
                        <a:t>52</a:t>
                      </a:r>
                      <a:endParaRPr sz="2100" baseline="-37698">
                        <a:latin typeface="Cambria Math"/>
                        <a:cs typeface="Cambria Math"/>
                      </a:endParaRPr>
                    </a:p>
                  </a:txBody>
                  <a:tcPr marL="0" marR="0" marT="0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381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00812">
                <a:tc>
                  <a:txBody>
                    <a:bodyPr/>
                    <a:lstStyle/>
                    <a:p>
                      <a:pPr marL="635" algn="ctr">
                        <a:lnSpc>
                          <a:spcPct val="100000"/>
                        </a:lnSpc>
                        <a:spcBef>
                          <a:spcPts val="65"/>
                        </a:spcBef>
                      </a:pPr>
                      <a:r>
                        <a:rPr sz="1800" b="1" spc="-5" dirty="0">
                          <a:solidFill>
                            <a:srgbClr val="FFFFFF"/>
                          </a:solidFill>
                          <a:latin typeface="Calibri"/>
                          <a:cs typeface="Calibri"/>
                        </a:rPr>
                        <a:t>Hati</a:t>
                      </a:r>
                      <a:r>
                        <a:rPr sz="1800" b="1" spc="-20" dirty="0">
                          <a:solidFill>
                            <a:srgbClr val="FFFFFF"/>
                          </a:solidFill>
                          <a:latin typeface="Calibri"/>
                          <a:cs typeface="Calibri"/>
                        </a:rPr>
                        <a:t> </a:t>
                      </a:r>
                      <a:r>
                        <a:rPr sz="1800" b="1" dirty="0">
                          <a:solidFill>
                            <a:srgbClr val="FFFFFF"/>
                          </a:solidFill>
                          <a:latin typeface="Calibri"/>
                          <a:cs typeface="Calibri"/>
                        </a:rPr>
                        <a:t>(Heart)</a:t>
                      </a:r>
                      <a:endParaRPr sz="1800">
                        <a:latin typeface="Calibri"/>
                        <a:cs typeface="Calibri"/>
                      </a:endParaRPr>
                    </a:p>
                  </a:txBody>
                  <a:tcPr marL="0" marR="0" marT="8255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4F81BC"/>
                    </a:solidFill>
                  </a:tcPr>
                </a:tc>
                <a:tc>
                  <a:txBody>
                    <a:bodyPr/>
                    <a:lstStyle/>
                    <a:p>
                      <a:pPr marL="616585" algn="ctr">
                        <a:lnSpc>
                          <a:spcPts val="1120"/>
                        </a:lnSpc>
                      </a:pPr>
                      <a:r>
                        <a:rPr sz="1400" dirty="0">
                          <a:latin typeface="Cambria Math"/>
                          <a:cs typeface="Cambria Math"/>
                        </a:rPr>
                        <a:t>13</a:t>
                      </a:r>
                      <a:endParaRPr sz="1400">
                        <a:latin typeface="Cambria Math"/>
                        <a:cs typeface="Cambria Math"/>
                      </a:endParaRPr>
                    </a:p>
                    <a:p>
                      <a:pPr marL="635" algn="ctr">
                        <a:lnSpc>
                          <a:spcPts val="1375"/>
                        </a:lnSpc>
                        <a:tabLst>
                          <a:tab pos="434975" algn="l"/>
                        </a:tabLst>
                      </a:pPr>
                      <a:r>
                        <a:rPr sz="1400" dirty="0">
                          <a:latin typeface="Cambria Math"/>
                          <a:cs typeface="Cambria Math"/>
                        </a:rPr>
                        <a:t>𝑃  𝐵	=</a:t>
                      </a:r>
                      <a:r>
                        <a:rPr sz="1400" spc="-25" dirty="0">
                          <a:latin typeface="Cambria Math"/>
                          <a:cs typeface="Cambria Math"/>
                        </a:rPr>
                        <a:t> </a:t>
                      </a:r>
                      <a:r>
                        <a:rPr sz="2100" baseline="-37698" dirty="0">
                          <a:latin typeface="Cambria Math"/>
                          <a:cs typeface="Cambria Math"/>
                        </a:rPr>
                        <a:t>52</a:t>
                      </a:r>
                      <a:endParaRPr sz="2100" baseline="-37698">
                        <a:latin typeface="Cambria Math"/>
                        <a:cs typeface="Cambria Math"/>
                      </a:endParaRPr>
                    </a:p>
                  </a:txBody>
                  <a:tcPr marL="0" marR="0" marT="0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400812"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80"/>
                        </a:spcBef>
                      </a:pPr>
                      <a:r>
                        <a:rPr sz="2000" b="1" spc="-5" dirty="0">
                          <a:solidFill>
                            <a:srgbClr val="FFFFFF"/>
                          </a:solidFill>
                          <a:latin typeface="Calibri"/>
                          <a:cs typeface="Calibri"/>
                        </a:rPr>
                        <a:t>Raja </a:t>
                      </a:r>
                      <a:r>
                        <a:rPr sz="2000" b="1" spc="-10" dirty="0">
                          <a:solidFill>
                            <a:srgbClr val="FFFFFF"/>
                          </a:solidFill>
                          <a:latin typeface="Calibri"/>
                          <a:cs typeface="Calibri"/>
                        </a:rPr>
                        <a:t>bergambar</a:t>
                      </a:r>
                      <a:r>
                        <a:rPr sz="2000" b="1" spc="-25" dirty="0">
                          <a:solidFill>
                            <a:srgbClr val="FFFFFF"/>
                          </a:solidFill>
                          <a:latin typeface="Calibri"/>
                          <a:cs typeface="Calibri"/>
                        </a:rPr>
                        <a:t> </a:t>
                      </a:r>
                      <a:r>
                        <a:rPr sz="2000" b="1" spc="-10" dirty="0">
                          <a:solidFill>
                            <a:srgbClr val="FFFFFF"/>
                          </a:solidFill>
                          <a:latin typeface="Calibri"/>
                          <a:cs typeface="Calibri"/>
                        </a:rPr>
                        <a:t>hati</a:t>
                      </a:r>
                      <a:endParaRPr sz="2000">
                        <a:latin typeface="Calibri"/>
                        <a:cs typeface="Calibri"/>
                      </a:endParaRPr>
                    </a:p>
                  </a:txBody>
                  <a:tcPr marL="0" marR="0" marT="10160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4F81BC"/>
                    </a:solidFill>
                  </a:tcPr>
                </a:tc>
                <a:tc>
                  <a:txBody>
                    <a:bodyPr/>
                    <a:lstStyle/>
                    <a:p>
                      <a:pPr marR="708025" algn="r">
                        <a:lnSpc>
                          <a:spcPts val="1120"/>
                        </a:lnSpc>
                      </a:pPr>
                      <a:r>
                        <a:rPr sz="1400" dirty="0">
                          <a:latin typeface="Cambria Math"/>
                          <a:cs typeface="Cambria Math"/>
                        </a:rPr>
                        <a:t>1</a:t>
                      </a:r>
                      <a:endParaRPr sz="1400">
                        <a:latin typeface="Cambria Math"/>
                        <a:cs typeface="Cambria Math"/>
                      </a:endParaRPr>
                    </a:p>
                    <a:p>
                      <a:pPr marL="668020">
                        <a:lnSpc>
                          <a:spcPts val="1375"/>
                        </a:lnSpc>
                        <a:tabLst>
                          <a:tab pos="1416050" algn="l"/>
                        </a:tabLst>
                      </a:pPr>
                      <a:r>
                        <a:rPr sz="1400" dirty="0">
                          <a:latin typeface="Cambria Math"/>
                          <a:cs typeface="Cambria Math"/>
                        </a:rPr>
                        <a:t>𝑃  𝐴 ∩</a:t>
                      </a:r>
                      <a:r>
                        <a:rPr sz="1400" spc="10" dirty="0">
                          <a:latin typeface="Cambria Math"/>
                          <a:cs typeface="Cambria Math"/>
                        </a:rPr>
                        <a:t> </a:t>
                      </a:r>
                      <a:r>
                        <a:rPr sz="1400" dirty="0">
                          <a:latin typeface="Cambria Math"/>
                          <a:cs typeface="Cambria Math"/>
                        </a:rPr>
                        <a:t>𝐵	=</a:t>
                      </a:r>
                      <a:r>
                        <a:rPr sz="1400" spc="75" dirty="0">
                          <a:latin typeface="Cambria Math"/>
                          <a:cs typeface="Cambria Math"/>
                        </a:rPr>
                        <a:t> </a:t>
                      </a:r>
                      <a:r>
                        <a:rPr sz="2100" baseline="-37698" dirty="0">
                          <a:latin typeface="Cambria Math"/>
                          <a:cs typeface="Cambria Math"/>
                        </a:rPr>
                        <a:t>52</a:t>
                      </a:r>
                      <a:endParaRPr sz="2100" baseline="-37698">
                        <a:latin typeface="Cambria Math"/>
                        <a:cs typeface="Cambria Math"/>
                      </a:endParaRPr>
                    </a:p>
                  </a:txBody>
                  <a:tcPr marL="0" marR="0" marT="0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  <p:sp>
        <p:nvSpPr>
          <p:cNvPr id="13" name="object 13"/>
          <p:cNvSpPr/>
          <p:nvPr/>
        </p:nvSpPr>
        <p:spPr>
          <a:xfrm>
            <a:off x="2714625" y="3963923"/>
            <a:ext cx="708660" cy="212090"/>
          </a:xfrm>
          <a:custGeom>
            <a:avLst/>
            <a:gdLst/>
            <a:ahLst/>
            <a:cxnLst/>
            <a:rect l="l" t="t" r="r" b="b"/>
            <a:pathLst>
              <a:path w="708660" h="212089">
                <a:moveTo>
                  <a:pt x="640841" y="0"/>
                </a:moveTo>
                <a:lnTo>
                  <a:pt x="637921" y="8636"/>
                </a:lnTo>
                <a:lnTo>
                  <a:pt x="650134" y="13946"/>
                </a:lnTo>
                <a:lnTo>
                  <a:pt x="660669" y="21304"/>
                </a:lnTo>
                <a:lnTo>
                  <a:pt x="682083" y="55429"/>
                </a:lnTo>
                <a:lnTo>
                  <a:pt x="689101" y="104775"/>
                </a:lnTo>
                <a:lnTo>
                  <a:pt x="688316" y="123463"/>
                </a:lnTo>
                <a:lnTo>
                  <a:pt x="676528" y="169290"/>
                </a:lnTo>
                <a:lnTo>
                  <a:pt x="650275" y="197865"/>
                </a:lnTo>
                <a:lnTo>
                  <a:pt x="638175" y="203200"/>
                </a:lnTo>
                <a:lnTo>
                  <a:pt x="640841" y="211708"/>
                </a:lnTo>
                <a:lnTo>
                  <a:pt x="681364" y="187706"/>
                </a:lnTo>
                <a:lnTo>
                  <a:pt x="704040" y="143335"/>
                </a:lnTo>
                <a:lnTo>
                  <a:pt x="708405" y="105918"/>
                </a:lnTo>
                <a:lnTo>
                  <a:pt x="707312" y="86536"/>
                </a:lnTo>
                <a:lnTo>
                  <a:pt x="691007" y="37083"/>
                </a:lnTo>
                <a:lnTo>
                  <a:pt x="656252" y="5544"/>
                </a:lnTo>
                <a:lnTo>
                  <a:pt x="640841" y="0"/>
                </a:lnTo>
                <a:close/>
              </a:path>
              <a:path w="708660" h="212089">
                <a:moveTo>
                  <a:pt x="67437" y="0"/>
                </a:moveTo>
                <a:lnTo>
                  <a:pt x="27092" y="24110"/>
                </a:lnTo>
                <a:lnTo>
                  <a:pt x="4318" y="68595"/>
                </a:lnTo>
                <a:lnTo>
                  <a:pt x="0" y="105918"/>
                </a:lnTo>
                <a:lnTo>
                  <a:pt x="1075" y="125370"/>
                </a:lnTo>
                <a:lnTo>
                  <a:pt x="17399" y="174751"/>
                </a:lnTo>
                <a:lnTo>
                  <a:pt x="52081" y="206184"/>
                </a:lnTo>
                <a:lnTo>
                  <a:pt x="67437" y="211708"/>
                </a:lnTo>
                <a:lnTo>
                  <a:pt x="70104" y="203200"/>
                </a:lnTo>
                <a:lnTo>
                  <a:pt x="58056" y="197865"/>
                </a:lnTo>
                <a:lnTo>
                  <a:pt x="47640" y="190436"/>
                </a:lnTo>
                <a:lnTo>
                  <a:pt x="26322" y="155745"/>
                </a:lnTo>
                <a:lnTo>
                  <a:pt x="19304" y="104775"/>
                </a:lnTo>
                <a:lnTo>
                  <a:pt x="20087" y="86723"/>
                </a:lnTo>
                <a:lnTo>
                  <a:pt x="31750" y="42163"/>
                </a:lnTo>
                <a:lnTo>
                  <a:pt x="58271" y="13946"/>
                </a:lnTo>
                <a:lnTo>
                  <a:pt x="70485" y="8636"/>
                </a:lnTo>
                <a:lnTo>
                  <a:pt x="67437" y="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4" name="object 14"/>
          <p:cNvSpPr/>
          <p:nvPr/>
        </p:nvSpPr>
        <p:spPr>
          <a:xfrm>
            <a:off x="3910965" y="3963923"/>
            <a:ext cx="295910" cy="212090"/>
          </a:xfrm>
          <a:custGeom>
            <a:avLst/>
            <a:gdLst/>
            <a:ahLst/>
            <a:cxnLst/>
            <a:rect l="l" t="t" r="r" b="b"/>
            <a:pathLst>
              <a:path w="295910" h="212089">
                <a:moveTo>
                  <a:pt x="227837" y="0"/>
                </a:moveTo>
                <a:lnTo>
                  <a:pt x="224917" y="8636"/>
                </a:lnTo>
                <a:lnTo>
                  <a:pt x="237130" y="13946"/>
                </a:lnTo>
                <a:lnTo>
                  <a:pt x="247665" y="21304"/>
                </a:lnTo>
                <a:lnTo>
                  <a:pt x="269079" y="55429"/>
                </a:lnTo>
                <a:lnTo>
                  <a:pt x="276098" y="104775"/>
                </a:lnTo>
                <a:lnTo>
                  <a:pt x="275312" y="123463"/>
                </a:lnTo>
                <a:lnTo>
                  <a:pt x="263525" y="169290"/>
                </a:lnTo>
                <a:lnTo>
                  <a:pt x="237271" y="197865"/>
                </a:lnTo>
                <a:lnTo>
                  <a:pt x="225171" y="203200"/>
                </a:lnTo>
                <a:lnTo>
                  <a:pt x="227837" y="211708"/>
                </a:lnTo>
                <a:lnTo>
                  <a:pt x="268360" y="187706"/>
                </a:lnTo>
                <a:lnTo>
                  <a:pt x="291036" y="143335"/>
                </a:lnTo>
                <a:lnTo>
                  <a:pt x="295401" y="105918"/>
                </a:lnTo>
                <a:lnTo>
                  <a:pt x="294308" y="86536"/>
                </a:lnTo>
                <a:lnTo>
                  <a:pt x="278002" y="37083"/>
                </a:lnTo>
                <a:lnTo>
                  <a:pt x="243248" y="5544"/>
                </a:lnTo>
                <a:lnTo>
                  <a:pt x="227837" y="0"/>
                </a:lnTo>
                <a:close/>
              </a:path>
              <a:path w="295910" h="212089">
                <a:moveTo>
                  <a:pt x="67437" y="0"/>
                </a:moveTo>
                <a:lnTo>
                  <a:pt x="27092" y="24110"/>
                </a:lnTo>
                <a:lnTo>
                  <a:pt x="4317" y="68595"/>
                </a:lnTo>
                <a:lnTo>
                  <a:pt x="0" y="105918"/>
                </a:lnTo>
                <a:lnTo>
                  <a:pt x="1075" y="125370"/>
                </a:lnTo>
                <a:lnTo>
                  <a:pt x="17399" y="174751"/>
                </a:lnTo>
                <a:lnTo>
                  <a:pt x="52081" y="206184"/>
                </a:lnTo>
                <a:lnTo>
                  <a:pt x="67437" y="211708"/>
                </a:lnTo>
                <a:lnTo>
                  <a:pt x="70104" y="203200"/>
                </a:lnTo>
                <a:lnTo>
                  <a:pt x="58056" y="197865"/>
                </a:lnTo>
                <a:lnTo>
                  <a:pt x="47640" y="190436"/>
                </a:lnTo>
                <a:lnTo>
                  <a:pt x="26322" y="155745"/>
                </a:lnTo>
                <a:lnTo>
                  <a:pt x="19304" y="104775"/>
                </a:lnTo>
                <a:lnTo>
                  <a:pt x="20087" y="86723"/>
                </a:lnTo>
                <a:lnTo>
                  <a:pt x="31750" y="42163"/>
                </a:lnTo>
                <a:lnTo>
                  <a:pt x="58271" y="13946"/>
                </a:lnTo>
                <a:lnTo>
                  <a:pt x="70485" y="8636"/>
                </a:lnTo>
                <a:lnTo>
                  <a:pt x="67437" y="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5" name="object 15"/>
          <p:cNvSpPr/>
          <p:nvPr/>
        </p:nvSpPr>
        <p:spPr>
          <a:xfrm>
            <a:off x="4666869" y="3963923"/>
            <a:ext cx="304800" cy="212090"/>
          </a:xfrm>
          <a:custGeom>
            <a:avLst/>
            <a:gdLst/>
            <a:ahLst/>
            <a:cxnLst/>
            <a:rect l="l" t="t" r="r" b="b"/>
            <a:pathLst>
              <a:path w="304800" h="212089">
                <a:moveTo>
                  <a:pt x="236981" y="0"/>
                </a:moveTo>
                <a:lnTo>
                  <a:pt x="234060" y="8636"/>
                </a:lnTo>
                <a:lnTo>
                  <a:pt x="246274" y="13946"/>
                </a:lnTo>
                <a:lnTo>
                  <a:pt x="256809" y="21304"/>
                </a:lnTo>
                <a:lnTo>
                  <a:pt x="278223" y="55429"/>
                </a:lnTo>
                <a:lnTo>
                  <a:pt x="285241" y="104775"/>
                </a:lnTo>
                <a:lnTo>
                  <a:pt x="284456" y="123463"/>
                </a:lnTo>
                <a:lnTo>
                  <a:pt x="272668" y="169290"/>
                </a:lnTo>
                <a:lnTo>
                  <a:pt x="246415" y="197865"/>
                </a:lnTo>
                <a:lnTo>
                  <a:pt x="234314" y="203200"/>
                </a:lnTo>
                <a:lnTo>
                  <a:pt x="236981" y="211708"/>
                </a:lnTo>
                <a:lnTo>
                  <a:pt x="277504" y="187706"/>
                </a:lnTo>
                <a:lnTo>
                  <a:pt x="300180" y="143335"/>
                </a:lnTo>
                <a:lnTo>
                  <a:pt x="304545" y="105918"/>
                </a:lnTo>
                <a:lnTo>
                  <a:pt x="303452" y="86536"/>
                </a:lnTo>
                <a:lnTo>
                  <a:pt x="287146" y="37083"/>
                </a:lnTo>
                <a:lnTo>
                  <a:pt x="252392" y="5544"/>
                </a:lnTo>
                <a:lnTo>
                  <a:pt x="236981" y="0"/>
                </a:lnTo>
                <a:close/>
              </a:path>
              <a:path w="304800" h="212089">
                <a:moveTo>
                  <a:pt x="67436" y="0"/>
                </a:moveTo>
                <a:lnTo>
                  <a:pt x="27092" y="24110"/>
                </a:lnTo>
                <a:lnTo>
                  <a:pt x="4317" y="68595"/>
                </a:lnTo>
                <a:lnTo>
                  <a:pt x="0" y="105918"/>
                </a:lnTo>
                <a:lnTo>
                  <a:pt x="1075" y="125370"/>
                </a:lnTo>
                <a:lnTo>
                  <a:pt x="17398" y="174751"/>
                </a:lnTo>
                <a:lnTo>
                  <a:pt x="52081" y="206184"/>
                </a:lnTo>
                <a:lnTo>
                  <a:pt x="67436" y="211708"/>
                </a:lnTo>
                <a:lnTo>
                  <a:pt x="70103" y="203200"/>
                </a:lnTo>
                <a:lnTo>
                  <a:pt x="58056" y="197865"/>
                </a:lnTo>
                <a:lnTo>
                  <a:pt x="47640" y="190436"/>
                </a:lnTo>
                <a:lnTo>
                  <a:pt x="26322" y="155745"/>
                </a:lnTo>
                <a:lnTo>
                  <a:pt x="19303" y="104775"/>
                </a:lnTo>
                <a:lnTo>
                  <a:pt x="20087" y="86723"/>
                </a:lnTo>
                <a:lnTo>
                  <a:pt x="31750" y="42163"/>
                </a:lnTo>
                <a:lnTo>
                  <a:pt x="58271" y="13946"/>
                </a:lnTo>
                <a:lnTo>
                  <a:pt x="70484" y="8636"/>
                </a:lnTo>
                <a:lnTo>
                  <a:pt x="67436" y="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6" name="object 16"/>
          <p:cNvSpPr/>
          <p:nvPr/>
        </p:nvSpPr>
        <p:spPr>
          <a:xfrm>
            <a:off x="5433440" y="3963923"/>
            <a:ext cx="708660" cy="212090"/>
          </a:xfrm>
          <a:custGeom>
            <a:avLst/>
            <a:gdLst/>
            <a:ahLst/>
            <a:cxnLst/>
            <a:rect l="l" t="t" r="r" b="b"/>
            <a:pathLst>
              <a:path w="708660" h="212089">
                <a:moveTo>
                  <a:pt x="640842" y="0"/>
                </a:moveTo>
                <a:lnTo>
                  <a:pt x="637921" y="8636"/>
                </a:lnTo>
                <a:lnTo>
                  <a:pt x="650134" y="13946"/>
                </a:lnTo>
                <a:lnTo>
                  <a:pt x="660669" y="21304"/>
                </a:lnTo>
                <a:lnTo>
                  <a:pt x="682083" y="55429"/>
                </a:lnTo>
                <a:lnTo>
                  <a:pt x="689101" y="104775"/>
                </a:lnTo>
                <a:lnTo>
                  <a:pt x="688316" y="123463"/>
                </a:lnTo>
                <a:lnTo>
                  <a:pt x="676529" y="169290"/>
                </a:lnTo>
                <a:lnTo>
                  <a:pt x="650275" y="197865"/>
                </a:lnTo>
                <a:lnTo>
                  <a:pt x="638175" y="203200"/>
                </a:lnTo>
                <a:lnTo>
                  <a:pt x="640842" y="211708"/>
                </a:lnTo>
                <a:lnTo>
                  <a:pt x="681364" y="187706"/>
                </a:lnTo>
                <a:lnTo>
                  <a:pt x="704040" y="143335"/>
                </a:lnTo>
                <a:lnTo>
                  <a:pt x="708406" y="105918"/>
                </a:lnTo>
                <a:lnTo>
                  <a:pt x="707312" y="86536"/>
                </a:lnTo>
                <a:lnTo>
                  <a:pt x="691007" y="37083"/>
                </a:lnTo>
                <a:lnTo>
                  <a:pt x="656252" y="5544"/>
                </a:lnTo>
                <a:lnTo>
                  <a:pt x="640842" y="0"/>
                </a:lnTo>
                <a:close/>
              </a:path>
              <a:path w="708660" h="212089">
                <a:moveTo>
                  <a:pt x="67437" y="0"/>
                </a:moveTo>
                <a:lnTo>
                  <a:pt x="27092" y="24110"/>
                </a:lnTo>
                <a:lnTo>
                  <a:pt x="4317" y="68595"/>
                </a:lnTo>
                <a:lnTo>
                  <a:pt x="0" y="105918"/>
                </a:lnTo>
                <a:lnTo>
                  <a:pt x="1075" y="125370"/>
                </a:lnTo>
                <a:lnTo>
                  <a:pt x="17399" y="174751"/>
                </a:lnTo>
                <a:lnTo>
                  <a:pt x="52081" y="206184"/>
                </a:lnTo>
                <a:lnTo>
                  <a:pt x="67437" y="211708"/>
                </a:lnTo>
                <a:lnTo>
                  <a:pt x="70104" y="203200"/>
                </a:lnTo>
                <a:lnTo>
                  <a:pt x="58056" y="197865"/>
                </a:lnTo>
                <a:lnTo>
                  <a:pt x="47640" y="190436"/>
                </a:lnTo>
                <a:lnTo>
                  <a:pt x="26322" y="155745"/>
                </a:lnTo>
                <a:lnTo>
                  <a:pt x="19304" y="104775"/>
                </a:lnTo>
                <a:lnTo>
                  <a:pt x="20087" y="86723"/>
                </a:lnTo>
                <a:lnTo>
                  <a:pt x="31750" y="42163"/>
                </a:lnTo>
                <a:lnTo>
                  <a:pt x="58271" y="13946"/>
                </a:lnTo>
                <a:lnTo>
                  <a:pt x="70485" y="8636"/>
                </a:lnTo>
                <a:lnTo>
                  <a:pt x="67437" y="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7" name="object 17"/>
          <p:cNvSpPr txBox="1"/>
          <p:nvPr/>
        </p:nvSpPr>
        <p:spPr>
          <a:xfrm>
            <a:off x="2535682" y="3893946"/>
            <a:ext cx="3540125" cy="29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  <a:tabLst>
                <a:tab pos="972819" algn="l"/>
                <a:tab pos="1742439" algn="l"/>
                <a:tab pos="2509520" algn="l"/>
              </a:tabLst>
            </a:pPr>
            <a:r>
              <a:rPr sz="1800" dirty="0">
                <a:latin typeface="Cambria Math"/>
                <a:cs typeface="Cambria Math"/>
              </a:rPr>
              <a:t>𝑃  𝐴</a:t>
            </a:r>
            <a:r>
              <a:rPr sz="1800" spc="10" dirty="0">
                <a:latin typeface="Cambria Math"/>
                <a:cs typeface="Cambria Math"/>
              </a:rPr>
              <a:t> </a:t>
            </a:r>
            <a:r>
              <a:rPr sz="1800" dirty="0">
                <a:latin typeface="Cambria Math"/>
                <a:cs typeface="Cambria Math"/>
              </a:rPr>
              <a:t>∪</a:t>
            </a:r>
            <a:r>
              <a:rPr sz="1800" spc="-5" dirty="0">
                <a:latin typeface="Cambria Math"/>
                <a:cs typeface="Cambria Math"/>
              </a:rPr>
              <a:t> </a:t>
            </a:r>
            <a:r>
              <a:rPr sz="1800" dirty="0">
                <a:latin typeface="Cambria Math"/>
                <a:cs typeface="Cambria Math"/>
              </a:rPr>
              <a:t>𝐵	=</a:t>
            </a:r>
            <a:r>
              <a:rPr sz="1800" spc="105" dirty="0">
                <a:latin typeface="Cambria Math"/>
                <a:cs typeface="Cambria Math"/>
              </a:rPr>
              <a:t> </a:t>
            </a:r>
            <a:r>
              <a:rPr sz="1800" dirty="0">
                <a:latin typeface="Cambria Math"/>
                <a:cs typeface="Cambria Math"/>
              </a:rPr>
              <a:t>𝑃</a:t>
            </a:r>
            <a:r>
              <a:rPr sz="1800" spc="390" dirty="0">
                <a:latin typeface="Cambria Math"/>
                <a:cs typeface="Cambria Math"/>
              </a:rPr>
              <a:t> </a:t>
            </a:r>
            <a:r>
              <a:rPr sz="1800" dirty="0">
                <a:latin typeface="Cambria Math"/>
                <a:cs typeface="Cambria Math"/>
              </a:rPr>
              <a:t>𝐴	+</a:t>
            </a:r>
            <a:r>
              <a:rPr sz="1800" spc="10" dirty="0">
                <a:latin typeface="Cambria Math"/>
                <a:cs typeface="Cambria Math"/>
              </a:rPr>
              <a:t> </a:t>
            </a:r>
            <a:r>
              <a:rPr sz="1800" dirty="0">
                <a:latin typeface="Cambria Math"/>
                <a:cs typeface="Cambria Math"/>
              </a:rPr>
              <a:t>𝑃</a:t>
            </a:r>
            <a:r>
              <a:rPr sz="1800" spc="380" dirty="0">
                <a:latin typeface="Cambria Math"/>
                <a:cs typeface="Cambria Math"/>
              </a:rPr>
              <a:t> </a:t>
            </a:r>
            <a:r>
              <a:rPr sz="1800" dirty="0">
                <a:latin typeface="Cambria Math"/>
                <a:cs typeface="Cambria Math"/>
              </a:rPr>
              <a:t>𝐵	− 𝑃 𝐴 ∩</a:t>
            </a:r>
            <a:r>
              <a:rPr sz="1800" spc="-85" dirty="0">
                <a:latin typeface="Cambria Math"/>
                <a:cs typeface="Cambria Math"/>
              </a:rPr>
              <a:t> </a:t>
            </a:r>
            <a:r>
              <a:rPr sz="1800" dirty="0">
                <a:latin typeface="Cambria Math"/>
                <a:cs typeface="Cambria Math"/>
              </a:rPr>
              <a:t>𝐵</a:t>
            </a:r>
            <a:endParaRPr sz="1800">
              <a:latin typeface="Cambria Math"/>
              <a:cs typeface="Cambria Math"/>
            </a:endParaRPr>
          </a:p>
        </p:txBody>
      </p:sp>
      <p:sp>
        <p:nvSpPr>
          <p:cNvPr id="18" name="object 18"/>
          <p:cNvSpPr/>
          <p:nvPr/>
        </p:nvSpPr>
        <p:spPr>
          <a:xfrm>
            <a:off x="2782823" y="4472685"/>
            <a:ext cx="254635" cy="15240"/>
          </a:xfrm>
          <a:custGeom>
            <a:avLst/>
            <a:gdLst/>
            <a:ahLst/>
            <a:cxnLst/>
            <a:rect l="l" t="t" r="r" b="b"/>
            <a:pathLst>
              <a:path w="254635" h="15239">
                <a:moveTo>
                  <a:pt x="254507" y="0"/>
                </a:moveTo>
                <a:lnTo>
                  <a:pt x="0" y="0"/>
                </a:lnTo>
                <a:lnTo>
                  <a:pt x="0" y="15239"/>
                </a:lnTo>
                <a:lnTo>
                  <a:pt x="254507" y="15239"/>
                </a:lnTo>
                <a:lnTo>
                  <a:pt x="254507" y="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9" name="object 19"/>
          <p:cNvSpPr/>
          <p:nvPr/>
        </p:nvSpPr>
        <p:spPr>
          <a:xfrm>
            <a:off x="3310128" y="4472685"/>
            <a:ext cx="254635" cy="15240"/>
          </a:xfrm>
          <a:custGeom>
            <a:avLst/>
            <a:gdLst/>
            <a:ahLst/>
            <a:cxnLst/>
            <a:rect l="l" t="t" r="r" b="b"/>
            <a:pathLst>
              <a:path w="254635" h="15239">
                <a:moveTo>
                  <a:pt x="254508" y="0"/>
                </a:moveTo>
                <a:lnTo>
                  <a:pt x="0" y="0"/>
                </a:lnTo>
                <a:lnTo>
                  <a:pt x="0" y="15239"/>
                </a:lnTo>
                <a:lnTo>
                  <a:pt x="254508" y="15239"/>
                </a:lnTo>
                <a:lnTo>
                  <a:pt x="254508" y="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0" name="object 20"/>
          <p:cNvSpPr/>
          <p:nvPr/>
        </p:nvSpPr>
        <p:spPr>
          <a:xfrm>
            <a:off x="3835908" y="4472685"/>
            <a:ext cx="254635" cy="15240"/>
          </a:xfrm>
          <a:custGeom>
            <a:avLst/>
            <a:gdLst/>
            <a:ahLst/>
            <a:cxnLst/>
            <a:rect l="l" t="t" r="r" b="b"/>
            <a:pathLst>
              <a:path w="254635" h="15239">
                <a:moveTo>
                  <a:pt x="254508" y="0"/>
                </a:moveTo>
                <a:lnTo>
                  <a:pt x="0" y="0"/>
                </a:lnTo>
                <a:lnTo>
                  <a:pt x="0" y="15239"/>
                </a:lnTo>
                <a:lnTo>
                  <a:pt x="254508" y="15239"/>
                </a:lnTo>
                <a:lnTo>
                  <a:pt x="254508" y="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1" name="object 21"/>
          <p:cNvSpPr/>
          <p:nvPr/>
        </p:nvSpPr>
        <p:spPr>
          <a:xfrm>
            <a:off x="4389120" y="4472685"/>
            <a:ext cx="254635" cy="15240"/>
          </a:xfrm>
          <a:custGeom>
            <a:avLst/>
            <a:gdLst/>
            <a:ahLst/>
            <a:cxnLst/>
            <a:rect l="l" t="t" r="r" b="b"/>
            <a:pathLst>
              <a:path w="254635" h="15239">
                <a:moveTo>
                  <a:pt x="254508" y="0"/>
                </a:moveTo>
                <a:lnTo>
                  <a:pt x="0" y="0"/>
                </a:lnTo>
                <a:lnTo>
                  <a:pt x="0" y="15239"/>
                </a:lnTo>
                <a:lnTo>
                  <a:pt x="254508" y="15239"/>
                </a:lnTo>
                <a:lnTo>
                  <a:pt x="254508" y="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2" name="object 22"/>
          <p:cNvSpPr txBox="1"/>
          <p:nvPr/>
        </p:nvSpPr>
        <p:spPr>
          <a:xfrm>
            <a:off x="2834767" y="4131691"/>
            <a:ext cx="1821180" cy="29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  <a:tabLst>
                <a:tab pos="475615" algn="l"/>
                <a:tab pos="1065530" algn="l"/>
                <a:tab pos="1554480" algn="l"/>
              </a:tabLst>
            </a:pPr>
            <a:r>
              <a:rPr sz="1800" dirty="0">
                <a:latin typeface="Cambria Math"/>
                <a:cs typeface="Cambria Math"/>
              </a:rPr>
              <a:t>4	</a:t>
            </a:r>
            <a:r>
              <a:rPr sz="1800" spc="-5" dirty="0">
                <a:latin typeface="Cambria Math"/>
                <a:cs typeface="Cambria Math"/>
              </a:rPr>
              <a:t>1</a:t>
            </a:r>
            <a:r>
              <a:rPr sz="1800" dirty="0">
                <a:latin typeface="Cambria Math"/>
                <a:cs typeface="Cambria Math"/>
              </a:rPr>
              <a:t>3	1	</a:t>
            </a:r>
            <a:r>
              <a:rPr sz="1800" spc="-5" dirty="0">
                <a:latin typeface="Cambria Math"/>
                <a:cs typeface="Cambria Math"/>
              </a:rPr>
              <a:t>16</a:t>
            </a:r>
            <a:endParaRPr sz="1800">
              <a:latin typeface="Cambria Math"/>
              <a:cs typeface="Cambria Math"/>
            </a:endParaRPr>
          </a:p>
        </p:txBody>
      </p:sp>
      <p:sp>
        <p:nvSpPr>
          <p:cNvPr id="23" name="object 23"/>
          <p:cNvSpPr txBox="1"/>
          <p:nvPr/>
        </p:nvSpPr>
        <p:spPr>
          <a:xfrm>
            <a:off x="2510282" y="4305427"/>
            <a:ext cx="3150870" cy="29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100"/>
              </a:spcBef>
            </a:pPr>
            <a:r>
              <a:rPr sz="1800" dirty="0">
                <a:latin typeface="Cambria Math"/>
                <a:cs typeface="Cambria Math"/>
              </a:rPr>
              <a:t>= </a:t>
            </a:r>
            <a:r>
              <a:rPr sz="2700" spc="-7" baseline="-37037" dirty="0">
                <a:latin typeface="Cambria Math"/>
                <a:cs typeface="Cambria Math"/>
              </a:rPr>
              <a:t>52 </a:t>
            </a:r>
            <a:r>
              <a:rPr sz="1800" dirty="0">
                <a:latin typeface="Cambria Math"/>
                <a:cs typeface="Cambria Math"/>
              </a:rPr>
              <a:t>+ </a:t>
            </a:r>
            <a:r>
              <a:rPr sz="2700" spc="-7" baseline="-37037" dirty="0">
                <a:latin typeface="Cambria Math"/>
                <a:cs typeface="Cambria Math"/>
              </a:rPr>
              <a:t>52 </a:t>
            </a:r>
            <a:r>
              <a:rPr sz="1800" dirty="0">
                <a:latin typeface="Cambria Math"/>
                <a:cs typeface="Cambria Math"/>
              </a:rPr>
              <a:t>− </a:t>
            </a:r>
            <a:r>
              <a:rPr sz="2700" spc="-7" baseline="-37037" dirty="0">
                <a:latin typeface="Cambria Math"/>
                <a:cs typeface="Cambria Math"/>
              </a:rPr>
              <a:t>52 </a:t>
            </a:r>
            <a:r>
              <a:rPr sz="1800" dirty="0">
                <a:latin typeface="Cambria Math"/>
                <a:cs typeface="Cambria Math"/>
              </a:rPr>
              <a:t>= </a:t>
            </a:r>
            <a:r>
              <a:rPr sz="2700" spc="-7" baseline="-37037" dirty="0">
                <a:latin typeface="Cambria Math"/>
                <a:cs typeface="Cambria Math"/>
              </a:rPr>
              <a:t>52 </a:t>
            </a:r>
            <a:r>
              <a:rPr sz="1800" dirty="0">
                <a:latin typeface="Cambria Math"/>
                <a:cs typeface="Cambria Math"/>
              </a:rPr>
              <a:t>=</a:t>
            </a:r>
            <a:r>
              <a:rPr sz="1800" spc="125" dirty="0">
                <a:latin typeface="Cambria Math"/>
                <a:cs typeface="Cambria Math"/>
              </a:rPr>
              <a:t> </a:t>
            </a:r>
            <a:r>
              <a:rPr sz="1800" spc="-5" dirty="0">
                <a:latin typeface="Cambria Math"/>
                <a:cs typeface="Cambria Math"/>
              </a:rPr>
              <a:t>0,3077</a:t>
            </a:r>
            <a:endParaRPr sz="1800">
              <a:latin typeface="Cambria Math"/>
              <a:cs typeface="Cambria Math"/>
            </a:endParaRPr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410" name="Rectangle 3">
            <a:extLst>
              <a:ext uri="{FF2B5EF4-FFF2-40B4-BE49-F238E27FC236}">
                <a16:creationId xmlns:a16="http://schemas.microsoft.com/office/drawing/2014/main" id="{57C4D0AE-9675-034C-A153-30DC9F4B9DA2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xfrm>
            <a:off x="990600" y="1295400"/>
            <a:ext cx="7391400" cy="5030288"/>
          </a:xfrm>
        </p:spPr>
        <p:txBody>
          <a:bodyPr/>
          <a:lstStyle/>
          <a:p>
            <a:pPr marL="342900" indent="-342900" eaLnBrk="1" hangingPunct="1">
              <a:lnSpc>
                <a:spcPct val="80000"/>
              </a:lnSpc>
              <a:buFont typeface="Arial" panose="020B0604020202020204" pitchFamily="34" charset="0"/>
              <a:buChar char="•"/>
            </a:pPr>
            <a:r>
              <a:rPr lang="en-US" altLang="en-US" sz="2400" dirty="0" err="1">
                <a:solidFill>
                  <a:srgbClr val="0000CC"/>
                </a:solidFill>
              </a:rPr>
              <a:t>Variabel</a:t>
            </a:r>
            <a:r>
              <a:rPr lang="en-US" altLang="en-US" sz="2400" dirty="0">
                <a:solidFill>
                  <a:srgbClr val="0000CC"/>
                </a:solidFill>
              </a:rPr>
              <a:t> </a:t>
            </a:r>
            <a:r>
              <a:rPr lang="en-US" altLang="en-US" sz="2400" dirty="0" err="1">
                <a:solidFill>
                  <a:srgbClr val="0000CC"/>
                </a:solidFill>
              </a:rPr>
              <a:t>acak</a:t>
            </a:r>
            <a:r>
              <a:rPr lang="en-US" altLang="en-US" sz="2400" dirty="0"/>
              <a:t> </a:t>
            </a:r>
            <a:r>
              <a:rPr lang="en-US" altLang="ja-JP" sz="2400" dirty="0" err="1">
                <a:ea typeface="ＭＳ Ｐゴシック" panose="020B0600070205080204" pitchFamily="34" charset="-128"/>
                <a:cs typeface="ＭＳ Ｐゴシック" panose="020B0600070205080204" pitchFamily="34" charset="-128"/>
              </a:rPr>
              <a:t>adalah</a:t>
            </a:r>
            <a:r>
              <a:rPr lang="en-US" altLang="ja-JP" sz="2400" dirty="0">
                <a:ea typeface="ＭＳ Ｐゴシック" panose="020B0600070205080204" pitchFamily="34" charset="-128"/>
                <a:cs typeface="ＭＳ Ｐゴシック" panose="020B0600070205080204" pitchFamily="34" charset="-128"/>
              </a:rPr>
              <a:t> </a:t>
            </a:r>
            <a:r>
              <a:rPr lang="en-US" altLang="ja-JP" sz="2400" dirty="0" err="1">
                <a:ea typeface="ＭＳ Ｐゴシック" panose="020B0600070205080204" pitchFamily="34" charset="-128"/>
                <a:cs typeface="ＭＳ Ｐゴシック" panose="020B0600070205080204" pitchFamily="34" charset="-128"/>
              </a:rPr>
              <a:t>suatu</a:t>
            </a:r>
            <a:r>
              <a:rPr lang="en-US" altLang="ja-JP" sz="2400" dirty="0">
                <a:ea typeface="ＭＳ Ｐゴシック" panose="020B0600070205080204" pitchFamily="34" charset="-128"/>
                <a:cs typeface="ＭＳ Ｐゴシック" panose="020B0600070205080204" pitchFamily="34" charset="-128"/>
              </a:rPr>
              <a:t> </a:t>
            </a:r>
            <a:r>
              <a:rPr lang="en-US" altLang="ja-JP" sz="2400" dirty="0" err="1">
                <a:ea typeface="ＭＳ Ｐゴシック" panose="020B0600070205080204" pitchFamily="34" charset="-128"/>
                <a:cs typeface="ＭＳ Ｐゴシック" panose="020B0600070205080204" pitchFamily="34" charset="-128"/>
              </a:rPr>
              <a:t>fungsi</a:t>
            </a:r>
            <a:r>
              <a:rPr lang="en-US" altLang="ja-JP" sz="2400" dirty="0">
                <a:ea typeface="ＭＳ Ｐゴシック" panose="020B0600070205080204" pitchFamily="34" charset="-128"/>
                <a:cs typeface="ＭＳ Ｐゴシック" panose="020B0600070205080204" pitchFamily="34" charset="-128"/>
              </a:rPr>
              <a:t> yang </a:t>
            </a:r>
            <a:r>
              <a:rPr lang="en-US" altLang="ja-JP" sz="2400" dirty="0" err="1">
                <a:ea typeface="ＭＳ Ｐゴシック" panose="020B0600070205080204" pitchFamily="34" charset="-128"/>
                <a:cs typeface="ＭＳ Ｐゴシック" panose="020B0600070205080204" pitchFamily="34" charset="-128"/>
              </a:rPr>
              <a:t>menghubungkan</a:t>
            </a:r>
            <a:r>
              <a:rPr lang="en-US" altLang="ja-JP" sz="2400" dirty="0">
                <a:ea typeface="ＭＳ Ｐゴシック" panose="020B0600070205080204" pitchFamily="34" charset="-128"/>
                <a:cs typeface="ＭＳ Ｐゴシック" panose="020B0600070205080204" pitchFamily="34" charset="-128"/>
              </a:rPr>
              <a:t> </a:t>
            </a:r>
            <a:r>
              <a:rPr lang="en-US" altLang="ja-JP" sz="2400" dirty="0" err="1">
                <a:ea typeface="ＭＳ Ｐゴシック" panose="020B0600070205080204" pitchFamily="34" charset="-128"/>
                <a:cs typeface="ＭＳ Ｐゴシック" panose="020B0600070205080204" pitchFamily="34" charset="-128"/>
              </a:rPr>
              <a:t>sebuah</a:t>
            </a:r>
            <a:r>
              <a:rPr lang="en-US" altLang="ja-JP" sz="2400" dirty="0">
                <a:ea typeface="ＭＳ Ｐゴシック" panose="020B0600070205080204" pitchFamily="34" charset="-128"/>
                <a:cs typeface="ＭＳ Ｐゴシック" panose="020B0600070205080204" pitchFamily="34" charset="-128"/>
              </a:rPr>
              <a:t> </a:t>
            </a:r>
            <a:r>
              <a:rPr lang="en-US" altLang="ja-JP" sz="2400" dirty="0" err="1">
                <a:ea typeface="ＭＳ Ｐゴシック" panose="020B0600070205080204" pitchFamily="34" charset="-128"/>
                <a:cs typeface="ＭＳ Ｐゴシック" panose="020B0600070205080204" pitchFamily="34" charset="-128"/>
              </a:rPr>
              <a:t>bilangan</a:t>
            </a:r>
            <a:r>
              <a:rPr lang="en-US" altLang="ja-JP" sz="2400" dirty="0">
                <a:ea typeface="ＭＳ Ｐゴシック" panose="020B0600070205080204" pitchFamily="34" charset="-128"/>
                <a:cs typeface="ＭＳ Ｐゴシック" panose="020B0600070205080204" pitchFamily="34" charset="-128"/>
              </a:rPr>
              <a:t> real </a:t>
            </a:r>
            <a:r>
              <a:rPr lang="en-US" altLang="ja-JP" sz="2400" dirty="0" err="1">
                <a:ea typeface="ＭＳ Ｐゴシック" panose="020B0600070205080204" pitchFamily="34" charset="-128"/>
                <a:cs typeface="ＭＳ Ｐゴシック" panose="020B0600070205080204" pitchFamily="34" charset="-128"/>
              </a:rPr>
              <a:t>dengan</a:t>
            </a:r>
            <a:r>
              <a:rPr lang="en-US" altLang="ja-JP" sz="2400" dirty="0">
                <a:ea typeface="ＭＳ Ｐゴシック" panose="020B0600070205080204" pitchFamily="34" charset="-128"/>
                <a:cs typeface="ＭＳ Ｐゴシック" panose="020B0600070205080204" pitchFamily="34" charset="-128"/>
              </a:rPr>
              <a:t> </a:t>
            </a:r>
            <a:r>
              <a:rPr lang="en-US" altLang="ja-JP" sz="2400" dirty="0" err="1">
                <a:ea typeface="ＭＳ Ｐゴシック" panose="020B0600070205080204" pitchFamily="34" charset="-128"/>
                <a:cs typeface="ＭＳ Ｐゴシック" panose="020B0600070205080204" pitchFamily="34" charset="-128"/>
              </a:rPr>
              <a:t>setiap</a:t>
            </a:r>
            <a:r>
              <a:rPr lang="en-US" altLang="ja-JP" sz="2400" dirty="0">
                <a:ea typeface="ＭＳ Ｐゴシック" panose="020B0600070205080204" pitchFamily="34" charset="-128"/>
                <a:cs typeface="ＭＳ Ｐゴシック" panose="020B0600070205080204" pitchFamily="34" charset="-128"/>
              </a:rPr>
              <a:t> </a:t>
            </a:r>
            <a:r>
              <a:rPr lang="en-US" altLang="ja-JP" sz="2400" dirty="0" err="1">
                <a:ea typeface="ＭＳ Ｐゴシック" panose="020B0600070205080204" pitchFamily="34" charset="-128"/>
                <a:cs typeface="ＭＳ Ｐゴシック" panose="020B0600070205080204" pitchFamily="34" charset="-128"/>
              </a:rPr>
              <a:t>unsur</a:t>
            </a:r>
            <a:r>
              <a:rPr lang="en-US" altLang="ja-JP" sz="2400" dirty="0">
                <a:ea typeface="ＭＳ Ｐゴシック" panose="020B0600070205080204" pitchFamily="34" charset="-128"/>
                <a:cs typeface="ＭＳ Ｐゴシック" panose="020B0600070205080204" pitchFamily="34" charset="-128"/>
              </a:rPr>
              <a:t> </a:t>
            </a:r>
            <a:r>
              <a:rPr lang="en-US" altLang="ja-JP" sz="2400" dirty="0" err="1">
                <a:ea typeface="ＭＳ Ｐゴシック" panose="020B0600070205080204" pitchFamily="34" charset="-128"/>
                <a:cs typeface="ＭＳ Ｐゴシック" panose="020B0600070205080204" pitchFamily="34" charset="-128"/>
              </a:rPr>
              <a:t>dalam</a:t>
            </a:r>
            <a:r>
              <a:rPr lang="en-US" altLang="ja-JP" sz="2400" dirty="0">
                <a:ea typeface="ＭＳ Ｐゴシック" panose="020B0600070205080204" pitchFamily="34" charset="-128"/>
                <a:cs typeface="ＭＳ Ｐゴシック" panose="020B0600070205080204" pitchFamily="34" charset="-128"/>
              </a:rPr>
              <a:t> </a:t>
            </a:r>
            <a:r>
              <a:rPr lang="en-US" altLang="ja-JP" sz="2400" dirty="0" err="1">
                <a:ea typeface="ＭＳ Ｐゴシック" panose="020B0600070205080204" pitchFamily="34" charset="-128"/>
                <a:cs typeface="ＭＳ Ｐゴシック" panose="020B0600070205080204" pitchFamily="34" charset="-128"/>
              </a:rPr>
              <a:t>ruang</a:t>
            </a:r>
            <a:r>
              <a:rPr lang="en-US" altLang="ja-JP" sz="2400" dirty="0">
                <a:ea typeface="ＭＳ Ｐゴシック" panose="020B0600070205080204" pitchFamily="34" charset="-128"/>
                <a:cs typeface="ＭＳ Ｐゴシック" panose="020B0600070205080204" pitchFamily="34" charset="-128"/>
              </a:rPr>
              <a:t> </a:t>
            </a:r>
            <a:r>
              <a:rPr lang="en-US" altLang="ja-JP" sz="2400" dirty="0" err="1">
                <a:ea typeface="ＭＳ Ｐゴシック" panose="020B0600070205080204" pitchFamily="34" charset="-128"/>
                <a:cs typeface="ＭＳ Ｐゴシック" panose="020B0600070205080204" pitchFamily="34" charset="-128"/>
              </a:rPr>
              <a:t>sampel</a:t>
            </a:r>
            <a:r>
              <a:rPr lang="en-US" altLang="ja-JP" sz="2400" dirty="0">
                <a:ea typeface="ＭＳ Ｐゴシック" panose="020B0600070205080204" pitchFamily="34" charset="-128"/>
                <a:cs typeface="ＭＳ Ｐゴシック" panose="020B0600070205080204" pitchFamily="34" charset="-128"/>
              </a:rPr>
              <a:t>. </a:t>
            </a:r>
          </a:p>
          <a:p>
            <a:pPr marL="342900" indent="-342900" eaLnBrk="1" hangingPunct="1">
              <a:lnSpc>
                <a:spcPct val="80000"/>
              </a:lnSpc>
              <a:buFont typeface="Arial" panose="020B0604020202020204" pitchFamily="34" charset="0"/>
              <a:buChar char="•"/>
            </a:pPr>
            <a:r>
              <a:rPr lang="en-US" altLang="ja-JP" sz="2400" dirty="0" err="1">
                <a:ea typeface="ＭＳ Ｐゴシック" panose="020B0600070205080204" pitchFamily="34" charset="-128"/>
                <a:cs typeface="ＭＳ Ｐゴシック" panose="020B0600070205080204" pitchFamily="34" charset="-128"/>
              </a:rPr>
              <a:t>Bila</a:t>
            </a:r>
            <a:r>
              <a:rPr lang="en-US" altLang="ja-JP" sz="2400" dirty="0">
                <a:ea typeface="ＭＳ Ｐゴシック" panose="020B0600070205080204" pitchFamily="34" charset="-128"/>
                <a:cs typeface="ＭＳ Ｐゴシック" panose="020B0600070205080204" pitchFamily="34" charset="-128"/>
              </a:rPr>
              <a:t> </a:t>
            </a:r>
            <a:r>
              <a:rPr lang="en-US" altLang="ja-JP" sz="2400" dirty="0" err="1">
                <a:ea typeface="ＭＳ Ｐゴシック" panose="020B0600070205080204" pitchFamily="34" charset="-128"/>
                <a:cs typeface="ＭＳ Ｐゴシック" panose="020B0600070205080204" pitchFamily="34" charset="-128"/>
              </a:rPr>
              <a:t>suatu</a:t>
            </a:r>
            <a:r>
              <a:rPr lang="en-US" altLang="ja-JP" sz="2400" dirty="0">
                <a:ea typeface="ＭＳ Ｐゴシック" panose="020B0600070205080204" pitchFamily="34" charset="-128"/>
                <a:cs typeface="ＭＳ Ｐゴシック" panose="020B0600070205080204" pitchFamily="34" charset="-128"/>
              </a:rPr>
              <a:t> </a:t>
            </a:r>
            <a:r>
              <a:rPr lang="en-US" altLang="ja-JP" sz="2400" dirty="0" err="1">
                <a:ea typeface="ＭＳ Ｐゴシック" panose="020B0600070205080204" pitchFamily="34" charset="-128"/>
                <a:cs typeface="ＭＳ Ｐゴシック" panose="020B0600070205080204" pitchFamily="34" charset="-128"/>
              </a:rPr>
              <a:t>ruang</a:t>
            </a:r>
            <a:r>
              <a:rPr lang="en-US" altLang="ja-JP" sz="2400" dirty="0">
                <a:ea typeface="ＭＳ Ｐゴシック" panose="020B0600070205080204" pitchFamily="34" charset="-128"/>
                <a:cs typeface="ＭＳ Ｐゴシック" panose="020B0600070205080204" pitchFamily="34" charset="-128"/>
              </a:rPr>
              <a:t> </a:t>
            </a:r>
            <a:r>
              <a:rPr lang="en-US" altLang="ja-JP" sz="2400" dirty="0" err="1">
                <a:ea typeface="ＭＳ Ｐゴシック" panose="020B0600070205080204" pitchFamily="34" charset="-128"/>
                <a:cs typeface="ＭＳ Ｐゴシック" panose="020B0600070205080204" pitchFamily="34" charset="-128"/>
              </a:rPr>
              <a:t>sampel</a:t>
            </a:r>
            <a:r>
              <a:rPr lang="en-US" altLang="ja-JP" sz="2400" dirty="0">
                <a:ea typeface="ＭＳ Ｐゴシック" panose="020B0600070205080204" pitchFamily="34" charset="-128"/>
                <a:cs typeface="ＭＳ Ｐゴシック" panose="020B0600070205080204" pitchFamily="34" charset="-128"/>
              </a:rPr>
              <a:t> </a:t>
            </a:r>
            <a:r>
              <a:rPr lang="en-US" altLang="ja-JP" sz="2400" dirty="0" err="1">
                <a:ea typeface="ＭＳ Ｐゴシック" panose="020B0600070205080204" pitchFamily="34" charset="-128"/>
                <a:cs typeface="ＭＳ Ｐゴシック" panose="020B0600070205080204" pitchFamily="34" charset="-128"/>
              </a:rPr>
              <a:t>berisi</a:t>
            </a:r>
            <a:r>
              <a:rPr lang="en-US" altLang="ja-JP" sz="2400" dirty="0">
                <a:ea typeface="ＭＳ Ｐゴシック" panose="020B0600070205080204" pitchFamily="34" charset="-128"/>
                <a:cs typeface="ＭＳ Ｐゴシック" panose="020B0600070205080204" pitchFamily="34" charset="-128"/>
              </a:rPr>
              <a:t> </a:t>
            </a:r>
            <a:r>
              <a:rPr lang="en-US" altLang="ja-JP" sz="2400" dirty="0" err="1">
                <a:ea typeface="ＭＳ Ｐゴシック" panose="020B0600070205080204" pitchFamily="34" charset="-128"/>
                <a:cs typeface="ＭＳ Ｐゴシック" panose="020B0600070205080204" pitchFamily="34" charset="-128"/>
              </a:rPr>
              <a:t>sejumlah</a:t>
            </a:r>
            <a:r>
              <a:rPr lang="en-US" altLang="ja-JP" sz="2400" dirty="0">
                <a:ea typeface="ＭＳ Ｐゴシック" panose="020B0600070205080204" pitchFamily="34" charset="-128"/>
                <a:cs typeface="ＭＳ Ｐゴシック" panose="020B0600070205080204" pitchFamily="34" charset="-128"/>
              </a:rPr>
              <a:t> </a:t>
            </a:r>
            <a:r>
              <a:rPr lang="en-US" altLang="ja-JP" sz="2400" dirty="0" err="1">
                <a:ea typeface="ＭＳ Ｐゴシック" panose="020B0600070205080204" pitchFamily="34" charset="-128"/>
                <a:cs typeface="ＭＳ Ｐゴシック" panose="020B0600070205080204" pitchFamily="34" charset="-128"/>
              </a:rPr>
              <a:t>kemungkinan</a:t>
            </a:r>
            <a:r>
              <a:rPr lang="en-US" altLang="ja-JP" sz="2400" dirty="0">
                <a:ea typeface="ＭＳ Ｐゴシック" panose="020B0600070205080204" pitchFamily="34" charset="-128"/>
                <a:cs typeface="ＭＳ Ｐゴシック" panose="020B0600070205080204" pitchFamily="34" charset="-128"/>
              </a:rPr>
              <a:t> </a:t>
            </a:r>
            <a:r>
              <a:rPr lang="en-US" altLang="ja-JP" sz="2400" dirty="0" err="1">
                <a:ea typeface="ＭＳ Ｐゴシック" panose="020B0600070205080204" pitchFamily="34" charset="-128"/>
                <a:cs typeface="ＭＳ Ｐゴシック" panose="020B0600070205080204" pitchFamily="34" charset="-128"/>
              </a:rPr>
              <a:t>terhingga</a:t>
            </a:r>
            <a:r>
              <a:rPr lang="en-US" altLang="ja-JP" sz="2400" dirty="0">
                <a:ea typeface="ＭＳ Ｐゴシック" panose="020B0600070205080204" pitchFamily="34" charset="-128"/>
                <a:cs typeface="ＭＳ Ｐゴシック" panose="020B0600070205080204" pitchFamily="34" charset="-128"/>
              </a:rPr>
              <a:t> </a:t>
            </a:r>
            <a:r>
              <a:rPr lang="en-US" altLang="ja-JP" sz="2400" dirty="0" err="1">
                <a:ea typeface="ＭＳ Ｐゴシック" panose="020B0600070205080204" pitchFamily="34" charset="-128"/>
                <a:cs typeface="ＭＳ Ｐゴシック" panose="020B0600070205080204" pitchFamily="34" charset="-128"/>
              </a:rPr>
              <a:t>atau</a:t>
            </a:r>
            <a:r>
              <a:rPr lang="en-US" altLang="ja-JP" sz="2400" dirty="0">
                <a:ea typeface="ＭＳ Ｐゴシック" panose="020B0600070205080204" pitchFamily="34" charset="-128"/>
                <a:cs typeface="ＭＳ Ｐゴシック" panose="020B0600070205080204" pitchFamily="34" charset="-128"/>
              </a:rPr>
              <a:t> </a:t>
            </a:r>
            <a:r>
              <a:rPr lang="en-US" altLang="ja-JP" sz="2400" dirty="0" err="1">
                <a:ea typeface="ＭＳ Ｐゴシック" panose="020B0600070205080204" pitchFamily="34" charset="-128"/>
                <a:cs typeface="ＭＳ Ｐゴシック" panose="020B0600070205080204" pitchFamily="34" charset="-128"/>
              </a:rPr>
              <a:t>urutan</a:t>
            </a:r>
            <a:r>
              <a:rPr lang="en-US" altLang="ja-JP" sz="2400" dirty="0">
                <a:ea typeface="ＭＳ Ｐゴシック" panose="020B0600070205080204" pitchFamily="34" charset="-128"/>
                <a:cs typeface="ＭＳ Ｐゴシック" panose="020B0600070205080204" pitchFamily="34" charset="-128"/>
              </a:rPr>
              <a:t> yang </a:t>
            </a:r>
            <a:r>
              <a:rPr lang="en-US" altLang="ja-JP" sz="2400" dirty="0" err="1">
                <a:ea typeface="ＭＳ Ｐゴシック" panose="020B0600070205080204" pitchFamily="34" charset="-128"/>
                <a:cs typeface="ＭＳ Ｐゴシック" panose="020B0600070205080204" pitchFamily="34" charset="-128"/>
              </a:rPr>
              <a:t>tidak</a:t>
            </a:r>
            <a:r>
              <a:rPr lang="en-US" altLang="ja-JP" sz="2400" dirty="0">
                <a:ea typeface="ＭＳ Ｐゴシック" panose="020B0600070205080204" pitchFamily="34" charset="-128"/>
                <a:cs typeface="ＭＳ Ｐゴシック" panose="020B0600070205080204" pitchFamily="34" charset="-128"/>
              </a:rPr>
              <a:t> </a:t>
            </a:r>
            <a:r>
              <a:rPr lang="en-US" altLang="ja-JP" sz="2400" dirty="0" err="1">
                <a:ea typeface="ＭＳ Ｐゴシック" panose="020B0600070205080204" pitchFamily="34" charset="-128"/>
                <a:cs typeface="ＭＳ Ｐゴシック" panose="020B0600070205080204" pitchFamily="34" charset="-128"/>
              </a:rPr>
              <a:t>terbatas</a:t>
            </a:r>
            <a:r>
              <a:rPr lang="en-US" altLang="ja-JP" sz="2400" dirty="0">
                <a:ea typeface="ＭＳ Ｐゴシック" panose="020B0600070205080204" pitchFamily="34" charset="-128"/>
                <a:cs typeface="ＭＳ Ｐゴシック" panose="020B0600070205080204" pitchFamily="34" charset="-128"/>
              </a:rPr>
              <a:t> </a:t>
            </a:r>
            <a:r>
              <a:rPr lang="en-US" altLang="ja-JP" sz="2400" dirty="0" err="1">
                <a:ea typeface="ＭＳ Ｐゴシック" panose="020B0600070205080204" pitchFamily="34" charset="-128"/>
                <a:cs typeface="ＭＳ Ｐゴシック" panose="020B0600070205080204" pitchFamily="34" charset="-128"/>
              </a:rPr>
              <a:t>dengan</a:t>
            </a:r>
            <a:r>
              <a:rPr lang="en-US" altLang="ja-JP" sz="2400" dirty="0">
                <a:ea typeface="ＭＳ Ｐゴシック" panose="020B0600070205080204" pitchFamily="34" charset="-128"/>
                <a:cs typeface="ＭＳ Ｐゴシック" panose="020B0600070205080204" pitchFamily="34" charset="-128"/>
              </a:rPr>
              <a:t> </a:t>
            </a:r>
            <a:r>
              <a:rPr lang="en-US" altLang="ja-JP" sz="2400" dirty="0" err="1">
                <a:ea typeface="ＭＳ Ｐゴシック" panose="020B0600070205080204" pitchFamily="34" charset="-128"/>
                <a:cs typeface="ＭＳ Ｐゴシック" panose="020B0600070205080204" pitchFamily="34" charset="-128"/>
              </a:rPr>
              <a:t>unsur</a:t>
            </a:r>
            <a:r>
              <a:rPr lang="en-US" altLang="ja-JP" sz="2400" dirty="0">
                <a:ea typeface="ＭＳ Ｐゴシック" panose="020B0600070205080204" pitchFamily="34" charset="-128"/>
                <a:cs typeface="ＭＳ Ｐゴシック" panose="020B0600070205080204" pitchFamily="34" charset="-128"/>
              </a:rPr>
              <a:t> </a:t>
            </a:r>
            <a:r>
              <a:rPr lang="en-US" altLang="ja-JP" sz="2400" dirty="0" err="1">
                <a:ea typeface="ＭＳ Ｐゴシック" panose="020B0600070205080204" pitchFamily="34" charset="-128"/>
                <a:cs typeface="ＭＳ Ｐゴシック" panose="020B0600070205080204" pitchFamily="34" charset="-128"/>
              </a:rPr>
              <a:t>sebanyak</a:t>
            </a:r>
            <a:r>
              <a:rPr lang="en-US" altLang="ja-JP" sz="2400" dirty="0">
                <a:ea typeface="ＭＳ Ｐゴシック" panose="020B0600070205080204" pitchFamily="34" charset="-128"/>
                <a:cs typeface="ＭＳ Ｐゴシック" panose="020B0600070205080204" pitchFamily="34" charset="-128"/>
              </a:rPr>
              <a:t> </a:t>
            </a:r>
            <a:r>
              <a:rPr lang="en-US" altLang="ja-JP" sz="2400" dirty="0" err="1">
                <a:ea typeface="ＭＳ Ｐゴシック" panose="020B0600070205080204" pitchFamily="34" charset="-128"/>
                <a:cs typeface="ＭＳ Ｐゴシック" panose="020B0600070205080204" pitchFamily="34" charset="-128"/>
              </a:rPr>
              <a:t>jumlah</a:t>
            </a:r>
            <a:r>
              <a:rPr lang="en-US" altLang="ja-JP" sz="2400" dirty="0">
                <a:ea typeface="ＭＳ Ｐゴシック" panose="020B0600070205080204" pitchFamily="34" charset="-128"/>
                <a:cs typeface="ＭＳ Ｐゴシック" panose="020B0600070205080204" pitchFamily="34" charset="-128"/>
              </a:rPr>
              <a:t> </a:t>
            </a:r>
            <a:r>
              <a:rPr lang="en-US" altLang="ja-JP" sz="2400" dirty="0" err="1">
                <a:ea typeface="ＭＳ Ｐゴシック" panose="020B0600070205080204" pitchFamily="34" charset="-128"/>
                <a:cs typeface="ＭＳ Ｐゴシック" panose="020B0600070205080204" pitchFamily="34" charset="-128"/>
              </a:rPr>
              <a:t>bilangan</a:t>
            </a:r>
            <a:r>
              <a:rPr lang="en-US" altLang="ja-JP" sz="2400" dirty="0">
                <a:ea typeface="ＭＳ Ｐゴシック" panose="020B0600070205080204" pitchFamily="34" charset="-128"/>
                <a:cs typeface="ＭＳ Ｐゴシック" panose="020B0600070205080204" pitchFamily="34" charset="-128"/>
              </a:rPr>
              <a:t> </a:t>
            </a:r>
            <a:r>
              <a:rPr lang="en-US" altLang="ja-JP" sz="2400" dirty="0" err="1">
                <a:ea typeface="ＭＳ Ｐゴシック" panose="020B0600070205080204" pitchFamily="34" charset="-128"/>
                <a:cs typeface="ＭＳ Ｐゴシック" panose="020B0600070205080204" pitchFamily="34" charset="-128"/>
              </a:rPr>
              <a:t>bulat</a:t>
            </a:r>
            <a:r>
              <a:rPr lang="en-US" altLang="ja-JP" sz="2400" dirty="0">
                <a:ea typeface="ＭＳ Ｐゴシック" panose="020B0600070205080204" pitchFamily="34" charset="-128"/>
                <a:cs typeface="ＭＳ Ｐゴシック" panose="020B0600070205080204" pitchFamily="34" charset="-128"/>
              </a:rPr>
              <a:t>, </a:t>
            </a:r>
            <a:r>
              <a:rPr lang="en-US" altLang="ja-JP" sz="2400" dirty="0" err="1">
                <a:ea typeface="ＭＳ Ｐゴシック" panose="020B0600070205080204" pitchFamily="34" charset="-128"/>
                <a:cs typeface="ＭＳ Ｐゴシック" panose="020B0600070205080204" pitchFamily="34" charset="-128"/>
              </a:rPr>
              <a:t>ruang</a:t>
            </a:r>
            <a:r>
              <a:rPr lang="en-US" altLang="ja-JP" sz="2400" dirty="0">
                <a:ea typeface="ＭＳ Ｐゴシック" panose="020B0600070205080204" pitchFamily="34" charset="-128"/>
                <a:cs typeface="ＭＳ Ｐゴシック" panose="020B0600070205080204" pitchFamily="34" charset="-128"/>
              </a:rPr>
              <a:t> </a:t>
            </a:r>
            <a:r>
              <a:rPr lang="en-US" altLang="ja-JP" sz="2400" dirty="0" err="1">
                <a:ea typeface="ＭＳ Ｐゴシック" panose="020B0600070205080204" pitchFamily="34" charset="-128"/>
                <a:cs typeface="ＭＳ Ｐゴシック" panose="020B0600070205080204" pitchFamily="34" charset="-128"/>
              </a:rPr>
              <a:t>sampel</a:t>
            </a:r>
            <a:r>
              <a:rPr lang="en-US" altLang="ja-JP" sz="2400" dirty="0">
                <a:ea typeface="ＭＳ Ｐゴシック" panose="020B0600070205080204" pitchFamily="34" charset="-128"/>
                <a:cs typeface="ＭＳ Ｐゴシック" panose="020B0600070205080204" pitchFamily="34" charset="-128"/>
              </a:rPr>
              <a:t> model </a:t>
            </a:r>
            <a:r>
              <a:rPr lang="en-US" altLang="ja-JP" sz="2400" dirty="0" err="1">
                <a:ea typeface="ＭＳ Ｐゴシック" panose="020B0600070205080204" pitchFamily="34" charset="-128"/>
                <a:cs typeface="ＭＳ Ｐゴシック" panose="020B0600070205080204" pitchFamily="34" charset="-128"/>
              </a:rPr>
              <a:t>ini</a:t>
            </a:r>
            <a:r>
              <a:rPr lang="en-US" altLang="ja-JP" sz="2400" dirty="0">
                <a:ea typeface="ＭＳ Ｐゴシック" panose="020B0600070205080204" pitchFamily="34" charset="-128"/>
                <a:cs typeface="ＭＳ Ｐゴシック" panose="020B0600070205080204" pitchFamily="34" charset="-128"/>
              </a:rPr>
              <a:t> </a:t>
            </a:r>
            <a:r>
              <a:rPr lang="en-US" altLang="ja-JP" sz="2400" dirty="0" err="1">
                <a:ea typeface="ＭＳ Ｐゴシック" panose="020B0600070205080204" pitchFamily="34" charset="-128"/>
                <a:cs typeface="ＭＳ Ｐゴシック" panose="020B0600070205080204" pitchFamily="34" charset="-128"/>
              </a:rPr>
              <a:t>disebut</a:t>
            </a:r>
            <a:r>
              <a:rPr lang="en-US" altLang="ja-JP" sz="2400" dirty="0">
                <a:ea typeface="ＭＳ Ｐゴシック" panose="020B0600070205080204" pitchFamily="34" charset="-128"/>
                <a:cs typeface="ＭＳ Ｐゴシック" panose="020B0600070205080204" pitchFamily="34" charset="-128"/>
              </a:rPr>
              <a:t> </a:t>
            </a:r>
            <a:r>
              <a:rPr lang="en-US" altLang="ja-JP" sz="2400" dirty="0" err="1">
                <a:ea typeface="ＭＳ Ｐゴシック" panose="020B0600070205080204" pitchFamily="34" charset="-128"/>
                <a:cs typeface="ＭＳ Ｐゴシック" panose="020B0600070205080204" pitchFamily="34" charset="-128"/>
              </a:rPr>
              <a:t>sebagai</a:t>
            </a:r>
            <a:r>
              <a:rPr lang="en-US" altLang="ja-JP" sz="2400" dirty="0">
                <a:ea typeface="ＭＳ Ｐゴシック" panose="020B0600070205080204" pitchFamily="34" charset="-128"/>
                <a:cs typeface="ＭＳ Ｐゴシック" panose="020B0600070205080204" pitchFamily="34" charset="-128"/>
              </a:rPr>
              <a:t> </a:t>
            </a:r>
            <a:r>
              <a:rPr lang="en-US" altLang="ja-JP" sz="2400" dirty="0" err="1">
                <a:ea typeface="ＭＳ Ｐゴシック" panose="020B0600070205080204" pitchFamily="34" charset="-128"/>
                <a:cs typeface="ＭＳ Ｐゴシック" panose="020B0600070205080204" pitchFamily="34" charset="-128"/>
              </a:rPr>
              <a:t>ruang</a:t>
            </a:r>
            <a:r>
              <a:rPr lang="en-US" altLang="ja-JP" sz="2400" dirty="0">
                <a:ea typeface="ＭＳ Ｐゴシック" panose="020B0600070205080204" pitchFamily="34" charset="-128"/>
                <a:cs typeface="ＭＳ Ｐゴシック" panose="020B0600070205080204" pitchFamily="34" charset="-128"/>
              </a:rPr>
              <a:t> </a:t>
            </a:r>
            <a:r>
              <a:rPr lang="en-US" altLang="ja-JP" sz="2400" dirty="0" err="1">
                <a:solidFill>
                  <a:srgbClr val="FF0000"/>
                </a:solidFill>
                <a:ea typeface="ＭＳ Ｐゴシック" panose="020B0600070205080204" pitchFamily="34" charset="-128"/>
                <a:cs typeface="ＭＳ Ｐゴシック" panose="020B0600070205080204" pitchFamily="34" charset="-128"/>
              </a:rPr>
              <a:t>sampel</a:t>
            </a:r>
            <a:r>
              <a:rPr lang="en-US" altLang="ja-JP" sz="2400" dirty="0">
                <a:solidFill>
                  <a:srgbClr val="FF0000"/>
                </a:solidFill>
                <a:ea typeface="ＭＳ Ｐゴシック" panose="020B0600070205080204" pitchFamily="34" charset="-128"/>
                <a:cs typeface="ＭＳ Ｐゴシック" panose="020B0600070205080204" pitchFamily="34" charset="-128"/>
              </a:rPr>
              <a:t> </a:t>
            </a:r>
            <a:r>
              <a:rPr lang="en-US" altLang="ja-JP" sz="2400" dirty="0" err="1">
                <a:solidFill>
                  <a:srgbClr val="FF0000"/>
                </a:solidFill>
                <a:ea typeface="ＭＳ Ｐゴシック" panose="020B0600070205080204" pitchFamily="34" charset="-128"/>
                <a:cs typeface="ＭＳ Ｐゴシック" panose="020B0600070205080204" pitchFamily="34" charset="-128"/>
              </a:rPr>
              <a:t>diskrit</a:t>
            </a:r>
            <a:r>
              <a:rPr lang="en-US" altLang="ja-JP" sz="2400" dirty="0">
                <a:ea typeface="ＭＳ Ｐゴシック" panose="020B0600070205080204" pitchFamily="34" charset="-128"/>
                <a:cs typeface="ＭＳ Ｐゴシック" panose="020B0600070205080204" pitchFamily="34" charset="-128"/>
              </a:rPr>
              <a:t> </a:t>
            </a:r>
          </a:p>
          <a:p>
            <a:pPr marL="342900" indent="-342900" eaLnBrk="1" hangingPunct="1">
              <a:lnSpc>
                <a:spcPct val="80000"/>
              </a:lnSpc>
              <a:buFont typeface="Arial" panose="020B0604020202020204" pitchFamily="34" charset="0"/>
              <a:buChar char="•"/>
            </a:pPr>
            <a:r>
              <a:rPr lang="en-US" altLang="ja-JP" sz="2400" dirty="0" err="1">
                <a:ea typeface="ＭＳ Ｐゴシック" panose="020B0600070205080204" pitchFamily="34" charset="-128"/>
                <a:cs typeface="ＭＳ Ｐゴシック" panose="020B0600070205080204" pitchFamily="34" charset="-128"/>
              </a:rPr>
              <a:t>Bila</a:t>
            </a:r>
            <a:r>
              <a:rPr lang="en-US" altLang="ja-JP" sz="2400" dirty="0">
                <a:ea typeface="ＭＳ Ｐゴシック" panose="020B0600070205080204" pitchFamily="34" charset="-128"/>
                <a:cs typeface="ＭＳ Ｐゴシック" panose="020B0600070205080204" pitchFamily="34" charset="-128"/>
              </a:rPr>
              <a:t> </a:t>
            </a:r>
            <a:r>
              <a:rPr lang="en-US" altLang="ja-JP" sz="2400" dirty="0" err="1">
                <a:ea typeface="ＭＳ Ｐゴシック" panose="020B0600070205080204" pitchFamily="34" charset="-128"/>
                <a:cs typeface="ＭＳ Ｐゴシック" panose="020B0600070205080204" pitchFamily="34" charset="-128"/>
              </a:rPr>
              <a:t>suatu</a:t>
            </a:r>
            <a:r>
              <a:rPr lang="en-US" altLang="ja-JP" sz="2400" dirty="0">
                <a:ea typeface="ＭＳ Ｐゴシック" panose="020B0600070205080204" pitchFamily="34" charset="-128"/>
                <a:cs typeface="ＭＳ Ｐゴシック" panose="020B0600070205080204" pitchFamily="34" charset="-128"/>
              </a:rPr>
              <a:t> </a:t>
            </a:r>
            <a:r>
              <a:rPr lang="en-US" altLang="ja-JP" sz="2400" dirty="0" err="1">
                <a:ea typeface="ＭＳ Ｐゴシック" panose="020B0600070205080204" pitchFamily="34" charset="-128"/>
                <a:cs typeface="ＭＳ Ｐゴシック" panose="020B0600070205080204" pitchFamily="34" charset="-128"/>
              </a:rPr>
              <a:t>ruang</a:t>
            </a:r>
            <a:r>
              <a:rPr lang="en-US" altLang="ja-JP" sz="2400" dirty="0">
                <a:ea typeface="ＭＳ Ｐゴシック" panose="020B0600070205080204" pitchFamily="34" charset="-128"/>
                <a:cs typeface="ＭＳ Ｐゴシック" panose="020B0600070205080204" pitchFamily="34" charset="-128"/>
              </a:rPr>
              <a:t> </a:t>
            </a:r>
            <a:r>
              <a:rPr lang="en-US" altLang="ja-JP" sz="2400" dirty="0" err="1">
                <a:ea typeface="ＭＳ Ｐゴシック" panose="020B0600070205080204" pitchFamily="34" charset="-128"/>
                <a:cs typeface="ＭＳ Ｐゴシック" panose="020B0600070205080204" pitchFamily="34" charset="-128"/>
              </a:rPr>
              <a:t>sampel</a:t>
            </a:r>
            <a:r>
              <a:rPr lang="en-US" altLang="ja-JP" sz="2400" dirty="0">
                <a:ea typeface="ＭＳ Ｐゴシック" panose="020B0600070205080204" pitchFamily="34" charset="-128"/>
                <a:cs typeface="ＭＳ Ｐゴシック" panose="020B0600070205080204" pitchFamily="34" charset="-128"/>
              </a:rPr>
              <a:t> </a:t>
            </a:r>
            <a:r>
              <a:rPr lang="en-US" altLang="ja-JP" sz="2400" dirty="0" err="1">
                <a:ea typeface="ＭＳ Ｐゴシック" panose="020B0600070205080204" pitchFamily="34" charset="-128"/>
                <a:cs typeface="ＭＳ Ｐゴシック" panose="020B0600070205080204" pitchFamily="34" charset="-128"/>
              </a:rPr>
              <a:t>berisi</a:t>
            </a:r>
            <a:r>
              <a:rPr lang="en-US" altLang="ja-JP" sz="2400" dirty="0">
                <a:ea typeface="ＭＳ Ｐゴシック" panose="020B0600070205080204" pitchFamily="34" charset="-128"/>
                <a:cs typeface="ＭＳ Ｐゴシック" panose="020B0600070205080204" pitchFamily="34" charset="-128"/>
              </a:rPr>
              <a:t> </a:t>
            </a:r>
            <a:r>
              <a:rPr lang="en-US" altLang="ja-JP" sz="2400" dirty="0" err="1">
                <a:ea typeface="ＭＳ Ｐゴシック" panose="020B0600070205080204" pitchFamily="34" charset="-128"/>
                <a:cs typeface="ＭＳ Ｐゴシック" panose="020B0600070205080204" pitchFamily="34" charset="-128"/>
              </a:rPr>
              <a:t>sejumlah</a:t>
            </a:r>
            <a:r>
              <a:rPr lang="en-US" altLang="ja-JP" sz="2400" dirty="0">
                <a:ea typeface="ＭＳ Ｐゴシック" panose="020B0600070205080204" pitchFamily="34" charset="-128"/>
                <a:cs typeface="ＭＳ Ｐゴシック" panose="020B0600070205080204" pitchFamily="34" charset="-128"/>
              </a:rPr>
              <a:t> </a:t>
            </a:r>
            <a:r>
              <a:rPr lang="en-US" altLang="ja-JP" sz="2400" dirty="0" err="1">
                <a:ea typeface="ＭＳ Ｐゴシック" panose="020B0600070205080204" pitchFamily="34" charset="-128"/>
                <a:cs typeface="ＭＳ Ｐゴシック" panose="020B0600070205080204" pitchFamily="34" charset="-128"/>
              </a:rPr>
              <a:t>kemungkinan</a:t>
            </a:r>
            <a:r>
              <a:rPr lang="en-US" altLang="ja-JP" sz="2400" dirty="0">
                <a:ea typeface="ＭＳ Ｐゴシック" panose="020B0600070205080204" pitchFamily="34" charset="-128"/>
                <a:cs typeface="ＭＳ Ｐゴシック" panose="020B0600070205080204" pitchFamily="34" charset="-128"/>
              </a:rPr>
              <a:t> </a:t>
            </a:r>
            <a:r>
              <a:rPr lang="en-US" altLang="ja-JP" sz="2400" dirty="0" err="1">
                <a:ea typeface="ＭＳ Ｐゴシック" panose="020B0600070205080204" pitchFamily="34" charset="-128"/>
                <a:cs typeface="ＭＳ Ｐゴシック" panose="020B0600070205080204" pitchFamily="34" charset="-128"/>
              </a:rPr>
              <a:t>tak</a:t>
            </a:r>
            <a:r>
              <a:rPr lang="en-US" altLang="ja-JP" sz="2400" dirty="0">
                <a:ea typeface="ＭＳ Ｐゴシック" panose="020B0600070205080204" pitchFamily="34" charset="-128"/>
                <a:cs typeface="ＭＳ Ｐゴシック" panose="020B0600070205080204" pitchFamily="34" charset="-128"/>
              </a:rPr>
              <a:t> </a:t>
            </a:r>
            <a:r>
              <a:rPr lang="en-US" altLang="ja-JP" sz="2400" dirty="0" err="1">
                <a:ea typeface="ＭＳ Ｐゴシック" panose="020B0600070205080204" pitchFamily="34" charset="-128"/>
                <a:cs typeface="ＭＳ Ｐゴシック" panose="020B0600070205080204" pitchFamily="34" charset="-128"/>
              </a:rPr>
              <a:t>terhingga</a:t>
            </a:r>
            <a:r>
              <a:rPr lang="en-US" altLang="ja-JP" sz="2400" dirty="0">
                <a:ea typeface="ＭＳ Ｐゴシック" panose="020B0600070205080204" pitchFamily="34" charset="-128"/>
                <a:cs typeface="ＭＳ Ｐゴシック" panose="020B0600070205080204" pitchFamily="34" charset="-128"/>
              </a:rPr>
              <a:t> yang </a:t>
            </a:r>
            <a:r>
              <a:rPr lang="en-US" altLang="ja-JP" sz="2400" dirty="0" err="1">
                <a:ea typeface="ＭＳ Ｐゴシック" panose="020B0600070205080204" pitchFamily="34" charset="-128"/>
                <a:cs typeface="ＭＳ Ｐゴシック" panose="020B0600070205080204" pitchFamily="34" charset="-128"/>
              </a:rPr>
              <a:t>sama</a:t>
            </a:r>
            <a:r>
              <a:rPr lang="en-US" altLang="ja-JP" sz="2400" dirty="0">
                <a:ea typeface="ＭＳ Ｐゴシック" panose="020B0600070205080204" pitchFamily="34" charset="-128"/>
                <a:cs typeface="ＭＳ Ｐゴシック" panose="020B0600070205080204" pitchFamily="34" charset="-128"/>
              </a:rPr>
              <a:t> </a:t>
            </a:r>
            <a:r>
              <a:rPr lang="en-US" altLang="ja-JP" sz="2400" dirty="0" err="1">
                <a:ea typeface="ＭＳ Ｐゴシック" panose="020B0600070205080204" pitchFamily="34" charset="-128"/>
                <a:cs typeface="ＭＳ Ｐゴシック" panose="020B0600070205080204" pitchFamily="34" charset="-128"/>
              </a:rPr>
              <a:t>dengan</a:t>
            </a:r>
            <a:r>
              <a:rPr lang="en-US" altLang="ja-JP" sz="2400" dirty="0">
                <a:ea typeface="ＭＳ Ｐゴシック" panose="020B0600070205080204" pitchFamily="34" charset="-128"/>
                <a:cs typeface="ＭＳ Ｐゴシック" panose="020B0600070205080204" pitchFamily="34" charset="-128"/>
              </a:rPr>
              <a:t> </a:t>
            </a:r>
            <a:r>
              <a:rPr lang="en-US" altLang="ja-JP" sz="2400" dirty="0" err="1">
                <a:ea typeface="ＭＳ Ｐゴシック" panose="020B0600070205080204" pitchFamily="34" charset="-128"/>
                <a:cs typeface="ＭＳ Ｐゴシック" panose="020B0600070205080204" pitchFamily="34" charset="-128"/>
              </a:rPr>
              <a:t>jumlah</a:t>
            </a:r>
            <a:r>
              <a:rPr lang="en-US" altLang="ja-JP" sz="2400" dirty="0">
                <a:ea typeface="ＭＳ Ｐゴシック" panose="020B0600070205080204" pitchFamily="34" charset="-128"/>
                <a:cs typeface="ＭＳ Ｐゴシック" panose="020B0600070205080204" pitchFamily="34" charset="-128"/>
              </a:rPr>
              <a:t> </a:t>
            </a:r>
            <a:r>
              <a:rPr lang="en-US" altLang="ja-JP" sz="2400" dirty="0" err="1">
                <a:ea typeface="ＭＳ Ｐゴシック" panose="020B0600070205080204" pitchFamily="34" charset="-128"/>
                <a:cs typeface="ＭＳ Ｐゴシック" panose="020B0600070205080204" pitchFamily="34" charset="-128"/>
              </a:rPr>
              <a:t>titik-titik</a:t>
            </a:r>
            <a:r>
              <a:rPr lang="en-US" altLang="ja-JP" sz="2400" dirty="0">
                <a:ea typeface="ＭＳ Ｐゴシック" panose="020B0600070205080204" pitchFamily="34" charset="-128"/>
                <a:cs typeface="ＭＳ Ｐゴシック" panose="020B0600070205080204" pitchFamily="34" charset="-128"/>
              </a:rPr>
              <a:t> </a:t>
            </a:r>
            <a:r>
              <a:rPr lang="en-US" altLang="ja-JP" sz="2400" dirty="0" err="1">
                <a:ea typeface="ＭＳ Ｐゴシック" panose="020B0600070205080204" pitchFamily="34" charset="-128"/>
                <a:cs typeface="ＭＳ Ｐゴシック" panose="020B0600070205080204" pitchFamily="34" charset="-128"/>
              </a:rPr>
              <a:t>dalam</a:t>
            </a:r>
            <a:r>
              <a:rPr lang="en-US" altLang="ja-JP" sz="2400" dirty="0">
                <a:ea typeface="ＭＳ Ｐゴシック" panose="020B0600070205080204" pitchFamily="34" charset="-128"/>
                <a:cs typeface="ＭＳ Ｐゴシック" panose="020B0600070205080204" pitchFamily="34" charset="-128"/>
              </a:rPr>
              <a:t> </a:t>
            </a:r>
            <a:r>
              <a:rPr lang="en-US" altLang="ja-JP" sz="2400" dirty="0" err="1">
                <a:ea typeface="ＭＳ Ｐゴシック" panose="020B0600070205080204" pitchFamily="34" charset="-128"/>
                <a:cs typeface="ＭＳ Ｐゴシック" panose="020B0600070205080204" pitchFamily="34" charset="-128"/>
              </a:rPr>
              <a:t>sebuah</a:t>
            </a:r>
            <a:r>
              <a:rPr lang="en-US" altLang="ja-JP" sz="2400" dirty="0">
                <a:ea typeface="ＭＳ Ｐゴシック" panose="020B0600070205080204" pitchFamily="34" charset="-128"/>
                <a:cs typeface="ＭＳ Ｐゴシック" panose="020B0600070205080204" pitchFamily="34" charset="-128"/>
              </a:rPr>
              <a:t> </a:t>
            </a:r>
            <a:r>
              <a:rPr lang="en-US" altLang="ja-JP" sz="2400" dirty="0" err="1">
                <a:ea typeface="ＭＳ Ｐゴシック" panose="020B0600070205080204" pitchFamily="34" charset="-128"/>
                <a:cs typeface="ＭＳ Ｐゴシック" panose="020B0600070205080204" pitchFamily="34" charset="-128"/>
              </a:rPr>
              <a:t>segmen</a:t>
            </a:r>
            <a:r>
              <a:rPr lang="en-US" altLang="ja-JP" sz="2400" dirty="0">
                <a:ea typeface="ＭＳ Ｐゴシック" panose="020B0600070205080204" pitchFamily="34" charset="-128"/>
                <a:cs typeface="ＭＳ Ｐゴシック" panose="020B0600070205080204" pitchFamily="34" charset="-128"/>
              </a:rPr>
              <a:t> </a:t>
            </a:r>
            <a:r>
              <a:rPr lang="en-US" altLang="ja-JP" sz="2400" dirty="0" err="1">
                <a:ea typeface="ＭＳ Ｐゴシック" panose="020B0600070205080204" pitchFamily="34" charset="-128"/>
                <a:cs typeface="ＭＳ Ｐゴシック" panose="020B0600070205080204" pitchFamily="34" charset="-128"/>
              </a:rPr>
              <a:t>garis</a:t>
            </a:r>
            <a:r>
              <a:rPr lang="en-US" altLang="ja-JP" sz="2400" dirty="0">
                <a:ea typeface="ＭＳ Ｐゴシック" panose="020B0600070205080204" pitchFamily="34" charset="-128"/>
                <a:cs typeface="ＭＳ Ｐゴシック" panose="020B0600070205080204" pitchFamily="34" charset="-128"/>
              </a:rPr>
              <a:t>, </a:t>
            </a:r>
            <a:r>
              <a:rPr lang="en-US" altLang="ja-JP" sz="2400" dirty="0" err="1">
                <a:ea typeface="ＭＳ Ｐゴシック" panose="020B0600070205080204" pitchFamily="34" charset="-128"/>
                <a:cs typeface="ＭＳ Ｐゴシック" panose="020B0600070205080204" pitchFamily="34" charset="-128"/>
              </a:rPr>
              <a:t>ruang</a:t>
            </a:r>
            <a:r>
              <a:rPr lang="en-US" altLang="ja-JP" sz="2400" dirty="0">
                <a:ea typeface="ＭＳ Ｐゴシック" panose="020B0600070205080204" pitchFamily="34" charset="-128"/>
                <a:cs typeface="ＭＳ Ｐゴシック" panose="020B0600070205080204" pitchFamily="34" charset="-128"/>
              </a:rPr>
              <a:t> </a:t>
            </a:r>
            <a:r>
              <a:rPr lang="en-US" altLang="ja-JP" sz="2400" dirty="0" err="1">
                <a:ea typeface="ＭＳ Ｐゴシック" panose="020B0600070205080204" pitchFamily="34" charset="-128"/>
                <a:cs typeface="ＭＳ Ｐゴシック" panose="020B0600070205080204" pitchFamily="34" charset="-128"/>
              </a:rPr>
              <a:t>sampel</a:t>
            </a:r>
            <a:r>
              <a:rPr lang="en-US" altLang="ja-JP" sz="2400" dirty="0">
                <a:ea typeface="ＭＳ Ｐゴシック" panose="020B0600070205080204" pitchFamily="34" charset="-128"/>
                <a:cs typeface="ＭＳ Ｐゴシック" panose="020B0600070205080204" pitchFamily="34" charset="-128"/>
              </a:rPr>
              <a:t> model </a:t>
            </a:r>
            <a:r>
              <a:rPr lang="en-US" altLang="ja-JP" sz="2400" dirty="0" err="1">
                <a:ea typeface="ＭＳ Ｐゴシック" panose="020B0600070205080204" pitchFamily="34" charset="-128"/>
                <a:cs typeface="ＭＳ Ｐゴシック" panose="020B0600070205080204" pitchFamily="34" charset="-128"/>
              </a:rPr>
              <a:t>ini</a:t>
            </a:r>
            <a:r>
              <a:rPr lang="en-US" altLang="ja-JP" sz="2400" dirty="0">
                <a:ea typeface="ＭＳ Ｐゴシック" panose="020B0600070205080204" pitchFamily="34" charset="-128"/>
                <a:cs typeface="ＭＳ Ｐゴシック" panose="020B0600070205080204" pitchFamily="34" charset="-128"/>
              </a:rPr>
              <a:t> </a:t>
            </a:r>
            <a:r>
              <a:rPr lang="en-US" altLang="ja-JP" sz="2400" dirty="0" err="1">
                <a:ea typeface="ＭＳ Ｐゴシック" panose="020B0600070205080204" pitchFamily="34" charset="-128"/>
                <a:cs typeface="ＭＳ Ｐゴシック" panose="020B0600070205080204" pitchFamily="34" charset="-128"/>
              </a:rPr>
              <a:t>disebut</a:t>
            </a:r>
            <a:r>
              <a:rPr lang="en-US" altLang="ja-JP" sz="2400" dirty="0">
                <a:ea typeface="ＭＳ Ｐゴシック" panose="020B0600070205080204" pitchFamily="34" charset="-128"/>
                <a:cs typeface="ＭＳ Ｐゴシック" panose="020B0600070205080204" pitchFamily="34" charset="-128"/>
              </a:rPr>
              <a:t> </a:t>
            </a:r>
            <a:r>
              <a:rPr lang="en-US" altLang="ja-JP" sz="2400" dirty="0" err="1">
                <a:ea typeface="ＭＳ Ｐゴシック" panose="020B0600070205080204" pitchFamily="34" charset="-128"/>
                <a:cs typeface="ＭＳ Ｐゴシック" panose="020B0600070205080204" pitchFamily="34" charset="-128"/>
              </a:rPr>
              <a:t>sebagai</a:t>
            </a:r>
            <a:r>
              <a:rPr lang="en-US" altLang="ja-JP" sz="2400" dirty="0">
                <a:ea typeface="ＭＳ Ｐゴシック" panose="020B0600070205080204" pitchFamily="34" charset="-128"/>
                <a:cs typeface="ＭＳ Ｐゴシック" panose="020B0600070205080204" pitchFamily="34" charset="-128"/>
              </a:rPr>
              <a:t> </a:t>
            </a:r>
            <a:r>
              <a:rPr lang="en-US" altLang="ja-JP" sz="2400" dirty="0" err="1">
                <a:ea typeface="ＭＳ Ｐゴシック" panose="020B0600070205080204" pitchFamily="34" charset="-128"/>
                <a:cs typeface="ＭＳ Ｐゴシック" panose="020B0600070205080204" pitchFamily="34" charset="-128"/>
              </a:rPr>
              <a:t>ruang</a:t>
            </a:r>
            <a:r>
              <a:rPr lang="en-US" altLang="ja-JP" sz="2400" dirty="0">
                <a:ea typeface="ＭＳ Ｐゴシック" panose="020B0600070205080204" pitchFamily="34" charset="-128"/>
                <a:cs typeface="ＭＳ Ｐゴシック" panose="020B0600070205080204" pitchFamily="34" charset="-128"/>
              </a:rPr>
              <a:t> </a:t>
            </a:r>
            <a:r>
              <a:rPr lang="en-US" altLang="ja-JP" sz="2400" dirty="0" err="1">
                <a:solidFill>
                  <a:srgbClr val="FF0000"/>
                </a:solidFill>
                <a:ea typeface="ＭＳ Ｐゴシック" panose="020B0600070205080204" pitchFamily="34" charset="-128"/>
                <a:cs typeface="ＭＳ Ｐゴシック" panose="020B0600070205080204" pitchFamily="34" charset="-128"/>
              </a:rPr>
              <a:t>sampel</a:t>
            </a:r>
            <a:r>
              <a:rPr lang="en-US" altLang="ja-JP" sz="2400" dirty="0">
                <a:solidFill>
                  <a:srgbClr val="FF0000"/>
                </a:solidFill>
                <a:ea typeface="ＭＳ Ｐゴシック" panose="020B0600070205080204" pitchFamily="34" charset="-128"/>
                <a:cs typeface="ＭＳ Ｐゴシック" panose="020B0600070205080204" pitchFamily="34" charset="-128"/>
              </a:rPr>
              <a:t> </a:t>
            </a:r>
            <a:r>
              <a:rPr lang="en-US" altLang="ja-JP" sz="2400" dirty="0" err="1">
                <a:solidFill>
                  <a:srgbClr val="FF0000"/>
                </a:solidFill>
                <a:ea typeface="ＭＳ Ｐゴシック" panose="020B0600070205080204" pitchFamily="34" charset="-128"/>
                <a:cs typeface="ＭＳ Ｐゴシック" panose="020B0600070205080204" pitchFamily="34" charset="-128"/>
              </a:rPr>
              <a:t>kontinyu</a:t>
            </a:r>
            <a:r>
              <a:rPr lang="en-US" altLang="ja-JP" sz="2400" dirty="0">
                <a:ea typeface="ＭＳ Ｐゴシック" panose="020B0600070205080204" pitchFamily="34" charset="-128"/>
                <a:cs typeface="ＭＳ Ｐゴシック" panose="020B0600070205080204" pitchFamily="34" charset="-128"/>
              </a:rPr>
              <a:t>. </a:t>
            </a:r>
          </a:p>
          <a:p>
            <a:pPr marL="342900" indent="-342900" eaLnBrk="1" hangingPunct="1">
              <a:lnSpc>
                <a:spcPct val="80000"/>
              </a:lnSpc>
              <a:buFont typeface="Arial" panose="020B0604020202020204" pitchFamily="34" charset="0"/>
              <a:buChar char="•"/>
            </a:pPr>
            <a:r>
              <a:rPr lang="en-US" altLang="ja-JP" sz="2400" dirty="0" err="1">
                <a:ea typeface="ＭＳ Ｐゴシック" panose="020B0600070205080204" pitchFamily="34" charset="-128"/>
                <a:cs typeface="ＭＳ Ｐゴシック" panose="020B0600070205080204" pitchFamily="34" charset="-128"/>
              </a:rPr>
              <a:t>Variabel</a:t>
            </a:r>
            <a:r>
              <a:rPr lang="en-US" altLang="ja-JP" sz="2400" dirty="0">
                <a:ea typeface="ＭＳ Ｐゴシック" panose="020B0600070205080204" pitchFamily="34" charset="-128"/>
                <a:cs typeface="ＭＳ Ｐゴシック" panose="020B0600070205080204" pitchFamily="34" charset="-128"/>
              </a:rPr>
              <a:t> </a:t>
            </a:r>
            <a:r>
              <a:rPr lang="en-US" altLang="ja-JP" sz="2400" dirty="0" err="1">
                <a:ea typeface="ＭＳ Ｐゴシック" panose="020B0600070205080204" pitchFamily="34" charset="-128"/>
                <a:cs typeface="ＭＳ Ｐゴシック" panose="020B0600070205080204" pitchFamily="34" charset="-128"/>
              </a:rPr>
              <a:t>acak</a:t>
            </a:r>
            <a:r>
              <a:rPr lang="en-US" altLang="ja-JP" sz="2400" dirty="0">
                <a:ea typeface="ＭＳ Ｐゴシック" panose="020B0600070205080204" pitchFamily="34" charset="-128"/>
                <a:cs typeface="ＭＳ Ｐゴシック" panose="020B0600070205080204" pitchFamily="34" charset="-128"/>
              </a:rPr>
              <a:t> </a:t>
            </a:r>
            <a:r>
              <a:rPr lang="en-US" altLang="ja-JP" sz="2400" dirty="0" err="1">
                <a:ea typeface="ＭＳ Ｐゴシック" panose="020B0600070205080204" pitchFamily="34" charset="-128"/>
                <a:cs typeface="ＭＳ Ｐゴシック" panose="020B0600070205080204" pitchFamily="34" charset="-128"/>
              </a:rPr>
              <a:t>diskrit</a:t>
            </a:r>
            <a:r>
              <a:rPr lang="en-US" altLang="ja-JP" sz="2400" dirty="0">
                <a:ea typeface="ＭＳ Ｐゴシック" panose="020B0600070205080204" pitchFamily="34" charset="-128"/>
                <a:cs typeface="ＭＳ Ｐゴシック" panose="020B0600070205080204" pitchFamily="34" charset="-128"/>
              </a:rPr>
              <a:t> </a:t>
            </a:r>
            <a:r>
              <a:rPr lang="en-US" altLang="ja-JP" sz="2400" dirty="0" err="1">
                <a:ea typeface="ＭＳ Ｐゴシック" panose="020B0600070205080204" pitchFamily="34" charset="-128"/>
                <a:cs typeface="ＭＳ Ｐゴシック" panose="020B0600070205080204" pitchFamily="34" charset="-128"/>
              </a:rPr>
              <a:t>bila</a:t>
            </a:r>
            <a:r>
              <a:rPr lang="en-US" altLang="ja-JP" sz="2400" dirty="0">
                <a:ea typeface="ＭＳ Ｐゴシック" panose="020B0600070205080204" pitchFamily="34" charset="-128"/>
                <a:cs typeface="ＭＳ Ｐゴシック" panose="020B0600070205080204" pitchFamily="34" charset="-128"/>
              </a:rPr>
              <a:t> </a:t>
            </a:r>
            <a:r>
              <a:rPr lang="en-US" altLang="ja-JP" sz="2400" dirty="0" err="1">
                <a:ea typeface="ＭＳ Ｐゴシック" panose="020B0600070205080204" pitchFamily="34" charset="-128"/>
                <a:cs typeface="ＭＳ Ｐゴシック" panose="020B0600070205080204" pitchFamily="34" charset="-128"/>
              </a:rPr>
              <a:t>himpunan</a:t>
            </a:r>
            <a:r>
              <a:rPr lang="en-US" altLang="ja-JP" sz="2400" dirty="0">
                <a:ea typeface="ＭＳ Ｐゴシック" panose="020B0600070205080204" pitchFamily="34" charset="-128"/>
                <a:cs typeface="ＭＳ Ｐゴシック" panose="020B0600070205080204" pitchFamily="34" charset="-128"/>
              </a:rPr>
              <a:t> </a:t>
            </a:r>
            <a:r>
              <a:rPr lang="en-US" altLang="ja-JP" sz="2400" dirty="0" err="1">
                <a:ea typeface="ＭＳ Ｐゴシック" panose="020B0600070205080204" pitchFamily="34" charset="-128"/>
                <a:cs typeface="ＭＳ Ｐゴシック" panose="020B0600070205080204" pitchFamily="34" charset="-128"/>
              </a:rPr>
              <a:t>keluarannya</a:t>
            </a:r>
            <a:r>
              <a:rPr lang="en-US" altLang="ja-JP" sz="2400" dirty="0">
                <a:ea typeface="ＭＳ Ｐゴシック" panose="020B0600070205080204" pitchFamily="34" charset="-128"/>
                <a:cs typeface="ＭＳ Ｐゴシック" panose="020B0600070205080204" pitchFamily="34" charset="-128"/>
              </a:rPr>
              <a:t> </a:t>
            </a:r>
            <a:r>
              <a:rPr lang="en-US" altLang="ja-JP" sz="2400" dirty="0" err="1">
                <a:ea typeface="ＭＳ Ｐゴシック" panose="020B0600070205080204" pitchFamily="34" charset="-128"/>
                <a:cs typeface="ＭＳ Ｐゴシック" panose="020B0600070205080204" pitchFamily="34" charset="-128"/>
              </a:rPr>
              <a:t>dapat</a:t>
            </a:r>
            <a:r>
              <a:rPr lang="en-US" altLang="ja-JP" sz="2400" dirty="0">
                <a:ea typeface="ＭＳ Ｐゴシック" panose="020B0600070205080204" pitchFamily="34" charset="-128"/>
                <a:cs typeface="ＭＳ Ｐゴシック" panose="020B0600070205080204" pitchFamily="34" charset="-128"/>
              </a:rPr>
              <a:t> </a:t>
            </a:r>
            <a:r>
              <a:rPr lang="en-US" altLang="ja-JP" sz="2400" dirty="0" err="1">
                <a:ea typeface="ＭＳ Ｐゴシック" panose="020B0600070205080204" pitchFamily="34" charset="-128"/>
                <a:cs typeface="ＭＳ Ｐゴシック" panose="020B0600070205080204" pitchFamily="34" charset="-128"/>
              </a:rPr>
              <a:t>dihitung</a:t>
            </a:r>
            <a:r>
              <a:rPr lang="en-US" altLang="ja-JP" sz="2400" dirty="0">
                <a:ea typeface="ＭＳ Ｐゴシック" panose="020B0600070205080204" pitchFamily="34" charset="-128"/>
                <a:cs typeface="ＭＳ Ｐゴシック" panose="020B0600070205080204" pitchFamily="34" charset="-128"/>
              </a:rPr>
              <a:t>. </a:t>
            </a:r>
          </a:p>
          <a:p>
            <a:pPr marL="342900" indent="-342900" eaLnBrk="1" hangingPunct="1">
              <a:lnSpc>
                <a:spcPct val="80000"/>
              </a:lnSpc>
              <a:buFont typeface="Arial" panose="020B0604020202020204" pitchFamily="34" charset="0"/>
              <a:buChar char="•"/>
            </a:pPr>
            <a:r>
              <a:rPr lang="en-US" altLang="ja-JP" sz="2400" dirty="0" err="1">
                <a:ea typeface="ＭＳ Ｐゴシック" panose="020B0600070205080204" pitchFamily="34" charset="-128"/>
                <a:cs typeface="ＭＳ Ｐゴシック" panose="020B0600070205080204" pitchFamily="34" charset="-128"/>
              </a:rPr>
              <a:t>Variabel</a:t>
            </a:r>
            <a:r>
              <a:rPr lang="en-US" altLang="ja-JP" sz="2400" dirty="0">
                <a:ea typeface="ＭＳ Ｐゴシック" panose="020B0600070205080204" pitchFamily="34" charset="-128"/>
                <a:cs typeface="ＭＳ Ｐゴシック" panose="020B0600070205080204" pitchFamily="34" charset="-128"/>
              </a:rPr>
              <a:t> </a:t>
            </a:r>
            <a:r>
              <a:rPr lang="en-US" altLang="ja-JP" sz="2400" dirty="0" err="1">
                <a:ea typeface="ＭＳ Ｐゴシック" panose="020B0600070205080204" pitchFamily="34" charset="-128"/>
                <a:cs typeface="ＭＳ Ｐゴシック" panose="020B0600070205080204" pitchFamily="34" charset="-128"/>
              </a:rPr>
              <a:t>acak</a:t>
            </a:r>
            <a:r>
              <a:rPr lang="en-US" altLang="ja-JP" sz="2400" dirty="0">
                <a:ea typeface="ＭＳ Ｐゴシック" panose="020B0600070205080204" pitchFamily="34" charset="-128"/>
                <a:cs typeface="ＭＳ Ｐゴシック" panose="020B0600070205080204" pitchFamily="34" charset="-128"/>
              </a:rPr>
              <a:t> </a:t>
            </a:r>
            <a:r>
              <a:rPr lang="en-US" altLang="ja-JP" sz="2400" dirty="0" err="1">
                <a:ea typeface="ＭＳ Ｐゴシック" panose="020B0600070205080204" pitchFamily="34" charset="-128"/>
                <a:cs typeface="ＭＳ Ｐゴシック" panose="020B0600070205080204" pitchFamily="34" charset="-128"/>
              </a:rPr>
              <a:t>dapat</a:t>
            </a:r>
            <a:r>
              <a:rPr lang="en-US" altLang="ja-JP" sz="2400" dirty="0">
                <a:ea typeface="ＭＳ Ｐゴシック" panose="020B0600070205080204" pitchFamily="34" charset="-128"/>
                <a:cs typeface="ＭＳ Ｐゴシック" panose="020B0600070205080204" pitchFamily="34" charset="-128"/>
              </a:rPr>
              <a:t> </a:t>
            </a:r>
            <a:r>
              <a:rPr lang="en-US" altLang="ja-JP" sz="2400" dirty="0" err="1">
                <a:ea typeface="ＭＳ Ｐゴシック" panose="020B0600070205080204" pitchFamily="34" charset="-128"/>
                <a:cs typeface="ＭＳ Ｐゴシック" panose="020B0600070205080204" pitchFamily="34" charset="-128"/>
              </a:rPr>
              <a:t>mengambil</a:t>
            </a:r>
            <a:r>
              <a:rPr lang="en-US" altLang="ja-JP" sz="2400" dirty="0">
                <a:ea typeface="ＭＳ Ｐゴシック" panose="020B0600070205080204" pitchFamily="34" charset="-128"/>
                <a:cs typeface="ＭＳ Ｐゴシック" panose="020B0600070205080204" pitchFamily="34" charset="-128"/>
              </a:rPr>
              <a:t> </a:t>
            </a:r>
            <a:r>
              <a:rPr lang="en-US" altLang="ja-JP" sz="2400" dirty="0" err="1">
                <a:ea typeface="ＭＳ Ｐゴシック" panose="020B0600070205080204" pitchFamily="34" charset="-128"/>
                <a:cs typeface="ＭＳ Ｐゴシック" panose="020B0600070205080204" pitchFamily="34" charset="-128"/>
              </a:rPr>
              <a:t>nilai-nilai</a:t>
            </a:r>
            <a:r>
              <a:rPr lang="en-US" altLang="ja-JP" sz="2400" dirty="0">
                <a:ea typeface="ＭＳ Ｐゴシック" panose="020B0600070205080204" pitchFamily="34" charset="-128"/>
                <a:cs typeface="ＭＳ Ｐゴシック" panose="020B0600070205080204" pitchFamily="34" charset="-128"/>
              </a:rPr>
              <a:t> </a:t>
            </a:r>
            <a:r>
              <a:rPr lang="en-US" altLang="ja-JP" sz="2400" dirty="0" err="1">
                <a:ea typeface="ＭＳ Ｐゴシック" panose="020B0600070205080204" pitchFamily="34" charset="-128"/>
                <a:cs typeface="ＭＳ Ｐゴシック" panose="020B0600070205080204" pitchFamily="34" charset="-128"/>
              </a:rPr>
              <a:t>pada</a:t>
            </a:r>
            <a:r>
              <a:rPr lang="en-US" altLang="ja-JP" sz="2400" dirty="0">
                <a:ea typeface="ＭＳ Ｐゴシック" panose="020B0600070205080204" pitchFamily="34" charset="-128"/>
                <a:cs typeface="ＭＳ Ｐゴシック" panose="020B0600070205080204" pitchFamily="34" charset="-128"/>
              </a:rPr>
              <a:t> </a:t>
            </a:r>
            <a:r>
              <a:rPr lang="en-US" altLang="ja-JP" sz="2400" dirty="0" err="1">
                <a:ea typeface="ＭＳ Ｐゴシック" panose="020B0600070205080204" pitchFamily="34" charset="-128"/>
                <a:cs typeface="ＭＳ Ｐゴシック" panose="020B0600070205080204" pitchFamily="34" charset="-128"/>
              </a:rPr>
              <a:t>skala</a:t>
            </a:r>
            <a:r>
              <a:rPr lang="en-US" altLang="ja-JP" sz="2400" dirty="0">
                <a:ea typeface="ＭＳ Ｐゴシック" panose="020B0600070205080204" pitchFamily="34" charset="-128"/>
                <a:cs typeface="ＭＳ Ｐゴシック" panose="020B0600070205080204" pitchFamily="34" charset="-128"/>
              </a:rPr>
              <a:t> </a:t>
            </a:r>
            <a:r>
              <a:rPr lang="en-US" altLang="ja-JP" sz="2400" dirty="0" err="1">
                <a:ea typeface="ＭＳ Ｐゴシック" panose="020B0600070205080204" pitchFamily="34" charset="-128"/>
                <a:cs typeface="ＭＳ Ｐゴシック" panose="020B0600070205080204" pitchFamily="34" charset="-128"/>
              </a:rPr>
              <a:t>kontinyu</a:t>
            </a:r>
            <a:r>
              <a:rPr lang="en-US" altLang="ja-JP" sz="2400" dirty="0">
                <a:ea typeface="ＭＳ Ｐゴシック" panose="020B0600070205080204" pitchFamily="34" charset="-128"/>
                <a:cs typeface="ＭＳ Ｐゴシック" panose="020B0600070205080204" pitchFamily="34" charset="-128"/>
              </a:rPr>
              <a:t> </a:t>
            </a:r>
            <a:r>
              <a:rPr lang="en-US" altLang="ja-JP" sz="2400" dirty="0" err="1">
                <a:ea typeface="ＭＳ Ｐゴシック" panose="020B0600070205080204" pitchFamily="34" charset="-128"/>
                <a:cs typeface="ＭＳ Ｐゴシック" panose="020B0600070205080204" pitchFamily="34" charset="-128"/>
              </a:rPr>
              <a:t>disebut</a:t>
            </a:r>
            <a:r>
              <a:rPr lang="en-US" altLang="ja-JP" sz="2400" dirty="0">
                <a:ea typeface="ＭＳ Ｐゴシック" panose="020B0600070205080204" pitchFamily="34" charset="-128"/>
                <a:cs typeface="ＭＳ Ｐゴシック" panose="020B0600070205080204" pitchFamily="34" charset="-128"/>
              </a:rPr>
              <a:t> </a:t>
            </a:r>
            <a:r>
              <a:rPr lang="en-US" altLang="ja-JP" sz="2400" dirty="0" err="1">
                <a:ea typeface="ＭＳ Ｐゴシック" panose="020B0600070205080204" pitchFamily="34" charset="-128"/>
                <a:cs typeface="ＭＳ Ｐゴシック" panose="020B0600070205080204" pitchFamily="34" charset="-128"/>
              </a:rPr>
              <a:t>sebagai</a:t>
            </a:r>
            <a:r>
              <a:rPr lang="en-US" altLang="ja-JP" sz="2400" dirty="0">
                <a:ea typeface="ＭＳ Ｐゴシック" panose="020B0600070205080204" pitchFamily="34" charset="-128"/>
                <a:cs typeface="ＭＳ Ｐゴシック" panose="020B0600070205080204" pitchFamily="34" charset="-128"/>
              </a:rPr>
              <a:t> </a:t>
            </a:r>
            <a:r>
              <a:rPr lang="en-US" altLang="ja-JP" sz="2400" dirty="0" err="1">
                <a:ea typeface="ＭＳ Ｐゴシック" panose="020B0600070205080204" pitchFamily="34" charset="-128"/>
                <a:cs typeface="ＭＳ Ｐゴシック" panose="020B0600070205080204" pitchFamily="34" charset="-128"/>
              </a:rPr>
              <a:t>variabel</a:t>
            </a:r>
            <a:r>
              <a:rPr lang="en-US" altLang="ja-JP" sz="2400" dirty="0">
                <a:ea typeface="ＭＳ Ｐゴシック" panose="020B0600070205080204" pitchFamily="34" charset="-128"/>
                <a:cs typeface="ＭＳ Ｐゴシック" panose="020B0600070205080204" pitchFamily="34" charset="-128"/>
              </a:rPr>
              <a:t> </a:t>
            </a:r>
            <a:r>
              <a:rPr lang="en-US" altLang="ja-JP" sz="2400" dirty="0" err="1">
                <a:ea typeface="ＭＳ Ｐゴシック" panose="020B0600070205080204" pitchFamily="34" charset="-128"/>
                <a:cs typeface="ＭＳ Ｐゴシック" panose="020B0600070205080204" pitchFamily="34" charset="-128"/>
              </a:rPr>
              <a:t>acak</a:t>
            </a:r>
            <a:r>
              <a:rPr lang="en-US" altLang="ja-JP" sz="2400" dirty="0">
                <a:ea typeface="ＭＳ Ｐゴシック" panose="020B0600070205080204" pitchFamily="34" charset="-128"/>
                <a:cs typeface="ＭＳ Ｐゴシック" panose="020B0600070205080204" pitchFamily="34" charset="-128"/>
              </a:rPr>
              <a:t> </a:t>
            </a:r>
            <a:r>
              <a:rPr lang="en-US" altLang="ja-JP" sz="2400" dirty="0" err="1">
                <a:ea typeface="ＭＳ Ｐゴシック" panose="020B0600070205080204" pitchFamily="34" charset="-128"/>
                <a:cs typeface="ＭＳ Ｐゴシック" panose="020B0600070205080204" pitchFamily="34" charset="-128"/>
              </a:rPr>
              <a:t>kontinyu</a:t>
            </a:r>
            <a:r>
              <a:rPr lang="en-US" altLang="ja-JP" sz="2400" dirty="0">
                <a:ea typeface="ＭＳ Ｐゴシック" panose="020B0600070205080204" pitchFamily="34" charset="-128"/>
                <a:cs typeface="ＭＳ Ｐゴシック" panose="020B0600070205080204" pitchFamily="34" charset="-128"/>
              </a:rPr>
              <a:t>. </a:t>
            </a:r>
            <a:endParaRPr lang="en-US" altLang="en-US" sz="2400" dirty="0"/>
          </a:p>
        </p:txBody>
      </p:sp>
      <p:sp>
        <p:nvSpPr>
          <p:cNvPr id="17411" name="WordArt 4">
            <a:extLst>
              <a:ext uri="{FF2B5EF4-FFF2-40B4-BE49-F238E27FC236}">
                <a16:creationId xmlns:a16="http://schemas.microsoft.com/office/drawing/2014/main" id="{2DB0714E-2280-DA4F-B953-72BE08E3CE19}"/>
              </a:ext>
            </a:extLst>
          </p:cNvPr>
          <p:cNvSpPr>
            <a:spLocks noChangeArrowheads="1" noChangeShapeType="1" noTextEdit="1"/>
          </p:cNvSpPr>
          <p:nvPr/>
        </p:nvSpPr>
        <p:spPr bwMode="auto">
          <a:xfrm>
            <a:off x="1835150" y="333375"/>
            <a:ext cx="4608513" cy="792163"/>
          </a:xfrm>
          <a:prstGeom prst="rect">
            <a:avLst/>
          </a:prstGeom>
        </p:spPr>
        <p:txBody>
          <a:bodyPr wrap="none" fromWordArt="1">
            <a:prstTxWarp prst="textPlain">
              <a:avLst>
                <a:gd name="adj" fmla="val 50000"/>
              </a:avLst>
            </a:prstTxWarp>
          </a:bodyPr>
          <a:lstStyle/>
          <a:p>
            <a:pPr algn="ctr"/>
            <a:r>
              <a:rPr lang="en-US" sz="3600" kern="10">
                <a:ln w="19050">
                  <a:solidFill>
                    <a:srgbClr val="99CCFF"/>
                  </a:solidFill>
                  <a:round/>
                  <a:headEnd/>
                  <a:tailEnd/>
                </a:ln>
                <a:solidFill>
                  <a:srgbClr val="0066CC"/>
                </a:solidFill>
                <a:effectLst>
                  <a:outerShdw dist="35921" dir="2700000" algn="ctr" rotWithShape="0">
                    <a:srgbClr val="990000"/>
                  </a:outerShdw>
                </a:effectLst>
                <a:latin typeface="Impact" panose="020B0806030902050204" pitchFamily="34" charset="0"/>
              </a:rPr>
              <a:t>Konsep Variabel Acak</a:t>
            </a:r>
          </a:p>
        </p:txBody>
      </p:sp>
    </p:spTree>
    <p:extLst>
      <p:ext uri="{BB962C8B-B14F-4D97-AF65-F5344CB8AC3E}">
        <p14:creationId xmlns:p14="http://schemas.microsoft.com/office/powerpoint/2010/main" val="2087427039"/>
      </p:ext>
    </p:ext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362" name="Title 3">
            <a:extLst>
              <a:ext uri="{FF2B5EF4-FFF2-40B4-BE49-F238E27FC236}">
                <a16:creationId xmlns:a16="http://schemas.microsoft.com/office/drawing/2014/main" id="{EFAE4E88-33C6-6E48-9A1A-B90C75D0379A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431925" y="360363"/>
            <a:ext cx="7407275" cy="1471612"/>
          </a:xfrm>
        </p:spPr>
        <p:txBody>
          <a:bodyPr/>
          <a:lstStyle/>
          <a:p>
            <a:pPr eaLnBrk="1" fontAlgn="auto" hangingPunct="1">
              <a:spcAft>
                <a:spcPts val="0"/>
              </a:spcAft>
              <a:defRPr/>
            </a:pPr>
            <a:r>
              <a:rPr lang="en-US" dirty="0" err="1">
                <a:solidFill>
                  <a:schemeClr val="tx2">
                    <a:satMod val="130000"/>
                  </a:schemeClr>
                </a:solidFill>
              </a:rPr>
              <a:t>Distribusi</a:t>
            </a:r>
            <a:r>
              <a:rPr lang="en-US" dirty="0">
                <a:solidFill>
                  <a:schemeClr val="tx2">
                    <a:satMod val="130000"/>
                  </a:schemeClr>
                </a:solidFill>
              </a:rPr>
              <a:t> </a:t>
            </a:r>
            <a:r>
              <a:rPr lang="id-ID" dirty="0">
                <a:solidFill>
                  <a:schemeClr val="tx2">
                    <a:satMod val="130000"/>
                  </a:schemeClr>
                </a:solidFill>
              </a:rPr>
              <a:t>Probabilitas Diskrit</a:t>
            </a:r>
            <a:endParaRPr lang="en-US" dirty="0">
              <a:solidFill>
                <a:schemeClr val="tx2">
                  <a:satMod val="130000"/>
                </a:schemeClr>
              </a:solidFill>
            </a:endParaRPr>
          </a:p>
        </p:txBody>
      </p:sp>
      <p:sp>
        <p:nvSpPr>
          <p:cNvPr id="15363" name="Subtitle 4">
            <a:extLst>
              <a:ext uri="{FF2B5EF4-FFF2-40B4-BE49-F238E27FC236}">
                <a16:creationId xmlns:a16="http://schemas.microsoft.com/office/drawing/2014/main" id="{FEB18023-117D-5146-9869-D71283EE434D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431925" y="1849438"/>
            <a:ext cx="7407275" cy="1752600"/>
          </a:xfrm>
        </p:spPr>
        <p:txBody>
          <a:bodyPr>
            <a:normAutofit/>
          </a:bodyPr>
          <a:lstStyle/>
          <a:p>
            <a:pPr eaLnBrk="1" fontAlgn="auto" hangingPunct="1">
              <a:spcAft>
                <a:spcPts val="0"/>
              </a:spcAft>
              <a:buFontTx/>
              <a:buChar char="-"/>
              <a:defRPr/>
            </a:pPr>
            <a:r>
              <a:rPr lang="id-ID" dirty="0"/>
              <a:t>Bernoulli/Binomial</a:t>
            </a:r>
          </a:p>
          <a:p>
            <a:pPr eaLnBrk="1" fontAlgn="auto" hangingPunct="1">
              <a:spcAft>
                <a:spcPts val="0"/>
              </a:spcAft>
              <a:buFontTx/>
              <a:buChar char="-"/>
              <a:defRPr/>
            </a:pPr>
            <a:r>
              <a:rPr lang="id-ID" dirty="0"/>
              <a:t>Poissson</a:t>
            </a:r>
          </a:p>
          <a:p>
            <a:pPr eaLnBrk="1" fontAlgn="auto" hangingPunct="1">
              <a:spcAft>
                <a:spcPts val="0"/>
              </a:spcAft>
              <a:buFontTx/>
              <a:buChar char="-"/>
              <a:defRPr/>
            </a:pPr>
            <a:r>
              <a:rPr lang="id-ID" dirty="0"/>
              <a:t>Hipergeometrik</a:t>
            </a:r>
          </a:p>
          <a:p>
            <a:pPr eaLnBrk="1" fontAlgn="auto" hangingPunct="1">
              <a:spcAft>
                <a:spcPts val="0"/>
              </a:spcAft>
              <a:buFontTx/>
              <a:buChar char="-"/>
              <a:defRPr/>
            </a:pPr>
            <a:endParaRPr lang="id-ID" dirty="0"/>
          </a:p>
          <a:p>
            <a:pPr eaLnBrk="1" fontAlgn="auto" hangingPunct="1">
              <a:spcAft>
                <a:spcPts val="0"/>
              </a:spcAft>
              <a:buFontTx/>
              <a:buChar char="-"/>
              <a:defRPr/>
            </a:pPr>
            <a:endParaRPr lang="en-US" dirty="0"/>
          </a:p>
        </p:txBody>
      </p:sp>
      <p:sp>
        <p:nvSpPr>
          <p:cNvPr id="4" name="Title 3">
            <a:extLst>
              <a:ext uri="{FF2B5EF4-FFF2-40B4-BE49-F238E27FC236}">
                <a16:creationId xmlns:a16="http://schemas.microsoft.com/office/drawing/2014/main" id="{AA742200-F1EF-AA4D-9BD4-6AAB69804CA0}"/>
              </a:ext>
            </a:extLst>
          </p:cNvPr>
          <p:cNvSpPr txBox="1">
            <a:spLocks/>
          </p:cNvSpPr>
          <p:nvPr/>
        </p:nvSpPr>
        <p:spPr>
          <a:xfrm>
            <a:off x="1485900" y="3284538"/>
            <a:ext cx="7407275" cy="1471612"/>
          </a:xfrm>
          <a:prstGeom prst="rect">
            <a:avLst/>
          </a:prstGeom>
        </p:spPr>
        <p:txBody>
          <a:bodyPr anchor="b">
            <a:normAutofit/>
          </a:bodyPr>
          <a:lstStyle/>
          <a:p>
            <a:pPr eaLnBrk="1" fontAlgn="auto" hangingPunct="1">
              <a:spcAft>
                <a:spcPts val="0"/>
              </a:spcAft>
              <a:defRPr/>
            </a:pPr>
            <a:r>
              <a:rPr lang="en-US" sz="4300" dirty="0" err="1">
                <a:solidFill>
                  <a:schemeClr val="tx2">
                    <a:satMod val="130000"/>
                  </a:schemeClr>
                </a:solidFill>
                <a:effectLst>
                  <a:outerShdw blurRad="50000" dist="30000" dir="5400000" algn="tl" rotWithShape="0">
                    <a:srgbClr val="000000">
                      <a:alpha val="30000"/>
                    </a:srgbClr>
                  </a:outerShdw>
                </a:effectLst>
                <a:latin typeface="+mj-lt"/>
                <a:ea typeface="+mj-ea"/>
                <a:cs typeface="+mj-cs"/>
              </a:rPr>
              <a:t>Distribusi</a:t>
            </a:r>
            <a:r>
              <a:rPr lang="en-US" sz="4300" dirty="0">
                <a:solidFill>
                  <a:schemeClr val="tx2">
                    <a:satMod val="130000"/>
                  </a:schemeClr>
                </a:solidFill>
                <a:effectLst>
                  <a:outerShdw blurRad="50000" dist="30000" dir="5400000" algn="tl" rotWithShape="0">
                    <a:srgbClr val="000000">
                      <a:alpha val="30000"/>
                    </a:srgbClr>
                  </a:outerShdw>
                </a:effectLst>
                <a:latin typeface="+mj-lt"/>
                <a:ea typeface="+mj-ea"/>
                <a:cs typeface="+mj-cs"/>
              </a:rPr>
              <a:t> </a:t>
            </a:r>
            <a:r>
              <a:rPr lang="id-ID" sz="4300" dirty="0">
                <a:solidFill>
                  <a:schemeClr val="tx2">
                    <a:satMod val="130000"/>
                  </a:schemeClr>
                </a:solidFill>
                <a:effectLst>
                  <a:outerShdw blurRad="50000" dist="30000" dir="5400000" algn="tl" rotWithShape="0">
                    <a:srgbClr val="000000">
                      <a:alpha val="30000"/>
                    </a:srgbClr>
                  </a:outerShdw>
                </a:effectLst>
                <a:latin typeface="+mj-lt"/>
                <a:ea typeface="+mj-ea"/>
                <a:cs typeface="+mj-cs"/>
              </a:rPr>
              <a:t>Probabilitas Kontinyu</a:t>
            </a:r>
            <a:endParaRPr lang="en-US" sz="4300" dirty="0">
              <a:solidFill>
                <a:schemeClr val="tx2">
                  <a:satMod val="130000"/>
                </a:schemeClr>
              </a:solidFill>
              <a:effectLst>
                <a:outerShdw blurRad="50000" dist="30000" dir="5400000" algn="tl" rotWithShape="0">
                  <a:srgbClr val="000000">
                    <a:alpha val="30000"/>
                  </a:srgbClr>
                </a:outerShdw>
              </a:effectLst>
              <a:latin typeface="+mj-lt"/>
              <a:ea typeface="+mj-ea"/>
              <a:cs typeface="+mj-cs"/>
            </a:endParaRPr>
          </a:p>
        </p:txBody>
      </p:sp>
      <p:sp>
        <p:nvSpPr>
          <p:cNvPr id="5" name="Subtitle 4">
            <a:extLst>
              <a:ext uri="{FF2B5EF4-FFF2-40B4-BE49-F238E27FC236}">
                <a16:creationId xmlns:a16="http://schemas.microsoft.com/office/drawing/2014/main" id="{CE0B65A4-D162-994A-9219-7EF887D3C6EB}"/>
              </a:ext>
            </a:extLst>
          </p:cNvPr>
          <p:cNvSpPr txBox="1">
            <a:spLocks/>
          </p:cNvSpPr>
          <p:nvPr/>
        </p:nvSpPr>
        <p:spPr bwMode="auto">
          <a:xfrm>
            <a:off x="1485900" y="4773613"/>
            <a:ext cx="7407275" cy="17526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tIns="0">
            <a:normAutofit/>
          </a:bodyPr>
          <a:lstStyle/>
          <a:p>
            <a:pPr marL="27432" eaLnBrk="1" fontAlgn="auto" hangingPunct="1">
              <a:spcBef>
                <a:spcPts val="600"/>
              </a:spcBef>
              <a:spcAft>
                <a:spcPts val="0"/>
              </a:spcAft>
              <a:buClr>
                <a:schemeClr val="accent1"/>
              </a:buClr>
              <a:buSzPct val="80000"/>
              <a:buFontTx/>
              <a:buChar char="-"/>
              <a:defRPr/>
            </a:pPr>
            <a:r>
              <a:rPr lang="id-ID" sz="2600" dirty="0">
                <a:solidFill>
                  <a:schemeClr val="tx2">
                    <a:shade val="30000"/>
                    <a:satMod val="150000"/>
                  </a:schemeClr>
                </a:solidFill>
                <a:latin typeface="+mn-lt"/>
              </a:rPr>
              <a:t> Normal (Z, t, Chi-Square dll)</a:t>
            </a:r>
          </a:p>
          <a:p>
            <a:pPr marL="27432" eaLnBrk="1" fontAlgn="auto" hangingPunct="1">
              <a:spcBef>
                <a:spcPts val="600"/>
              </a:spcBef>
              <a:spcAft>
                <a:spcPts val="0"/>
              </a:spcAft>
              <a:buClr>
                <a:schemeClr val="accent1"/>
              </a:buClr>
              <a:buSzPct val="80000"/>
              <a:buFontTx/>
              <a:buChar char="-"/>
              <a:defRPr/>
            </a:pPr>
            <a:endParaRPr lang="id-ID" sz="2600" dirty="0">
              <a:solidFill>
                <a:schemeClr val="tx2">
                  <a:shade val="30000"/>
                  <a:satMod val="150000"/>
                </a:schemeClr>
              </a:solidFill>
              <a:latin typeface="+mn-lt"/>
            </a:endParaRPr>
          </a:p>
          <a:p>
            <a:pPr marL="27432" eaLnBrk="1" fontAlgn="auto" hangingPunct="1">
              <a:spcBef>
                <a:spcPts val="600"/>
              </a:spcBef>
              <a:spcAft>
                <a:spcPts val="0"/>
              </a:spcAft>
              <a:buClr>
                <a:schemeClr val="accent1"/>
              </a:buClr>
              <a:buSzPct val="80000"/>
              <a:buFontTx/>
              <a:buChar char="-"/>
              <a:defRPr/>
            </a:pPr>
            <a:endParaRPr lang="en-US" sz="2600" dirty="0">
              <a:solidFill>
                <a:schemeClr val="tx2">
                  <a:shade val="30000"/>
                  <a:satMod val="150000"/>
                </a:schemeClr>
              </a:solidFill>
              <a:latin typeface="+mn-lt"/>
            </a:endParaRPr>
          </a:p>
        </p:txBody>
      </p:sp>
    </p:spTree>
    <p:extLst>
      <p:ext uri="{BB962C8B-B14F-4D97-AF65-F5344CB8AC3E}">
        <p14:creationId xmlns:p14="http://schemas.microsoft.com/office/powerpoint/2010/main" val="1357580899"/>
      </p:ext>
    </p:extLst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386" name="Rectangle 2">
            <a:extLst>
              <a:ext uri="{FF2B5EF4-FFF2-40B4-BE49-F238E27FC236}">
                <a16:creationId xmlns:a16="http://schemas.microsoft.com/office/drawing/2014/main" id="{503D6403-2FD7-0D40-8BCC-E540415311A9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1143000" y="728663"/>
            <a:ext cx="7696200" cy="492443"/>
          </a:xfrm>
        </p:spPr>
        <p:txBody>
          <a:bodyPr/>
          <a:lstStyle/>
          <a:p>
            <a:pPr eaLnBrk="1" fontAlgn="auto" hangingPunct="1">
              <a:spcAft>
                <a:spcPts val="0"/>
              </a:spcAft>
              <a:defRPr/>
            </a:pPr>
            <a:r>
              <a:rPr lang="en-US" sz="3200" b="1" dirty="0" err="1">
                <a:solidFill>
                  <a:schemeClr val="tx2">
                    <a:satMod val="130000"/>
                  </a:schemeClr>
                </a:solidFill>
              </a:rPr>
              <a:t>Percobaan</a:t>
            </a:r>
            <a:r>
              <a:rPr lang="en-US" sz="3200" b="1" dirty="0">
                <a:solidFill>
                  <a:schemeClr val="tx2">
                    <a:satMod val="130000"/>
                  </a:schemeClr>
                </a:solidFill>
              </a:rPr>
              <a:t> Bernoulli :</a:t>
            </a:r>
            <a:endParaRPr lang="id-ID" sz="3200" b="1" dirty="0">
              <a:solidFill>
                <a:schemeClr val="tx2">
                  <a:satMod val="130000"/>
                </a:schemeClr>
              </a:solidFill>
            </a:endParaRPr>
          </a:p>
        </p:txBody>
      </p:sp>
      <p:sp>
        <p:nvSpPr>
          <p:cNvPr id="19459" name="Rectangle 3">
            <a:extLst>
              <a:ext uri="{FF2B5EF4-FFF2-40B4-BE49-F238E27FC236}">
                <a16:creationId xmlns:a16="http://schemas.microsoft.com/office/drawing/2014/main" id="{3DCBC3CD-9526-8C4B-BF89-54A97B2B4F1F}"/>
              </a:ext>
            </a:extLst>
          </p:cNvPr>
          <p:cNvSpPr>
            <a:spLocks noGrp="1" noChangeArrowheads="1"/>
          </p:cNvSpPr>
          <p:nvPr>
            <p:ph idx="1"/>
          </p:nvPr>
        </p:nvSpPr>
        <p:spPr>
          <a:xfrm>
            <a:off x="838200" y="1643063"/>
            <a:ext cx="8001000" cy="3877985"/>
          </a:xfrm>
        </p:spPr>
        <p:txBody>
          <a:bodyPr/>
          <a:lstStyle/>
          <a:p>
            <a:pPr eaLnBrk="1" hangingPunct="1">
              <a:lnSpc>
                <a:spcPct val="90000"/>
              </a:lnSpc>
              <a:buFontTx/>
              <a:buNone/>
            </a:pPr>
            <a:r>
              <a:rPr lang="sv-SE" altLang="en-US" sz="2800" dirty="0" err="1"/>
              <a:t>Sifat-sifat</a:t>
            </a:r>
            <a:r>
              <a:rPr lang="sv-SE" altLang="en-US" sz="2800" dirty="0"/>
              <a:t> </a:t>
            </a:r>
            <a:r>
              <a:rPr lang="sv-SE" altLang="en-US" sz="2800" dirty="0" err="1"/>
              <a:t>sebagai</a:t>
            </a:r>
            <a:r>
              <a:rPr lang="sv-SE" altLang="en-US" sz="2800" dirty="0"/>
              <a:t> </a:t>
            </a:r>
            <a:r>
              <a:rPr lang="sv-SE" altLang="en-US" sz="2800" dirty="0" err="1"/>
              <a:t>berikut</a:t>
            </a:r>
            <a:r>
              <a:rPr lang="sv-SE" altLang="en-US" sz="2800" dirty="0"/>
              <a:t> :</a:t>
            </a:r>
          </a:p>
          <a:p>
            <a:pPr marL="457200" indent="-457200" eaLnBrk="1" hangingPunct="1">
              <a:lnSpc>
                <a:spcPct val="90000"/>
              </a:lnSpc>
              <a:buFont typeface="Arial" panose="020B0604020202020204" pitchFamily="34" charset="0"/>
              <a:buChar char="•"/>
            </a:pPr>
            <a:r>
              <a:rPr lang="sv-SE" altLang="en-US" sz="2800" dirty="0" err="1"/>
              <a:t>Percobaan</a:t>
            </a:r>
            <a:r>
              <a:rPr lang="sv-SE" altLang="en-US" sz="2800" dirty="0"/>
              <a:t> itu </a:t>
            </a:r>
            <a:r>
              <a:rPr lang="sv-SE" altLang="en-US" sz="2800" dirty="0" err="1"/>
              <a:t>terdiri</a:t>
            </a:r>
            <a:r>
              <a:rPr lang="sv-SE" altLang="en-US" sz="2800" dirty="0"/>
              <a:t> dari </a:t>
            </a:r>
            <a:r>
              <a:rPr lang="sv-SE" altLang="en-US" sz="2800" dirty="0">
                <a:solidFill>
                  <a:srgbClr val="FFC000"/>
                </a:solidFill>
              </a:rPr>
              <a:t>n </a:t>
            </a:r>
            <a:r>
              <a:rPr lang="sv-SE" altLang="en-US" sz="2800" dirty="0" err="1">
                <a:solidFill>
                  <a:srgbClr val="FFC000"/>
                </a:solidFill>
              </a:rPr>
              <a:t>pengulangan</a:t>
            </a:r>
            <a:endParaRPr lang="sv-SE" altLang="en-US" sz="2800" dirty="0">
              <a:solidFill>
                <a:srgbClr val="FFC000"/>
              </a:solidFill>
            </a:endParaRPr>
          </a:p>
          <a:p>
            <a:pPr marL="457200" indent="-457200" eaLnBrk="1" hangingPunct="1">
              <a:lnSpc>
                <a:spcPct val="90000"/>
              </a:lnSpc>
              <a:buFont typeface="Arial" panose="020B0604020202020204" pitchFamily="34" charset="0"/>
              <a:buChar char="•"/>
            </a:pPr>
            <a:r>
              <a:rPr lang="sv-SE" altLang="en-US" sz="2800" dirty="0" err="1"/>
              <a:t>Tiap</a:t>
            </a:r>
            <a:r>
              <a:rPr lang="sv-SE" altLang="en-US" sz="2800" dirty="0"/>
              <a:t> </a:t>
            </a:r>
            <a:r>
              <a:rPr lang="sv-SE" altLang="en-US" sz="2800" dirty="0" err="1"/>
              <a:t>pengulangan</a:t>
            </a:r>
            <a:r>
              <a:rPr lang="sv-SE" altLang="en-US" sz="2800" dirty="0"/>
              <a:t> </a:t>
            </a:r>
            <a:r>
              <a:rPr lang="sv-SE" altLang="en-US" sz="2800" dirty="0" err="1"/>
              <a:t>memberikan</a:t>
            </a:r>
            <a:r>
              <a:rPr lang="sv-SE" altLang="en-US" sz="2800" dirty="0"/>
              <a:t> </a:t>
            </a:r>
            <a:r>
              <a:rPr lang="sv-SE" altLang="en-US" sz="2800" dirty="0" err="1"/>
              <a:t>hasil</a:t>
            </a:r>
            <a:r>
              <a:rPr lang="sv-SE" altLang="en-US" sz="2800" dirty="0"/>
              <a:t> yang </a:t>
            </a:r>
            <a:r>
              <a:rPr lang="sv-SE" altLang="en-US" sz="2800" dirty="0" err="1"/>
              <a:t>dapat</a:t>
            </a:r>
            <a:r>
              <a:rPr lang="sv-SE" altLang="en-US" sz="2800" dirty="0"/>
              <a:t> </a:t>
            </a:r>
            <a:r>
              <a:rPr lang="sv-SE" altLang="en-US" sz="2800" dirty="0" err="1"/>
              <a:t>diidentifikasi</a:t>
            </a:r>
            <a:r>
              <a:rPr lang="sv-SE" altLang="en-US" sz="2800" dirty="0"/>
              <a:t> </a:t>
            </a:r>
            <a:r>
              <a:rPr lang="sv-SE" altLang="en-US" sz="2800" dirty="0" err="1">
                <a:solidFill>
                  <a:srgbClr val="FFC000"/>
                </a:solidFill>
              </a:rPr>
              <a:t>sukses</a:t>
            </a:r>
            <a:r>
              <a:rPr lang="sv-SE" altLang="en-US" sz="2800" dirty="0"/>
              <a:t> </a:t>
            </a:r>
            <a:r>
              <a:rPr lang="sv-SE" altLang="en-US" sz="2800" dirty="0" err="1"/>
              <a:t>atau</a:t>
            </a:r>
            <a:r>
              <a:rPr lang="sv-SE" altLang="en-US" sz="2800" dirty="0"/>
              <a:t> </a:t>
            </a:r>
            <a:r>
              <a:rPr lang="sv-SE" altLang="en-US" sz="2800" dirty="0" err="1">
                <a:solidFill>
                  <a:srgbClr val="FFC000"/>
                </a:solidFill>
              </a:rPr>
              <a:t>gagal</a:t>
            </a:r>
            <a:endParaRPr lang="sv-SE" altLang="en-US" sz="2800" dirty="0">
              <a:solidFill>
                <a:srgbClr val="FFC000"/>
              </a:solidFill>
            </a:endParaRPr>
          </a:p>
          <a:p>
            <a:pPr marL="457200" indent="-457200" eaLnBrk="1" hangingPunct="1">
              <a:lnSpc>
                <a:spcPct val="90000"/>
              </a:lnSpc>
              <a:buFont typeface="Arial" panose="020B0604020202020204" pitchFamily="34" charset="0"/>
              <a:buChar char="•"/>
            </a:pPr>
            <a:r>
              <a:rPr lang="sv-SE" altLang="en-US" sz="2800" dirty="0" err="1"/>
              <a:t>Probabilitas</a:t>
            </a:r>
            <a:r>
              <a:rPr lang="sv-SE" altLang="en-US" sz="2800" dirty="0"/>
              <a:t> </a:t>
            </a:r>
            <a:r>
              <a:rPr lang="sv-SE" altLang="en-US" sz="2800" dirty="0" err="1"/>
              <a:t>sukses</a:t>
            </a:r>
            <a:r>
              <a:rPr lang="sv-SE" altLang="en-US" sz="2800" dirty="0"/>
              <a:t> </a:t>
            </a:r>
            <a:r>
              <a:rPr lang="sv-SE" altLang="en-US" sz="2800" dirty="0" err="1"/>
              <a:t>dinyatakan</a:t>
            </a:r>
            <a:r>
              <a:rPr lang="sv-SE" altLang="en-US" sz="2800" dirty="0"/>
              <a:t> </a:t>
            </a:r>
            <a:r>
              <a:rPr lang="sv-SE" altLang="en-US" sz="2800" dirty="0" err="1"/>
              <a:t>dengan</a:t>
            </a:r>
            <a:r>
              <a:rPr lang="sv-SE" altLang="en-US" sz="2800" dirty="0"/>
              <a:t> </a:t>
            </a:r>
            <a:r>
              <a:rPr lang="sv-SE" altLang="en-US" sz="2800" dirty="0">
                <a:solidFill>
                  <a:srgbClr val="FFC000"/>
                </a:solidFill>
              </a:rPr>
              <a:t>p</a:t>
            </a:r>
            <a:r>
              <a:rPr lang="sv-SE" altLang="en-US" sz="2800" dirty="0"/>
              <a:t>, </a:t>
            </a:r>
            <a:r>
              <a:rPr lang="sv-SE" altLang="en-US" sz="2800" dirty="0" err="1"/>
              <a:t>tetap</a:t>
            </a:r>
            <a:r>
              <a:rPr lang="sv-SE" altLang="en-US" sz="2800" dirty="0"/>
              <a:t> </a:t>
            </a:r>
            <a:r>
              <a:rPr lang="sv-SE" altLang="en-US" sz="2800" dirty="0" err="1"/>
              <a:t>konstan</a:t>
            </a:r>
            <a:r>
              <a:rPr lang="sv-SE" altLang="en-US" sz="2800" dirty="0"/>
              <a:t> (</a:t>
            </a:r>
            <a:r>
              <a:rPr lang="sv-SE" altLang="en-US" sz="2800" dirty="0" err="1"/>
              <a:t>tidak</a:t>
            </a:r>
            <a:r>
              <a:rPr lang="sv-SE" altLang="en-US" sz="2800" dirty="0"/>
              <a:t> </a:t>
            </a:r>
            <a:r>
              <a:rPr lang="sv-SE" altLang="en-US" sz="2800" dirty="0" err="1"/>
              <a:t>berubah</a:t>
            </a:r>
            <a:r>
              <a:rPr lang="sv-SE" altLang="en-US" sz="2800" dirty="0"/>
              <a:t>) dari </a:t>
            </a:r>
            <a:r>
              <a:rPr lang="sv-SE" altLang="en-US" sz="2800" dirty="0" err="1"/>
              <a:t>satu</a:t>
            </a:r>
            <a:r>
              <a:rPr lang="sv-SE" altLang="en-US" sz="2800" dirty="0"/>
              <a:t> </a:t>
            </a:r>
            <a:r>
              <a:rPr lang="sv-SE" altLang="en-US" sz="2800" dirty="0" err="1"/>
              <a:t>pengulangan</a:t>
            </a:r>
            <a:r>
              <a:rPr lang="sv-SE" altLang="en-US" sz="2800" dirty="0"/>
              <a:t> </a:t>
            </a:r>
            <a:r>
              <a:rPr lang="sv-SE" altLang="en-US" sz="2800" dirty="0" err="1"/>
              <a:t>ke</a:t>
            </a:r>
            <a:r>
              <a:rPr lang="sv-SE" altLang="en-US" sz="2800" dirty="0"/>
              <a:t> </a:t>
            </a:r>
            <a:r>
              <a:rPr lang="sv-SE" altLang="en-US" sz="2800" dirty="0" err="1"/>
              <a:t>pengulangan</a:t>
            </a:r>
            <a:r>
              <a:rPr lang="sv-SE" altLang="en-US" sz="2800" dirty="0"/>
              <a:t> </a:t>
            </a:r>
            <a:r>
              <a:rPr lang="sv-SE" altLang="en-US" sz="2800" dirty="0" err="1"/>
              <a:t>lainnya</a:t>
            </a:r>
            <a:r>
              <a:rPr lang="sv-SE" altLang="en-US" sz="2800" dirty="0"/>
              <a:t>, </a:t>
            </a:r>
            <a:r>
              <a:rPr lang="sv-SE" altLang="en-US" sz="2800" dirty="0" err="1"/>
              <a:t>sedangkan</a:t>
            </a:r>
            <a:r>
              <a:rPr lang="sv-SE" altLang="en-US" sz="2800" dirty="0"/>
              <a:t> </a:t>
            </a:r>
            <a:r>
              <a:rPr lang="sv-SE" altLang="en-US" sz="2800" dirty="0" err="1"/>
              <a:t>probabilitas</a:t>
            </a:r>
            <a:r>
              <a:rPr lang="sv-SE" altLang="en-US" sz="2800" dirty="0"/>
              <a:t> </a:t>
            </a:r>
            <a:r>
              <a:rPr lang="sv-SE" altLang="en-US" sz="2800" dirty="0" err="1"/>
              <a:t>gagal</a:t>
            </a:r>
            <a:r>
              <a:rPr lang="sv-SE" altLang="en-US" sz="2800" dirty="0"/>
              <a:t> </a:t>
            </a:r>
            <a:r>
              <a:rPr lang="sv-SE" altLang="en-US" sz="2800" dirty="0" err="1"/>
              <a:t>adalah</a:t>
            </a:r>
            <a:r>
              <a:rPr lang="sv-SE" altLang="en-US" sz="2800" dirty="0"/>
              <a:t> </a:t>
            </a:r>
            <a:r>
              <a:rPr lang="sv-SE" altLang="en-US" sz="2800" dirty="0">
                <a:solidFill>
                  <a:srgbClr val="FFC000"/>
                </a:solidFill>
              </a:rPr>
              <a:t>q = 1- p</a:t>
            </a:r>
          </a:p>
          <a:p>
            <a:pPr marL="457200" indent="-457200" eaLnBrk="1" hangingPunct="1">
              <a:lnSpc>
                <a:spcPct val="90000"/>
              </a:lnSpc>
              <a:buFont typeface="Arial" panose="020B0604020202020204" pitchFamily="34" charset="0"/>
              <a:buChar char="•"/>
            </a:pPr>
            <a:r>
              <a:rPr lang="sv-SE" altLang="en-US" sz="2800" dirty="0" err="1"/>
              <a:t>Tiap</a:t>
            </a:r>
            <a:r>
              <a:rPr lang="sv-SE" altLang="en-US" sz="2800" dirty="0"/>
              <a:t> </a:t>
            </a:r>
            <a:r>
              <a:rPr lang="sv-SE" altLang="en-US" sz="2800" dirty="0" err="1"/>
              <a:t>pengulangan</a:t>
            </a:r>
            <a:r>
              <a:rPr lang="sv-SE" altLang="en-US" sz="2800" dirty="0"/>
              <a:t> dan </a:t>
            </a:r>
            <a:r>
              <a:rPr lang="sv-SE" altLang="en-US" sz="2800" dirty="0" err="1"/>
              <a:t>pengulangan</a:t>
            </a:r>
            <a:r>
              <a:rPr lang="sv-SE" altLang="en-US" sz="2800" dirty="0"/>
              <a:t> </a:t>
            </a:r>
            <a:r>
              <a:rPr lang="sv-SE" altLang="en-US" sz="2800" dirty="0" err="1"/>
              <a:t>lainnya</a:t>
            </a:r>
            <a:r>
              <a:rPr lang="sv-SE" altLang="en-US" sz="2800" dirty="0"/>
              <a:t> </a:t>
            </a:r>
            <a:r>
              <a:rPr lang="sv-SE" altLang="en-US" sz="2800" dirty="0" err="1">
                <a:solidFill>
                  <a:srgbClr val="FFC000"/>
                </a:solidFill>
              </a:rPr>
              <a:t>saling</a:t>
            </a:r>
            <a:r>
              <a:rPr lang="sv-SE" altLang="en-US" sz="2800" dirty="0">
                <a:solidFill>
                  <a:srgbClr val="FFC000"/>
                </a:solidFill>
              </a:rPr>
              <a:t> </a:t>
            </a:r>
            <a:r>
              <a:rPr lang="sv-SE" altLang="en-US" sz="2800" dirty="0" err="1">
                <a:solidFill>
                  <a:srgbClr val="FFC000"/>
                </a:solidFill>
              </a:rPr>
              <a:t>bebas</a:t>
            </a:r>
            <a:r>
              <a:rPr lang="sv-SE" altLang="en-US" sz="2800" dirty="0"/>
              <a:t>.</a:t>
            </a:r>
            <a:endParaRPr lang="id-ID" altLang="en-US" sz="2800" dirty="0"/>
          </a:p>
        </p:txBody>
      </p:sp>
    </p:spTree>
    <p:extLst>
      <p:ext uri="{BB962C8B-B14F-4D97-AF65-F5344CB8AC3E}">
        <p14:creationId xmlns:p14="http://schemas.microsoft.com/office/powerpoint/2010/main" val="3372613676"/>
      </p:ext>
    </p:extLst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4">
            <a:extLst>
              <a:ext uri="{FF2B5EF4-FFF2-40B4-BE49-F238E27FC236}">
                <a16:creationId xmlns:a16="http://schemas.microsoft.com/office/drawing/2014/main" id="{E383279D-DEFA-DA4F-BCCA-7263F4D903C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12342" y="307829"/>
            <a:ext cx="7118984" cy="615553"/>
          </a:xfrm>
        </p:spPr>
        <p:txBody>
          <a:bodyPr/>
          <a:lstStyle/>
          <a:p>
            <a:pPr eaLnBrk="1" fontAlgn="auto" hangingPunct="1">
              <a:spcAft>
                <a:spcPts val="0"/>
              </a:spcAft>
              <a:defRPr/>
            </a:pPr>
            <a:r>
              <a:rPr lang="en-US" sz="4000" b="1" dirty="0" err="1">
                <a:solidFill>
                  <a:schemeClr val="tx2">
                    <a:satMod val="130000"/>
                  </a:schemeClr>
                </a:solidFill>
              </a:rPr>
              <a:t>Distribusi</a:t>
            </a:r>
            <a:r>
              <a:rPr lang="en-US" sz="4000" b="1" dirty="0">
                <a:solidFill>
                  <a:schemeClr val="tx2">
                    <a:satMod val="130000"/>
                  </a:schemeClr>
                </a:solidFill>
              </a:rPr>
              <a:t> Binomial</a:t>
            </a:r>
          </a:p>
        </p:txBody>
      </p:sp>
      <p:sp>
        <p:nvSpPr>
          <p:cNvPr id="20483" name="Rectangle 3">
            <a:extLst>
              <a:ext uri="{FF2B5EF4-FFF2-40B4-BE49-F238E27FC236}">
                <a16:creationId xmlns:a16="http://schemas.microsoft.com/office/drawing/2014/main" id="{B3975ACB-EA15-B448-91E6-06D572F1FD11}"/>
              </a:ext>
            </a:extLst>
          </p:cNvPr>
          <p:cNvSpPr>
            <a:spLocks noGrp="1" noChangeArrowheads="1"/>
          </p:cNvSpPr>
          <p:nvPr>
            <p:ph idx="1"/>
          </p:nvPr>
        </p:nvSpPr>
        <p:spPr>
          <a:xfrm>
            <a:off x="1012342" y="930447"/>
            <a:ext cx="7118983" cy="2585323"/>
          </a:xfrm>
        </p:spPr>
        <p:txBody>
          <a:bodyPr/>
          <a:lstStyle/>
          <a:p>
            <a:pPr marL="457200" indent="-457200" eaLnBrk="1" hangingPunct="1">
              <a:buFont typeface="Arial" panose="020B0604020202020204" pitchFamily="34" charset="0"/>
              <a:buChar char="•"/>
            </a:pPr>
            <a:r>
              <a:rPr lang="en-US" altLang="en-US" sz="2800" dirty="0" err="1"/>
              <a:t>Banyaknya</a:t>
            </a:r>
            <a:r>
              <a:rPr lang="en-US" altLang="en-US" sz="2800" dirty="0"/>
              <a:t> X </a:t>
            </a:r>
            <a:r>
              <a:rPr lang="en-US" altLang="en-US" sz="2800" dirty="0" err="1"/>
              <a:t>sukses</a:t>
            </a:r>
            <a:r>
              <a:rPr lang="en-US" altLang="en-US" sz="2800" dirty="0"/>
              <a:t> </a:t>
            </a:r>
            <a:r>
              <a:rPr lang="en-US" altLang="en-US" sz="2800" dirty="0" err="1"/>
              <a:t>dalam</a:t>
            </a:r>
            <a:r>
              <a:rPr lang="en-US" altLang="en-US" sz="2800" dirty="0"/>
              <a:t> n </a:t>
            </a:r>
            <a:r>
              <a:rPr lang="en-US" altLang="en-US" sz="2800" dirty="0" err="1"/>
              <a:t>pengulangan</a:t>
            </a:r>
            <a:r>
              <a:rPr lang="en-US" altLang="en-US" sz="2800" dirty="0"/>
              <a:t> </a:t>
            </a:r>
            <a:r>
              <a:rPr lang="en-US" altLang="en-US" sz="2800" dirty="0" err="1"/>
              <a:t>suatu</a:t>
            </a:r>
            <a:r>
              <a:rPr lang="en-US" altLang="en-US" sz="2800" dirty="0"/>
              <a:t> </a:t>
            </a:r>
            <a:r>
              <a:rPr lang="en-US" altLang="en-US" sz="2800" dirty="0" err="1"/>
              <a:t>percobaan</a:t>
            </a:r>
            <a:r>
              <a:rPr lang="en-US" altLang="en-US" sz="2800" dirty="0"/>
              <a:t> </a:t>
            </a:r>
            <a:r>
              <a:rPr lang="en-US" altLang="en-US" sz="2800" dirty="0" err="1"/>
              <a:t>bernoulli</a:t>
            </a:r>
            <a:r>
              <a:rPr lang="en-US" altLang="en-US" sz="2800" dirty="0"/>
              <a:t> </a:t>
            </a:r>
            <a:r>
              <a:rPr lang="en-US" altLang="en-US" sz="2800" dirty="0" err="1"/>
              <a:t>disebut</a:t>
            </a:r>
            <a:r>
              <a:rPr lang="en-US" altLang="en-US" sz="2800" dirty="0"/>
              <a:t> </a:t>
            </a:r>
            <a:r>
              <a:rPr lang="en-US" altLang="en-US" sz="2800" dirty="0" err="1"/>
              <a:t>sebagai</a:t>
            </a:r>
            <a:r>
              <a:rPr lang="en-US" altLang="en-US" sz="2800" dirty="0"/>
              <a:t> </a:t>
            </a:r>
            <a:r>
              <a:rPr lang="en-US" altLang="en-US" sz="2800" b="1" dirty="0" err="1">
                <a:solidFill>
                  <a:schemeClr val="hlink"/>
                </a:solidFill>
              </a:rPr>
              <a:t>variabel</a:t>
            </a:r>
            <a:r>
              <a:rPr lang="en-US" altLang="en-US" sz="2800" b="1" dirty="0">
                <a:solidFill>
                  <a:schemeClr val="hlink"/>
                </a:solidFill>
              </a:rPr>
              <a:t> random Binomial</a:t>
            </a:r>
            <a:r>
              <a:rPr lang="en-US" altLang="en-US" sz="2800" dirty="0"/>
              <a:t>, </a:t>
            </a:r>
            <a:r>
              <a:rPr lang="en-US" altLang="en-US" sz="2800" dirty="0" err="1"/>
              <a:t>sedangkan</a:t>
            </a:r>
            <a:r>
              <a:rPr lang="en-US" altLang="en-US" sz="2800" dirty="0"/>
              <a:t> </a:t>
            </a:r>
            <a:r>
              <a:rPr lang="en-US" altLang="en-US" sz="2800" dirty="0" err="1"/>
              <a:t>distribusi</a:t>
            </a:r>
            <a:r>
              <a:rPr lang="en-US" altLang="en-US" sz="2800" dirty="0"/>
              <a:t> </a:t>
            </a:r>
            <a:r>
              <a:rPr lang="en-US" altLang="en-US" sz="2800" dirty="0" err="1"/>
              <a:t>probabilitasnya</a:t>
            </a:r>
            <a:r>
              <a:rPr lang="en-US" altLang="en-US" sz="2800" dirty="0"/>
              <a:t> </a:t>
            </a:r>
            <a:r>
              <a:rPr lang="en-US" altLang="en-US" sz="2800" dirty="0" err="1"/>
              <a:t>disebut</a:t>
            </a:r>
            <a:r>
              <a:rPr lang="en-US" altLang="en-US" sz="2800" dirty="0"/>
              <a:t> </a:t>
            </a:r>
            <a:r>
              <a:rPr lang="en-US" altLang="en-US" sz="2800" b="1" dirty="0" err="1">
                <a:solidFill>
                  <a:schemeClr val="hlink"/>
                </a:solidFill>
              </a:rPr>
              <a:t>distribusi</a:t>
            </a:r>
            <a:r>
              <a:rPr lang="en-US" altLang="en-US" sz="2800" b="1" dirty="0">
                <a:solidFill>
                  <a:schemeClr val="hlink"/>
                </a:solidFill>
              </a:rPr>
              <a:t> Binomial</a:t>
            </a:r>
            <a:r>
              <a:rPr lang="en-US" altLang="en-US" sz="2800" dirty="0"/>
              <a:t> </a:t>
            </a:r>
            <a:r>
              <a:rPr lang="en-US" altLang="en-US" sz="2800" dirty="0" err="1"/>
              <a:t>dan</a:t>
            </a:r>
            <a:r>
              <a:rPr lang="en-US" altLang="en-US" sz="2800" dirty="0"/>
              <a:t> </a:t>
            </a:r>
            <a:r>
              <a:rPr lang="en-US" altLang="en-US" sz="2800" dirty="0" err="1"/>
              <a:t>nilainya</a:t>
            </a:r>
            <a:r>
              <a:rPr lang="en-US" altLang="en-US" sz="2800" dirty="0"/>
              <a:t> </a:t>
            </a:r>
            <a:r>
              <a:rPr lang="en-US" altLang="en-US" sz="2800" dirty="0" err="1"/>
              <a:t>dinyatakan</a:t>
            </a:r>
            <a:r>
              <a:rPr lang="en-US" altLang="en-US" sz="2800" dirty="0"/>
              <a:t> </a:t>
            </a:r>
            <a:r>
              <a:rPr lang="en-US" altLang="en-US" sz="2800" dirty="0" err="1"/>
              <a:t>sebagai</a:t>
            </a:r>
            <a:r>
              <a:rPr lang="en-US" altLang="en-US" sz="2800" dirty="0"/>
              <a:t> :</a:t>
            </a:r>
          </a:p>
          <a:p>
            <a:pPr eaLnBrk="1" hangingPunct="1">
              <a:buFontTx/>
              <a:buNone/>
            </a:pPr>
            <a:r>
              <a:rPr lang="en-US" altLang="en-US" sz="2800" dirty="0"/>
              <a:t>   </a:t>
            </a:r>
            <a:r>
              <a:rPr lang="en-US" altLang="en-US" sz="2800" b="1" dirty="0">
                <a:solidFill>
                  <a:schemeClr val="hlink"/>
                </a:solidFill>
              </a:rPr>
              <a:t>b(</a:t>
            </a:r>
            <a:r>
              <a:rPr lang="en-US" altLang="en-US" sz="2800" b="1" dirty="0" err="1">
                <a:solidFill>
                  <a:schemeClr val="hlink"/>
                </a:solidFill>
              </a:rPr>
              <a:t>x,n,p</a:t>
            </a:r>
            <a:r>
              <a:rPr lang="en-US" altLang="en-US" sz="2800" b="1" dirty="0">
                <a:solidFill>
                  <a:schemeClr val="hlink"/>
                </a:solidFill>
              </a:rPr>
              <a:t>)</a:t>
            </a:r>
            <a:r>
              <a:rPr lang="en-US" altLang="en-US" sz="2800" b="1" dirty="0"/>
              <a:t> </a:t>
            </a:r>
            <a:r>
              <a:rPr lang="en-US" altLang="en-US" sz="2800" dirty="0" err="1"/>
              <a:t>dimana</a:t>
            </a:r>
            <a:r>
              <a:rPr lang="en-US" altLang="en-US" sz="2800" dirty="0"/>
              <a:t> x = 1, 2, …, n</a:t>
            </a:r>
            <a:endParaRPr lang="id-ID" altLang="en-US" sz="2800" dirty="0"/>
          </a:p>
        </p:txBody>
      </p:sp>
      <p:sp>
        <p:nvSpPr>
          <p:cNvPr id="20484" name="Rectangle 5">
            <a:extLst>
              <a:ext uri="{FF2B5EF4-FFF2-40B4-BE49-F238E27FC236}">
                <a16:creationId xmlns:a16="http://schemas.microsoft.com/office/drawing/2014/main" id="{F545D68A-F96E-5A49-8674-5249C8E54220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3162300"/>
            <a:ext cx="9144000" cy="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endParaRPr lang="en-US" altLang="en-US"/>
          </a:p>
        </p:txBody>
      </p:sp>
      <p:pic>
        <p:nvPicPr>
          <p:cNvPr id="20485" name="Picture 6">
            <a:extLst>
              <a:ext uri="{FF2B5EF4-FFF2-40B4-BE49-F238E27FC236}">
                <a16:creationId xmlns:a16="http://schemas.microsoft.com/office/drawing/2014/main" id="{C751F7E6-A6B3-8147-8B4C-995E150FAB07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2915" t="58385" r="29710" b="14720"/>
          <a:stretch>
            <a:fillRect/>
          </a:stretch>
        </p:blipFill>
        <p:spPr bwMode="auto">
          <a:xfrm>
            <a:off x="685800" y="3810000"/>
            <a:ext cx="8172450" cy="23495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166283498"/>
      </p:ext>
    </p:extLst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1506" name="Picture 2">
            <a:extLst>
              <a:ext uri="{FF2B5EF4-FFF2-40B4-BE49-F238E27FC236}">
                <a16:creationId xmlns:a16="http://schemas.microsoft.com/office/drawing/2014/main" id="{5C779F40-86E7-FA4F-A693-55E28B1786EA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2914" t="19760" r="30238" b="50000"/>
          <a:stretch>
            <a:fillRect/>
          </a:stretch>
        </p:blipFill>
        <p:spPr bwMode="auto">
          <a:xfrm>
            <a:off x="0" y="1341438"/>
            <a:ext cx="9113838" cy="46085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5" name="Rounded Rectangle 4">
            <a:extLst>
              <a:ext uri="{FF2B5EF4-FFF2-40B4-BE49-F238E27FC236}">
                <a16:creationId xmlns:a16="http://schemas.microsoft.com/office/drawing/2014/main" id="{E1A319AA-954B-8E41-8793-E714AF642B6A}"/>
              </a:ext>
            </a:extLst>
          </p:cNvPr>
          <p:cNvSpPr/>
          <p:nvPr/>
        </p:nvSpPr>
        <p:spPr>
          <a:xfrm>
            <a:off x="468313" y="620713"/>
            <a:ext cx="2663825" cy="504825"/>
          </a:xfrm>
          <a:prstGeom prst="roundRect">
            <a:avLst/>
          </a:prstGeom>
          <a:solidFill>
            <a:srgbClr val="00B05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r>
              <a:rPr lang="id-ID" sz="2400" b="1" dirty="0">
                <a:solidFill>
                  <a:schemeClr val="tx1"/>
                </a:solidFill>
              </a:rPr>
              <a:t>CONTOH :</a:t>
            </a:r>
          </a:p>
        </p:txBody>
      </p:sp>
    </p:spTree>
    <p:extLst>
      <p:ext uri="{BB962C8B-B14F-4D97-AF65-F5344CB8AC3E}">
        <p14:creationId xmlns:p14="http://schemas.microsoft.com/office/powerpoint/2010/main" val="3423898399"/>
      </p:ext>
    </p:extLst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ounded Rectangle 4">
            <a:extLst>
              <a:ext uri="{FF2B5EF4-FFF2-40B4-BE49-F238E27FC236}">
                <a16:creationId xmlns:a16="http://schemas.microsoft.com/office/drawing/2014/main" id="{35E8CD53-B0BA-C94C-8985-7E97FC39AE7E}"/>
              </a:ext>
            </a:extLst>
          </p:cNvPr>
          <p:cNvSpPr/>
          <p:nvPr/>
        </p:nvSpPr>
        <p:spPr>
          <a:xfrm>
            <a:off x="468313" y="620713"/>
            <a:ext cx="2663825" cy="504825"/>
          </a:xfrm>
          <a:prstGeom prst="roundRect">
            <a:avLst/>
          </a:prstGeom>
          <a:solidFill>
            <a:srgbClr val="00B05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r>
              <a:rPr lang="id-ID" b="1" dirty="0">
                <a:solidFill>
                  <a:schemeClr val="tx1"/>
                </a:solidFill>
              </a:rPr>
              <a:t>TABEL :</a:t>
            </a:r>
          </a:p>
        </p:txBody>
      </p:sp>
      <p:pic>
        <p:nvPicPr>
          <p:cNvPr id="22531" name="Picture 3">
            <a:extLst>
              <a:ext uri="{FF2B5EF4-FFF2-40B4-BE49-F238E27FC236}">
                <a16:creationId xmlns:a16="http://schemas.microsoft.com/office/drawing/2014/main" id="{3133E0A7-383C-B54C-B919-FA92F1E5BE69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2915" t="37399" r="32452" b="7161"/>
          <a:stretch>
            <a:fillRect/>
          </a:stretch>
        </p:blipFill>
        <p:spPr bwMode="auto">
          <a:xfrm>
            <a:off x="539750" y="1268413"/>
            <a:ext cx="8280400" cy="49244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1575567965"/>
      </p:ext>
    </p:extLst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3554" name="Picture 2">
            <a:extLst>
              <a:ext uri="{FF2B5EF4-FFF2-40B4-BE49-F238E27FC236}">
                <a16:creationId xmlns:a16="http://schemas.microsoft.com/office/drawing/2014/main" id="{9799BD97-5A3D-194A-9414-35BB4C6BC707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3654" t="50398" r="30977" b="28181"/>
          <a:stretch>
            <a:fillRect/>
          </a:stretch>
        </p:blipFill>
        <p:spPr bwMode="auto">
          <a:xfrm>
            <a:off x="468313" y="333375"/>
            <a:ext cx="8577262" cy="2159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23555" name="Picture 3">
            <a:extLst>
              <a:ext uri="{FF2B5EF4-FFF2-40B4-BE49-F238E27FC236}">
                <a16:creationId xmlns:a16="http://schemas.microsoft.com/office/drawing/2014/main" id="{F8910C89-9043-7648-85F3-826BD0039428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3086" t="44960" r="41879" b="19760"/>
          <a:stretch>
            <a:fillRect/>
          </a:stretch>
        </p:blipFill>
        <p:spPr bwMode="auto">
          <a:xfrm>
            <a:off x="468313" y="2492375"/>
            <a:ext cx="8064500" cy="37020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2642497066"/>
      </p:ext>
    </p:extLst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2" name="Rectangle 2">
            <a:extLst>
              <a:ext uri="{FF2B5EF4-FFF2-40B4-BE49-F238E27FC236}">
                <a16:creationId xmlns:a16="http://schemas.microsoft.com/office/drawing/2014/main" id="{73293D54-E268-F14C-BBE4-F51B5E53097E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pPr eaLnBrk="1" fontAlgn="auto" hangingPunct="1">
              <a:spcAft>
                <a:spcPts val="0"/>
              </a:spcAft>
              <a:defRPr/>
            </a:pPr>
            <a:r>
              <a:rPr lang="en-US" dirty="0">
                <a:solidFill>
                  <a:schemeClr val="tx2">
                    <a:satMod val="130000"/>
                  </a:schemeClr>
                </a:solidFill>
              </a:rPr>
              <a:t>Rata-rata </a:t>
            </a:r>
            <a:r>
              <a:rPr lang="en-US" dirty="0" err="1">
                <a:solidFill>
                  <a:schemeClr val="tx2">
                    <a:satMod val="130000"/>
                  </a:schemeClr>
                </a:solidFill>
              </a:rPr>
              <a:t>dan</a:t>
            </a:r>
            <a:r>
              <a:rPr lang="en-US" dirty="0">
                <a:solidFill>
                  <a:schemeClr val="tx2">
                    <a:satMod val="130000"/>
                  </a:schemeClr>
                </a:solidFill>
              </a:rPr>
              <a:t> </a:t>
            </a:r>
            <a:r>
              <a:rPr lang="en-US" dirty="0" err="1">
                <a:solidFill>
                  <a:schemeClr val="tx2">
                    <a:satMod val="130000"/>
                  </a:schemeClr>
                </a:solidFill>
              </a:rPr>
              <a:t>Variansi</a:t>
            </a:r>
            <a:r>
              <a:rPr lang="en-US" dirty="0">
                <a:solidFill>
                  <a:schemeClr val="tx2">
                    <a:satMod val="130000"/>
                  </a:schemeClr>
                </a:solidFill>
              </a:rPr>
              <a:t> </a:t>
            </a:r>
            <a:r>
              <a:rPr lang="en-US" dirty="0" err="1">
                <a:solidFill>
                  <a:schemeClr val="tx2">
                    <a:satMod val="130000"/>
                  </a:schemeClr>
                </a:solidFill>
              </a:rPr>
              <a:t>Distribusi</a:t>
            </a:r>
            <a:r>
              <a:rPr lang="en-US" dirty="0">
                <a:solidFill>
                  <a:schemeClr val="tx2">
                    <a:satMod val="130000"/>
                  </a:schemeClr>
                </a:solidFill>
              </a:rPr>
              <a:t> Binomial :</a:t>
            </a:r>
            <a:endParaRPr lang="id-ID" dirty="0">
              <a:solidFill>
                <a:schemeClr val="tx2">
                  <a:satMod val="130000"/>
                </a:schemeClr>
              </a:solidFill>
            </a:endParaRPr>
          </a:p>
        </p:txBody>
      </p:sp>
      <p:sp>
        <p:nvSpPr>
          <p:cNvPr id="1029" name="Content Placeholder 8">
            <a:extLst>
              <a:ext uri="{FF2B5EF4-FFF2-40B4-BE49-F238E27FC236}">
                <a16:creationId xmlns:a16="http://schemas.microsoft.com/office/drawing/2014/main" id="{275EF4C1-BA81-4B4D-9B67-220769D9FFD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428750" y="1643063"/>
            <a:ext cx="7497763" cy="4800600"/>
          </a:xfrm>
        </p:spPr>
        <p:txBody>
          <a:bodyPr/>
          <a:lstStyle/>
          <a:p>
            <a:pPr eaLnBrk="1" hangingPunct="1"/>
            <a:r>
              <a:rPr lang="en-US" altLang="en-US"/>
              <a:t>Rata-rata =</a:t>
            </a:r>
          </a:p>
          <a:p>
            <a:pPr eaLnBrk="1" hangingPunct="1">
              <a:buFont typeface="Wingdings 2" pitchFamily="2" charset="2"/>
              <a:buNone/>
            </a:pPr>
            <a:endParaRPr lang="en-US" altLang="en-US"/>
          </a:p>
          <a:p>
            <a:pPr eaLnBrk="1" hangingPunct="1"/>
            <a:r>
              <a:rPr lang="en-US" altLang="en-US"/>
              <a:t>Variansi  = </a:t>
            </a:r>
          </a:p>
        </p:txBody>
      </p:sp>
      <p:sp>
        <p:nvSpPr>
          <p:cNvPr id="1030" name="Rectangle 5">
            <a:extLst>
              <a:ext uri="{FF2B5EF4-FFF2-40B4-BE49-F238E27FC236}">
                <a16:creationId xmlns:a16="http://schemas.microsoft.com/office/drawing/2014/main" id="{CBDF9B44-78E4-9443-A948-3F859765DDA8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3348038"/>
            <a:ext cx="9144000" cy="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endParaRPr lang="en-US" altLang="en-US"/>
          </a:p>
        </p:txBody>
      </p:sp>
      <p:graphicFrame>
        <p:nvGraphicFramePr>
          <p:cNvPr id="1026" name="Object 0" descr="Parchment">
            <a:extLst>
              <a:ext uri="{FF2B5EF4-FFF2-40B4-BE49-F238E27FC236}">
                <a16:creationId xmlns:a16="http://schemas.microsoft.com/office/drawing/2014/main" id="{AC81A8F7-9CF8-B246-A0D5-7DB44F021000}"/>
              </a:ext>
            </a:extLst>
          </p:cNvPr>
          <p:cNvGraphicFramePr>
            <a:graphicFrameLocks noChangeAspect="1"/>
          </p:cNvGraphicFramePr>
          <p:nvPr/>
        </p:nvGraphicFramePr>
        <p:xfrm>
          <a:off x="3857625" y="1714500"/>
          <a:ext cx="2214563" cy="64293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1265" name="Equation" r:id="rId3" imgW="10528300" imgH="3797300" progId="Equation.3">
                  <p:embed/>
                </p:oleObj>
              </mc:Choice>
              <mc:Fallback>
                <p:oleObj name="Equation" r:id="rId3" imgW="10528300" imgH="3797300" progId="Equation.3">
                  <p:embed/>
                  <p:pic>
                    <p:nvPicPr>
                      <p:cNvPr id="1026" name="Object 0" descr="Parchment">
                        <a:extLst>
                          <a:ext uri="{FF2B5EF4-FFF2-40B4-BE49-F238E27FC236}">
                            <a16:creationId xmlns:a16="http://schemas.microsoft.com/office/drawing/2014/main" id="{AC81A8F7-9CF8-B246-A0D5-7DB44F021000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857625" y="1714500"/>
                        <a:ext cx="2214563" cy="642938"/>
                      </a:xfrm>
                      <a:prstGeom prst="rect">
                        <a:avLst/>
                      </a:prstGeom>
                      <a:blipFill dpi="0" rotWithShape="0">
                        <a:blip r:embed="rId5"/>
                        <a:srcRect/>
                        <a:tile tx="0" ty="0" sx="100000" sy="100000" flip="none" algn="tl"/>
                      </a:blipFill>
                    </p:spPr>
                  </p:pic>
                </p:oleObj>
              </mc:Fallback>
            </mc:AlternateContent>
          </a:graphicData>
        </a:graphic>
      </p:graphicFrame>
      <p:sp>
        <p:nvSpPr>
          <p:cNvPr id="1031" name="Rectangle 7">
            <a:extLst>
              <a:ext uri="{FF2B5EF4-FFF2-40B4-BE49-F238E27FC236}">
                <a16:creationId xmlns:a16="http://schemas.microsoft.com/office/drawing/2014/main" id="{B0419248-5146-884D-BEC8-3BC56099FD32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3295650"/>
            <a:ext cx="9144000" cy="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endParaRPr lang="en-US" altLang="en-US"/>
          </a:p>
        </p:txBody>
      </p:sp>
      <p:graphicFrame>
        <p:nvGraphicFramePr>
          <p:cNvPr id="1027" name="Object 1" descr="Parchment">
            <a:extLst>
              <a:ext uri="{FF2B5EF4-FFF2-40B4-BE49-F238E27FC236}">
                <a16:creationId xmlns:a16="http://schemas.microsoft.com/office/drawing/2014/main" id="{D42425E1-9001-3A40-934D-5281E419A9E1}"/>
              </a:ext>
            </a:extLst>
          </p:cNvPr>
          <p:cNvGraphicFramePr>
            <a:graphicFrameLocks noChangeAspect="1"/>
          </p:cNvGraphicFramePr>
          <p:nvPr/>
        </p:nvGraphicFramePr>
        <p:xfrm>
          <a:off x="3708400" y="2565400"/>
          <a:ext cx="2286000" cy="86042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1266" name="Equation" r:id="rId6" imgW="14630400" imgH="6146800" progId="Equation.3">
                  <p:embed/>
                </p:oleObj>
              </mc:Choice>
              <mc:Fallback>
                <p:oleObj name="Equation" r:id="rId6" imgW="14630400" imgH="6146800" progId="Equation.3">
                  <p:embed/>
                  <p:pic>
                    <p:nvPicPr>
                      <p:cNvPr id="1027" name="Object 1" descr="Parchment">
                        <a:extLst>
                          <a:ext uri="{FF2B5EF4-FFF2-40B4-BE49-F238E27FC236}">
                            <a16:creationId xmlns:a16="http://schemas.microsoft.com/office/drawing/2014/main" id="{D42425E1-9001-3A40-934D-5281E419A9E1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7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708400" y="2565400"/>
                        <a:ext cx="2286000" cy="860425"/>
                      </a:xfrm>
                      <a:prstGeom prst="rect">
                        <a:avLst/>
                      </a:prstGeom>
                      <a:blipFill dpi="0" rotWithShape="0">
                        <a:blip r:embed="rId5"/>
                        <a:srcRect/>
                        <a:tile tx="0" ty="0" sx="100000" sy="100000" flip="none" algn="tl"/>
                      </a:blipFill>
                    </p:spPr>
                  </p:pic>
                </p:oleObj>
              </mc:Fallback>
            </mc:AlternateContent>
          </a:graphicData>
        </a:graphic>
      </p:graphicFrame>
      <p:pic>
        <p:nvPicPr>
          <p:cNvPr id="1032" name="Picture 2">
            <a:extLst>
              <a:ext uri="{FF2B5EF4-FFF2-40B4-BE49-F238E27FC236}">
                <a16:creationId xmlns:a16="http://schemas.microsoft.com/office/drawing/2014/main" id="{23F5CD98-2E3C-F04D-AE91-4A14511901A6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8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2177" t="39117" r="36884" b="47479"/>
          <a:stretch>
            <a:fillRect/>
          </a:stretch>
        </p:blipFill>
        <p:spPr bwMode="auto">
          <a:xfrm>
            <a:off x="971550" y="4508500"/>
            <a:ext cx="7848600" cy="19446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9" name="Rounded Rectangle 8">
            <a:extLst>
              <a:ext uri="{FF2B5EF4-FFF2-40B4-BE49-F238E27FC236}">
                <a16:creationId xmlns:a16="http://schemas.microsoft.com/office/drawing/2014/main" id="{4552336F-B09C-0C42-A01A-B6ACE9868294}"/>
              </a:ext>
            </a:extLst>
          </p:cNvPr>
          <p:cNvSpPr/>
          <p:nvPr/>
        </p:nvSpPr>
        <p:spPr>
          <a:xfrm>
            <a:off x="1012342" y="3774282"/>
            <a:ext cx="2663825" cy="503237"/>
          </a:xfrm>
          <a:prstGeom prst="roundRect">
            <a:avLst/>
          </a:prstGeom>
          <a:solidFill>
            <a:srgbClr val="00B05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r>
              <a:rPr lang="id-ID" sz="2400" b="1" dirty="0">
                <a:solidFill>
                  <a:schemeClr val="tx1"/>
                </a:solidFill>
              </a:rPr>
              <a:t>CONTOH :</a:t>
            </a:r>
          </a:p>
        </p:txBody>
      </p:sp>
    </p:spTree>
    <p:extLst>
      <p:ext uri="{BB962C8B-B14F-4D97-AF65-F5344CB8AC3E}">
        <p14:creationId xmlns:p14="http://schemas.microsoft.com/office/powerpoint/2010/main" val="3796651929"/>
      </p:ext>
    </p:extLst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410" name="Title 3">
            <a:extLst>
              <a:ext uri="{FF2B5EF4-FFF2-40B4-BE49-F238E27FC236}">
                <a16:creationId xmlns:a16="http://schemas.microsoft.com/office/drawing/2014/main" id="{51DD4176-3373-6E4A-8ADA-225EA483B8D0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431925" y="360363"/>
            <a:ext cx="7407275" cy="1471612"/>
          </a:xfrm>
        </p:spPr>
        <p:txBody>
          <a:bodyPr/>
          <a:lstStyle/>
          <a:p>
            <a:pPr eaLnBrk="1" fontAlgn="auto" hangingPunct="1">
              <a:spcAft>
                <a:spcPts val="0"/>
              </a:spcAft>
              <a:defRPr/>
            </a:pPr>
            <a:r>
              <a:rPr lang="en-US" dirty="0" err="1">
                <a:solidFill>
                  <a:schemeClr val="tx2">
                    <a:satMod val="130000"/>
                  </a:schemeClr>
                </a:solidFill>
              </a:rPr>
              <a:t>Distribusi</a:t>
            </a:r>
            <a:r>
              <a:rPr lang="en-US" dirty="0">
                <a:solidFill>
                  <a:schemeClr val="tx2">
                    <a:satMod val="130000"/>
                  </a:schemeClr>
                </a:solidFill>
              </a:rPr>
              <a:t> Poisson</a:t>
            </a:r>
          </a:p>
        </p:txBody>
      </p:sp>
      <p:sp>
        <p:nvSpPr>
          <p:cNvPr id="17411" name="Subtitle 4">
            <a:extLst>
              <a:ext uri="{FF2B5EF4-FFF2-40B4-BE49-F238E27FC236}">
                <a16:creationId xmlns:a16="http://schemas.microsoft.com/office/drawing/2014/main" id="{C69E3EAE-C2B4-D143-B5B4-FBDD1AE67B11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431925" y="1849438"/>
            <a:ext cx="7407275" cy="1752600"/>
          </a:xfrm>
        </p:spPr>
        <p:txBody>
          <a:bodyPr>
            <a:normAutofit/>
          </a:bodyPr>
          <a:lstStyle/>
          <a:p>
            <a:pPr eaLnBrk="1" fontAlgn="auto" hangingPunct="1">
              <a:spcAft>
                <a:spcPts val="0"/>
              </a:spcAft>
              <a:buFont typeface="Wingdings 2"/>
              <a:buNone/>
              <a:defRPr/>
            </a:pPr>
            <a:r>
              <a:rPr lang="en-US" dirty="0"/>
              <a:t>(</a:t>
            </a:r>
            <a:r>
              <a:rPr lang="en-US" dirty="0" err="1"/>
              <a:t>Distribusi</a:t>
            </a:r>
            <a:r>
              <a:rPr lang="en-US" dirty="0"/>
              <a:t> </a:t>
            </a:r>
            <a:r>
              <a:rPr lang="en-US" dirty="0" err="1"/>
              <a:t>Probabilitas</a:t>
            </a:r>
            <a:r>
              <a:rPr lang="en-US" dirty="0"/>
              <a:t> </a:t>
            </a:r>
            <a:r>
              <a:rPr lang="en-US" dirty="0" err="1"/>
              <a:t>Diskrit</a:t>
            </a:r>
            <a:r>
              <a:rPr lang="en-US" dirty="0"/>
              <a:t>)</a:t>
            </a:r>
          </a:p>
        </p:txBody>
      </p:sp>
    </p:spTree>
    <p:extLst>
      <p:ext uri="{BB962C8B-B14F-4D97-AF65-F5344CB8AC3E}">
        <p14:creationId xmlns:p14="http://schemas.microsoft.com/office/powerpoint/2010/main" val="4068149740"/>
      </p:ext>
    </p:extLst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34" name="Rectangle 2">
            <a:extLst>
              <a:ext uri="{FF2B5EF4-FFF2-40B4-BE49-F238E27FC236}">
                <a16:creationId xmlns:a16="http://schemas.microsoft.com/office/drawing/2014/main" id="{2B10FB86-7070-F14A-926B-CFD7C73BBAD2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1214438" y="642938"/>
            <a:ext cx="7696200" cy="831850"/>
          </a:xfrm>
        </p:spPr>
        <p:txBody>
          <a:bodyPr/>
          <a:lstStyle/>
          <a:p>
            <a:pPr marL="838200" indent="-838200" eaLnBrk="1" fontAlgn="auto" hangingPunct="1">
              <a:spcAft>
                <a:spcPts val="0"/>
              </a:spcAft>
              <a:defRPr/>
            </a:pPr>
            <a:r>
              <a:rPr lang="en-US" dirty="0" err="1">
                <a:solidFill>
                  <a:schemeClr val="tx2">
                    <a:satMod val="130000"/>
                  </a:schemeClr>
                </a:solidFill>
              </a:rPr>
              <a:t>Percobaan</a:t>
            </a:r>
            <a:r>
              <a:rPr lang="en-US" dirty="0">
                <a:solidFill>
                  <a:schemeClr val="tx2">
                    <a:satMod val="130000"/>
                  </a:schemeClr>
                </a:solidFill>
              </a:rPr>
              <a:t> Poisson :</a:t>
            </a:r>
            <a:endParaRPr lang="id-ID" dirty="0">
              <a:solidFill>
                <a:schemeClr val="tx2">
                  <a:satMod val="130000"/>
                </a:schemeClr>
              </a:solidFill>
            </a:endParaRPr>
          </a:p>
        </p:txBody>
      </p:sp>
      <p:sp>
        <p:nvSpPr>
          <p:cNvPr id="25603" name="Rectangle 3">
            <a:extLst>
              <a:ext uri="{FF2B5EF4-FFF2-40B4-BE49-F238E27FC236}">
                <a16:creationId xmlns:a16="http://schemas.microsoft.com/office/drawing/2014/main" id="{D816778E-56F1-2D4C-AD8E-5709A04D69E6}"/>
              </a:ext>
            </a:extLst>
          </p:cNvPr>
          <p:cNvSpPr>
            <a:spLocks noGrp="1" noChangeArrowheads="1"/>
          </p:cNvSpPr>
          <p:nvPr>
            <p:ph idx="1"/>
          </p:nvPr>
        </p:nvSpPr>
        <p:spPr>
          <a:xfrm>
            <a:off x="857250" y="2057400"/>
            <a:ext cx="7429500" cy="2562225"/>
          </a:xfrm>
        </p:spPr>
        <p:txBody>
          <a:bodyPr/>
          <a:lstStyle/>
          <a:p>
            <a:pPr eaLnBrk="1" hangingPunct="1">
              <a:lnSpc>
                <a:spcPct val="90000"/>
              </a:lnSpc>
            </a:pPr>
            <a:r>
              <a:rPr lang="en-US" altLang="en-US" sz="2800" dirty="0" err="1"/>
              <a:t>Jika</a:t>
            </a:r>
            <a:r>
              <a:rPr lang="en-US" altLang="en-US" sz="2800" dirty="0"/>
              <a:t> </a:t>
            </a:r>
            <a:r>
              <a:rPr lang="en-US" altLang="en-US" sz="2800" dirty="0" err="1"/>
              <a:t>suatu</a:t>
            </a:r>
            <a:r>
              <a:rPr lang="en-US" altLang="en-US" sz="2800" dirty="0"/>
              <a:t> </a:t>
            </a:r>
            <a:r>
              <a:rPr lang="en-US" altLang="en-US" sz="2800" dirty="0" err="1"/>
              <a:t>percobaan</a:t>
            </a:r>
            <a:r>
              <a:rPr lang="en-US" altLang="en-US" sz="2800" dirty="0"/>
              <a:t> </a:t>
            </a:r>
            <a:r>
              <a:rPr lang="en-US" altLang="en-US" sz="2800" dirty="0" err="1"/>
              <a:t>menghasilkan</a:t>
            </a:r>
            <a:r>
              <a:rPr lang="en-US" altLang="en-US" sz="2800" dirty="0"/>
              <a:t> </a:t>
            </a:r>
            <a:r>
              <a:rPr lang="en-US" altLang="en-US" sz="2800" dirty="0" err="1"/>
              <a:t>variabel</a:t>
            </a:r>
            <a:r>
              <a:rPr lang="en-US" altLang="en-US" sz="2800" dirty="0"/>
              <a:t> random X yang </a:t>
            </a:r>
            <a:r>
              <a:rPr lang="en-US" altLang="en-US" sz="2800" dirty="0" err="1"/>
              <a:t>menyatakan</a:t>
            </a:r>
            <a:r>
              <a:rPr lang="en-US" altLang="en-US" sz="2800" dirty="0"/>
              <a:t> </a:t>
            </a:r>
            <a:r>
              <a:rPr lang="en-US" altLang="en-US" sz="2800" dirty="0" err="1"/>
              <a:t>banyak-nya</a:t>
            </a:r>
            <a:r>
              <a:rPr lang="en-US" altLang="en-US" sz="2800" dirty="0"/>
              <a:t> </a:t>
            </a:r>
            <a:r>
              <a:rPr lang="en-US" altLang="en-US" sz="2800" dirty="0" err="1"/>
              <a:t>sukses</a:t>
            </a:r>
            <a:r>
              <a:rPr lang="en-US" altLang="en-US" sz="2800" dirty="0"/>
              <a:t> </a:t>
            </a:r>
            <a:r>
              <a:rPr lang="en-US" altLang="en-US" sz="2800" dirty="0" err="1"/>
              <a:t>dalam</a:t>
            </a:r>
            <a:r>
              <a:rPr lang="en-US" altLang="en-US" sz="2800" dirty="0"/>
              <a:t> </a:t>
            </a:r>
            <a:r>
              <a:rPr lang="en-US" altLang="en-US" sz="2800" dirty="0" err="1"/>
              <a:t>daerah</a:t>
            </a:r>
            <a:r>
              <a:rPr lang="en-US" altLang="en-US" sz="2800" dirty="0"/>
              <a:t> </a:t>
            </a:r>
            <a:r>
              <a:rPr lang="en-US" altLang="en-US" sz="2800" dirty="0" err="1"/>
              <a:t>tertentu</a:t>
            </a:r>
            <a:r>
              <a:rPr lang="en-US" altLang="en-US" sz="2800" dirty="0"/>
              <a:t> </a:t>
            </a:r>
            <a:r>
              <a:rPr lang="en-US" altLang="en-US" sz="2800" dirty="0" err="1"/>
              <a:t>atau</a:t>
            </a:r>
            <a:r>
              <a:rPr lang="en-US" altLang="en-US" sz="2800" dirty="0"/>
              <a:t> </a:t>
            </a:r>
            <a:r>
              <a:rPr lang="en-US" altLang="en-US" sz="2800" dirty="0" err="1"/>
              <a:t>selama</a:t>
            </a:r>
            <a:r>
              <a:rPr lang="en-US" altLang="en-US" sz="2800" dirty="0"/>
              <a:t> interval </a:t>
            </a:r>
            <a:r>
              <a:rPr lang="en-US" altLang="en-US" sz="2800" dirty="0" err="1"/>
              <a:t>waktu</a:t>
            </a:r>
            <a:r>
              <a:rPr lang="en-US" altLang="en-US" sz="2800" dirty="0"/>
              <a:t> </a:t>
            </a:r>
            <a:r>
              <a:rPr lang="en-US" altLang="en-US" sz="2800" dirty="0" err="1"/>
              <a:t>tertentu</a:t>
            </a:r>
            <a:r>
              <a:rPr lang="en-US" altLang="en-US" sz="2800" dirty="0"/>
              <a:t>, </a:t>
            </a:r>
            <a:r>
              <a:rPr lang="en-US" altLang="en-US" sz="2800" dirty="0" err="1"/>
              <a:t>percobaan</a:t>
            </a:r>
            <a:r>
              <a:rPr lang="en-US" altLang="en-US" sz="2800" dirty="0"/>
              <a:t> </a:t>
            </a:r>
            <a:r>
              <a:rPr lang="en-US" altLang="en-US" sz="2800" dirty="0" err="1"/>
              <a:t>itu</a:t>
            </a:r>
            <a:r>
              <a:rPr lang="en-US" altLang="en-US" sz="2800" dirty="0"/>
              <a:t> </a:t>
            </a:r>
            <a:r>
              <a:rPr lang="en-US" altLang="en-US" sz="2800" dirty="0" err="1"/>
              <a:t>disebut</a:t>
            </a:r>
            <a:r>
              <a:rPr lang="en-US" altLang="en-US" sz="2800" dirty="0"/>
              <a:t> </a:t>
            </a:r>
            <a:r>
              <a:rPr lang="en-US" altLang="en-US" sz="2800" dirty="0" err="1">
                <a:solidFill>
                  <a:schemeClr val="hlink"/>
                </a:solidFill>
              </a:rPr>
              <a:t>percobaan</a:t>
            </a:r>
            <a:r>
              <a:rPr lang="en-US" altLang="en-US" sz="2800" dirty="0">
                <a:solidFill>
                  <a:schemeClr val="hlink"/>
                </a:solidFill>
              </a:rPr>
              <a:t> Poisson.</a:t>
            </a:r>
            <a:r>
              <a:rPr lang="id-ID" altLang="en-US" sz="2800" dirty="0">
                <a:solidFill>
                  <a:schemeClr val="hlink"/>
                </a:solidFill>
              </a:rPr>
              <a:t> </a:t>
            </a:r>
            <a:endParaRPr lang="en-US" altLang="en-US" sz="2800" dirty="0">
              <a:solidFill>
                <a:schemeClr val="hlink"/>
              </a:solidFill>
            </a:endParaRPr>
          </a:p>
        </p:txBody>
      </p:sp>
      <p:sp>
        <p:nvSpPr>
          <p:cNvPr id="25604" name="Rectangle 5">
            <a:extLst>
              <a:ext uri="{FF2B5EF4-FFF2-40B4-BE49-F238E27FC236}">
                <a16:creationId xmlns:a16="http://schemas.microsoft.com/office/drawing/2014/main" id="{07800CFA-8399-904F-BD8F-D2F706A11090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3219450"/>
            <a:ext cx="9144000" cy="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1926455262"/>
      </p:ext>
    </p:extLst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>
            <a:extLst>
              <a:ext uri="{FF2B5EF4-FFF2-40B4-BE49-F238E27FC236}">
                <a16:creationId xmlns:a16="http://schemas.microsoft.com/office/drawing/2014/main" id="{CD3DD1DA-2B0B-6D4C-8CB6-DA119F9E08B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90600" y="734695"/>
            <a:ext cx="7118984" cy="615553"/>
          </a:xfrm>
        </p:spPr>
        <p:txBody>
          <a:bodyPr/>
          <a:lstStyle/>
          <a:p>
            <a:pPr eaLnBrk="1" fontAlgn="auto" hangingPunct="1">
              <a:spcAft>
                <a:spcPts val="0"/>
              </a:spcAft>
              <a:defRPr/>
            </a:pPr>
            <a:r>
              <a:rPr lang="en-US" sz="4000" dirty="0" err="1">
                <a:solidFill>
                  <a:schemeClr val="tx2">
                    <a:satMod val="130000"/>
                  </a:schemeClr>
                </a:solidFill>
              </a:rPr>
              <a:t>Distribusi</a:t>
            </a:r>
            <a:r>
              <a:rPr lang="en-US" sz="4000" dirty="0">
                <a:solidFill>
                  <a:schemeClr val="tx2">
                    <a:satMod val="130000"/>
                  </a:schemeClr>
                </a:solidFill>
              </a:rPr>
              <a:t> Poisson</a:t>
            </a:r>
          </a:p>
        </p:txBody>
      </p:sp>
      <p:sp>
        <p:nvSpPr>
          <p:cNvPr id="3075" name="Content Placeholder 2">
            <a:extLst>
              <a:ext uri="{FF2B5EF4-FFF2-40B4-BE49-F238E27FC236}">
                <a16:creationId xmlns:a16="http://schemas.microsoft.com/office/drawing/2014/main" id="{FEEDCF73-44C2-7E4A-8E5D-06FCFDA3AB5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285875" y="1357313"/>
            <a:ext cx="7497763" cy="4071937"/>
          </a:xfrm>
        </p:spPr>
        <p:txBody>
          <a:bodyPr>
            <a:normAutofit/>
          </a:bodyPr>
          <a:lstStyle/>
          <a:p>
            <a:pPr marL="365760" indent="-283464" eaLnBrk="1" fontAlgn="auto" hangingPunct="1">
              <a:spcAft>
                <a:spcPts val="0"/>
              </a:spcAft>
              <a:buFont typeface="Wingdings 2"/>
              <a:buChar char=""/>
              <a:defRPr/>
            </a:pPr>
            <a:r>
              <a:rPr lang="sv-SE" sz="2800" dirty="0"/>
              <a:t>Jumlah X dari keluaran yang terjadi selama satu percobaan Poisson disebut </a:t>
            </a:r>
            <a:r>
              <a:rPr lang="sv-SE" sz="2800" dirty="0">
                <a:solidFill>
                  <a:schemeClr val="accent5">
                    <a:lumMod val="60000"/>
                    <a:lumOff val="40000"/>
                  </a:schemeClr>
                </a:solidFill>
              </a:rPr>
              <a:t>Variabel random Poisson</a:t>
            </a:r>
            <a:r>
              <a:rPr lang="sv-SE" sz="2800" dirty="0"/>
              <a:t>, dan distribusi probabilitasnya disebut </a:t>
            </a:r>
            <a:r>
              <a:rPr lang="sv-SE" sz="2800" dirty="0">
                <a:solidFill>
                  <a:schemeClr val="accent5">
                    <a:lumMod val="60000"/>
                    <a:lumOff val="40000"/>
                  </a:schemeClr>
                </a:solidFill>
              </a:rPr>
              <a:t>distribusi Poisson</a:t>
            </a:r>
            <a:r>
              <a:rPr lang="sv-SE" sz="2800" dirty="0"/>
              <a:t>. </a:t>
            </a:r>
          </a:p>
          <a:p>
            <a:pPr marL="365760" indent="-283464" eaLnBrk="1" fontAlgn="auto" hangingPunct="1">
              <a:spcAft>
                <a:spcPts val="0"/>
              </a:spcAft>
              <a:buFont typeface="Wingdings 2"/>
              <a:buChar char=""/>
              <a:defRPr/>
            </a:pPr>
            <a:r>
              <a:rPr lang="sv-SE" sz="2800" dirty="0"/>
              <a:t>Bila x menyatakan banyaknya sukses yang terjadi , </a:t>
            </a:r>
            <a:r>
              <a:rPr lang="sv-SE" sz="2800" dirty="0">
                <a:sym typeface="Symbol" pitchFamily="18" charset="2"/>
              </a:rPr>
              <a:t> </a:t>
            </a:r>
            <a:r>
              <a:rPr lang="sv-SE" sz="2800" dirty="0"/>
              <a:t>adalah rata-rata banyaknya sukses yang terjadi dalam interval waktu atau daerah tertentu, dan e = 2,718 , maka </a:t>
            </a:r>
            <a:r>
              <a:rPr lang="sv-SE" sz="2800" dirty="0">
                <a:solidFill>
                  <a:srgbClr val="FFC000"/>
                </a:solidFill>
              </a:rPr>
              <a:t>rumus distribusi Poisson</a:t>
            </a:r>
            <a:r>
              <a:rPr lang="sv-SE" sz="2800" dirty="0"/>
              <a:t> adalah :</a:t>
            </a:r>
            <a:endParaRPr lang="id-ID" sz="2800" dirty="0"/>
          </a:p>
          <a:p>
            <a:pPr marL="365760" indent="-283464" eaLnBrk="1" fontAlgn="auto" hangingPunct="1">
              <a:spcAft>
                <a:spcPts val="0"/>
              </a:spcAft>
              <a:buFont typeface="Wingdings 2"/>
              <a:buChar char=""/>
              <a:defRPr/>
            </a:pPr>
            <a:endParaRPr lang="id-ID" sz="2800" dirty="0"/>
          </a:p>
          <a:p>
            <a:pPr marL="365760" indent="-283464" eaLnBrk="1" fontAlgn="auto" hangingPunct="1">
              <a:spcAft>
                <a:spcPts val="0"/>
              </a:spcAft>
              <a:buFont typeface="Wingdings 2"/>
              <a:buNone/>
              <a:defRPr/>
            </a:pPr>
            <a:endParaRPr lang="en-US" sz="2800" dirty="0"/>
          </a:p>
        </p:txBody>
      </p:sp>
      <p:graphicFrame>
        <p:nvGraphicFramePr>
          <p:cNvPr id="2050" name="Object 1028" descr="Stationery">
            <a:extLst>
              <a:ext uri="{FF2B5EF4-FFF2-40B4-BE49-F238E27FC236}">
                <a16:creationId xmlns:a16="http://schemas.microsoft.com/office/drawing/2014/main" id="{D21D17C4-060C-5D4C-8A14-FEB317B64595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520642087"/>
              </p:ext>
            </p:extLst>
          </p:nvPr>
        </p:nvGraphicFramePr>
        <p:xfrm>
          <a:off x="3276600" y="5181600"/>
          <a:ext cx="5072063" cy="91916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4337" name="Equation" r:id="rId3" imgW="53251100" imgH="9652000" progId="Equation.3">
                  <p:embed/>
                </p:oleObj>
              </mc:Choice>
              <mc:Fallback>
                <p:oleObj name="Equation" r:id="rId3" imgW="53251100" imgH="9652000" progId="Equation.3">
                  <p:embed/>
                  <p:pic>
                    <p:nvPicPr>
                      <p:cNvPr id="2050" name="Object 1028" descr="Stationery">
                        <a:extLst>
                          <a:ext uri="{FF2B5EF4-FFF2-40B4-BE49-F238E27FC236}">
                            <a16:creationId xmlns:a16="http://schemas.microsoft.com/office/drawing/2014/main" id="{D21D17C4-060C-5D4C-8A14-FEB317B64595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276600" y="5181600"/>
                        <a:ext cx="5072063" cy="919162"/>
                      </a:xfrm>
                      <a:prstGeom prst="rect">
                        <a:avLst/>
                      </a:prstGeom>
                      <a:blipFill dpi="0" rotWithShape="0">
                        <a:blip r:embed="rId5"/>
                        <a:srcRect/>
                        <a:tile tx="0" ty="0" sx="100000" sy="100000" flip="none" algn="tl"/>
                      </a:blipFill>
                    </p:spPr>
                  </p:pic>
                </p:oleObj>
              </mc:Fallback>
            </mc:AlternateContent>
          </a:graphicData>
        </a:graphic>
      </p:graphicFrame>
    </p:spTree>
    <p:extLst>
      <p:ext uri="{BB962C8B-B14F-4D97-AF65-F5344CB8AC3E}">
        <p14:creationId xmlns:p14="http://schemas.microsoft.com/office/powerpoint/2010/main" val="1722671152"/>
      </p:ext>
    </p:extLst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23" name="Rectangle 3">
            <a:extLst>
              <a:ext uri="{FF2B5EF4-FFF2-40B4-BE49-F238E27FC236}">
                <a16:creationId xmlns:a16="http://schemas.microsoft.com/office/drawing/2014/main" id="{9260C471-B985-D347-A3AA-F651AD86781E}"/>
              </a:ext>
            </a:extLst>
          </p:cNvPr>
          <p:cNvSpPr>
            <a:spLocks noGrp="1" noChangeArrowheads="1"/>
          </p:cNvSpPr>
          <p:nvPr>
            <p:ph idx="1"/>
          </p:nvPr>
        </p:nvSpPr>
        <p:spPr>
          <a:xfrm>
            <a:off x="1214438" y="1571625"/>
            <a:ext cx="7364412" cy="4357688"/>
          </a:xfrm>
        </p:spPr>
        <p:txBody>
          <a:bodyPr>
            <a:normAutofit fontScale="92500" lnSpcReduction="20000"/>
          </a:bodyPr>
          <a:lstStyle/>
          <a:p>
            <a:pPr marL="365760" indent="-283464" eaLnBrk="1" fontAlgn="auto" hangingPunct="1">
              <a:spcAft>
                <a:spcPts val="0"/>
              </a:spcAft>
              <a:buFont typeface="Wingdings 2"/>
              <a:buChar char=""/>
              <a:defRPr/>
            </a:pPr>
            <a:r>
              <a:rPr lang="sv-SE" sz="3300" b="1" dirty="0">
                <a:solidFill>
                  <a:srgbClr val="FF0000"/>
                </a:solidFill>
              </a:rPr>
              <a:t>Mean (rata-rata)</a:t>
            </a:r>
            <a:r>
              <a:rPr lang="sv-SE" sz="3300" dirty="0">
                <a:solidFill>
                  <a:srgbClr val="FF0000"/>
                </a:solidFill>
              </a:rPr>
              <a:t> dan </a:t>
            </a:r>
            <a:r>
              <a:rPr lang="sv-SE" sz="3300" b="1" dirty="0">
                <a:solidFill>
                  <a:srgbClr val="FF0000"/>
                </a:solidFill>
              </a:rPr>
              <a:t>variansi</a:t>
            </a:r>
            <a:r>
              <a:rPr lang="sv-SE" sz="3300" dirty="0">
                <a:solidFill>
                  <a:srgbClr val="FF0000"/>
                </a:solidFill>
              </a:rPr>
              <a:t> </a:t>
            </a:r>
            <a:r>
              <a:rPr lang="sv-SE" sz="3300" dirty="0"/>
              <a:t>dari distribusi Poisson adalah </a:t>
            </a:r>
            <a:r>
              <a:rPr lang="sv-SE" sz="3300" dirty="0">
                <a:sym typeface="Symbol" pitchFamily="18" charset="2"/>
              </a:rPr>
              <a:t>.</a:t>
            </a:r>
          </a:p>
          <a:p>
            <a:pPr marL="365760" indent="-283464" eaLnBrk="1" fontAlgn="auto" hangingPunct="1">
              <a:spcAft>
                <a:spcPts val="0"/>
              </a:spcAft>
              <a:buFont typeface="Wingdings 2"/>
              <a:buNone/>
              <a:defRPr/>
            </a:pPr>
            <a:endParaRPr lang="sv-SE" dirty="0">
              <a:solidFill>
                <a:srgbClr val="C00000"/>
              </a:solidFill>
            </a:endParaRPr>
          </a:p>
          <a:p>
            <a:pPr marL="365760" indent="-283464" eaLnBrk="1" fontAlgn="auto" hangingPunct="1">
              <a:spcAft>
                <a:spcPts val="0"/>
              </a:spcAft>
              <a:buFont typeface="Wingdings 2"/>
              <a:buNone/>
              <a:defRPr/>
            </a:pPr>
            <a:r>
              <a:rPr lang="sv-SE" dirty="0">
                <a:solidFill>
                  <a:srgbClr val="C00000"/>
                </a:solidFill>
              </a:rPr>
              <a:t>Catatan :</a:t>
            </a:r>
          </a:p>
          <a:p>
            <a:pPr marL="365760" indent="-283464" eaLnBrk="1" fontAlgn="auto" hangingPunct="1">
              <a:spcAft>
                <a:spcPts val="0"/>
              </a:spcAft>
              <a:buFont typeface="Wingdings 2"/>
              <a:buChar char=""/>
              <a:defRPr/>
            </a:pPr>
            <a:r>
              <a:rPr lang="sv-SE" sz="3500" dirty="0"/>
              <a:t>Distribusi Poisson sebagai suatu bentuk pembatasan distribusi Binomial pada saat </a:t>
            </a:r>
            <a:r>
              <a:rPr lang="sv-SE" sz="3500" dirty="0">
                <a:solidFill>
                  <a:srgbClr val="FFC000"/>
                </a:solidFill>
              </a:rPr>
              <a:t>n besar </a:t>
            </a:r>
            <a:r>
              <a:rPr lang="sv-SE" sz="3500" dirty="0"/>
              <a:t>, sedangkan </a:t>
            </a:r>
            <a:r>
              <a:rPr lang="sv-SE" sz="3500" dirty="0">
                <a:solidFill>
                  <a:srgbClr val="FFC000"/>
                </a:solidFill>
              </a:rPr>
              <a:t>p mendekati 0 </a:t>
            </a:r>
            <a:r>
              <a:rPr lang="sv-SE" sz="3500" dirty="0"/>
              <a:t>, dan </a:t>
            </a:r>
            <a:r>
              <a:rPr lang="sv-SE" sz="3500" dirty="0">
                <a:solidFill>
                  <a:srgbClr val="FFC000"/>
                </a:solidFill>
              </a:rPr>
              <a:t>np konstan</a:t>
            </a:r>
            <a:r>
              <a:rPr lang="sv-SE" sz="3500" dirty="0"/>
              <a:t>. </a:t>
            </a:r>
          </a:p>
          <a:p>
            <a:pPr marL="365760" indent="-283464" eaLnBrk="1" fontAlgn="auto" hangingPunct="1">
              <a:spcAft>
                <a:spcPts val="0"/>
              </a:spcAft>
              <a:buFont typeface="Wingdings 2"/>
              <a:buChar char=""/>
              <a:defRPr/>
            </a:pPr>
            <a:r>
              <a:rPr lang="sv-SE" sz="3500" dirty="0"/>
              <a:t>Sehingga bila n besar dan p mendekati 0, distribusi Poisson dapat digunakan untuk memperkirakan probabilitas Binomial, dengan </a:t>
            </a:r>
            <a:endParaRPr lang="id-ID" sz="3500" dirty="0"/>
          </a:p>
          <a:p>
            <a:pPr marL="365760" indent="-283464" eaLnBrk="1" fontAlgn="auto" hangingPunct="1">
              <a:spcAft>
                <a:spcPts val="0"/>
              </a:spcAft>
              <a:buFont typeface="Wingdings 2"/>
              <a:buChar char=""/>
              <a:defRPr/>
            </a:pPr>
            <a:endParaRPr lang="id-ID" dirty="0"/>
          </a:p>
        </p:txBody>
      </p:sp>
      <p:sp>
        <p:nvSpPr>
          <p:cNvPr id="3076" name="Rectangle 6">
            <a:extLst>
              <a:ext uri="{FF2B5EF4-FFF2-40B4-BE49-F238E27FC236}">
                <a16:creationId xmlns:a16="http://schemas.microsoft.com/office/drawing/2014/main" id="{4FD2A082-67E6-BB47-9DFE-FB0F4C1CBEA1}"/>
              </a:ext>
            </a:extLst>
          </p:cNvPr>
          <p:cNvSpPr>
            <a:spLocks noRot="1" noChangeArrowheads="1"/>
          </p:cNvSpPr>
          <p:nvPr/>
        </p:nvSpPr>
        <p:spPr bwMode="auto">
          <a:xfrm>
            <a:off x="571500" y="2428875"/>
            <a:ext cx="8007350" cy="27860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/>
            <a:endParaRPr lang="en-US" altLang="en-US" sz="2400"/>
          </a:p>
        </p:txBody>
      </p:sp>
      <p:sp>
        <p:nvSpPr>
          <p:cNvPr id="3077" name="Rectangle 8">
            <a:extLst>
              <a:ext uri="{FF2B5EF4-FFF2-40B4-BE49-F238E27FC236}">
                <a16:creationId xmlns:a16="http://schemas.microsoft.com/office/drawing/2014/main" id="{7980E006-AF26-4C4C-B8D7-CE5C189AA0A5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3328988"/>
            <a:ext cx="9144000" cy="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endParaRPr lang="en-US" altLang="en-US"/>
          </a:p>
        </p:txBody>
      </p:sp>
      <p:graphicFrame>
        <p:nvGraphicFramePr>
          <p:cNvPr id="3074" name="Object 1025" descr="Stationery">
            <a:extLst>
              <a:ext uri="{FF2B5EF4-FFF2-40B4-BE49-F238E27FC236}">
                <a16:creationId xmlns:a16="http://schemas.microsoft.com/office/drawing/2014/main" id="{6D92C243-D7BA-6B40-9672-85263FDBBBFA}"/>
              </a:ext>
            </a:extLst>
          </p:cNvPr>
          <p:cNvGraphicFramePr>
            <a:graphicFrameLocks noChangeAspect="1"/>
          </p:cNvGraphicFramePr>
          <p:nvPr/>
        </p:nvGraphicFramePr>
        <p:xfrm>
          <a:off x="6000750" y="5429250"/>
          <a:ext cx="1143000" cy="50006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5361" name="Equation" r:id="rId3" imgW="10528300" imgH="4686300" progId="Equation.3">
                  <p:embed/>
                </p:oleObj>
              </mc:Choice>
              <mc:Fallback>
                <p:oleObj name="Equation" r:id="rId3" imgW="10528300" imgH="4686300" progId="Equation.3">
                  <p:embed/>
                  <p:pic>
                    <p:nvPicPr>
                      <p:cNvPr id="3074" name="Object 1025" descr="Stationery">
                        <a:extLst>
                          <a:ext uri="{FF2B5EF4-FFF2-40B4-BE49-F238E27FC236}">
                            <a16:creationId xmlns:a16="http://schemas.microsoft.com/office/drawing/2014/main" id="{6D92C243-D7BA-6B40-9672-85263FDBBBFA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6000750" y="5429250"/>
                        <a:ext cx="1143000" cy="500063"/>
                      </a:xfrm>
                      <a:prstGeom prst="rect">
                        <a:avLst/>
                      </a:prstGeom>
                      <a:blipFill dpi="0" rotWithShape="0">
                        <a:blip r:embed="rId5"/>
                        <a:srcRect/>
                        <a:tile tx="0" ty="0" sx="100000" sy="100000" flip="none" algn="tl"/>
                      </a:blipFill>
                    </p:spPr>
                  </p:pic>
                </p:oleObj>
              </mc:Fallback>
            </mc:AlternateContent>
          </a:graphicData>
        </a:graphic>
      </p:graphicFrame>
      <p:sp>
        <p:nvSpPr>
          <p:cNvPr id="3078" name="Rectangle 9">
            <a:extLst>
              <a:ext uri="{FF2B5EF4-FFF2-40B4-BE49-F238E27FC236}">
                <a16:creationId xmlns:a16="http://schemas.microsoft.com/office/drawing/2014/main" id="{B29B3C1D-E220-2847-915A-C4292B06B60A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3529013"/>
            <a:ext cx="9144000" cy="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endParaRPr lang="en-US" altLang="en-US"/>
          </a:p>
        </p:txBody>
      </p:sp>
      <p:sp>
        <p:nvSpPr>
          <p:cNvPr id="7" name="Title 3">
            <a:extLst>
              <a:ext uri="{FF2B5EF4-FFF2-40B4-BE49-F238E27FC236}">
                <a16:creationId xmlns:a16="http://schemas.microsoft.com/office/drawing/2014/main" id="{2DB6F552-E786-B247-862B-7A111D03A13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pPr eaLnBrk="1" fontAlgn="auto" hangingPunct="1">
              <a:spcAft>
                <a:spcPts val="0"/>
              </a:spcAft>
              <a:defRPr/>
            </a:pPr>
            <a:r>
              <a:rPr lang="en-US" dirty="0">
                <a:solidFill>
                  <a:schemeClr val="tx2">
                    <a:satMod val="130000"/>
                  </a:schemeClr>
                </a:solidFill>
              </a:rPr>
              <a:t>Rata-rata </a:t>
            </a:r>
            <a:r>
              <a:rPr lang="en-US" dirty="0" err="1">
                <a:solidFill>
                  <a:schemeClr val="tx2">
                    <a:satMod val="130000"/>
                  </a:schemeClr>
                </a:solidFill>
              </a:rPr>
              <a:t>dan</a:t>
            </a:r>
            <a:r>
              <a:rPr lang="en-US" dirty="0">
                <a:solidFill>
                  <a:schemeClr val="tx2">
                    <a:satMod val="130000"/>
                  </a:schemeClr>
                </a:solidFill>
              </a:rPr>
              <a:t> </a:t>
            </a:r>
            <a:r>
              <a:rPr lang="en-US" dirty="0" err="1">
                <a:solidFill>
                  <a:schemeClr val="tx2">
                    <a:satMod val="130000"/>
                  </a:schemeClr>
                </a:solidFill>
              </a:rPr>
              <a:t>Variansi</a:t>
            </a:r>
            <a:r>
              <a:rPr lang="en-US" dirty="0">
                <a:solidFill>
                  <a:schemeClr val="tx2">
                    <a:satMod val="130000"/>
                  </a:schemeClr>
                </a:solidFill>
              </a:rPr>
              <a:t> </a:t>
            </a:r>
            <a:r>
              <a:rPr lang="en-US" dirty="0" err="1">
                <a:solidFill>
                  <a:schemeClr val="tx2">
                    <a:satMod val="130000"/>
                  </a:schemeClr>
                </a:solidFill>
              </a:rPr>
              <a:t>Distribusi</a:t>
            </a:r>
            <a:r>
              <a:rPr lang="en-US" dirty="0">
                <a:solidFill>
                  <a:schemeClr val="tx2">
                    <a:satMod val="130000"/>
                  </a:schemeClr>
                </a:solidFill>
              </a:rPr>
              <a:t> Poisson</a:t>
            </a:r>
          </a:p>
        </p:txBody>
      </p:sp>
    </p:spTree>
    <p:extLst>
      <p:ext uri="{BB962C8B-B14F-4D97-AF65-F5344CB8AC3E}">
        <p14:creationId xmlns:p14="http://schemas.microsoft.com/office/powerpoint/2010/main" val="738696709"/>
      </p:ext>
    </p:extLst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6626" name="Picture 2">
            <a:extLst>
              <a:ext uri="{FF2B5EF4-FFF2-40B4-BE49-F238E27FC236}">
                <a16:creationId xmlns:a16="http://schemas.microsoft.com/office/drawing/2014/main" id="{9A99CB98-6230-1D4E-A3FC-35CB561E41D4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3654" t="34880" r="30238" b="32359"/>
          <a:stretch>
            <a:fillRect/>
          </a:stretch>
        </p:blipFill>
        <p:spPr bwMode="auto">
          <a:xfrm>
            <a:off x="468313" y="1412875"/>
            <a:ext cx="8675687" cy="36004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5" name="Rounded Rectangle 4">
            <a:extLst>
              <a:ext uri="{FF2B5EF4-FFF2-40B4-BE49-F238E27FC236}">
                <a16:creationId xmlns:a16="http://schemas.microsoft.com/office/drawing/2014/main" id="{7E55620F-0EF4-8743-BB0D-00769CE00C99}"/>
              </a:ext>
            </a:extLst>
          </p:cNvPr>
          <p:cNvSpPr/>
          <p:nvPr/>
        </p:nvSpPr>
        <p:spPr>
          <a:xfrm>
            <a:off x="468313" y="620713"/>
            <a:ext cx="2663825" cy="504825"/>
          </a:xfrm>
          <a:prstGeom prst="roundRect">
            <a:avLst/>
          </a:prstGeom>
          <a:solidFill>
            <a:srgbClr val="00B05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r>
              <a:rPr lang="id-ID" b="1" dirty="0">
                <a:solidFill>
                  <a:schemeClr val="tx1"/>
                </a:solidFill>
              </a:rPr>
              <a:t>TABEL :</a:t>
            </a:r>
          </a:p>
        </p:txBody>
      </p:sp>
    </p:spTree>
    <p:extLst>
      <p:ext uri="{BB962C8B-B14F-4D97-AF65-F5344CB8AC3E}">
        <p14:creationId xmlns:p14="http://schemas.microsoft.com/office/powerpoint/2010/main" val="3375705452"/>
      </p:ext>
    </p:extLst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7650" name="Picture 2">
            <a:extLst>
              <a:ext uri="{FF2B5EF4-FFF2-40B4-BE49-F238E27FC236}">
                <a16:creationId xmlns:a16="http://schemas.microsoft.com/office/drawing/2014/main" id="{2B6A4504-0F1F-D748-AD55-1C0E3397F7C4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2914" t="17725" r="30238" b="70160"/>
          <a:stretch>
            <a:fillRect/>
          </a:stretch>
        </p:blipFill>
        <p:spPr bwMode="auto">
          <a:xfrm>
            <a:off x="179388" y="1125538"/>
            <a:ext cx="8870950" cy="179863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27651" name="Picture 3">
            <a:extLst>
              <a:ext uri="{FF2B5EF4-FFF2-40B4-BE49-F238E27FC236}">
                <a16:creationId xmlns:a16="http://schemas.microsoft.com/office/drawing/2014/main" id="{018D6E9D-4913-E340-A513-8C0423C4AB8C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3087" t="37399" r="34496" b="33620"/>
          <a:stretch>
            <a:fillRect/>
          </a:stretch>
        </p:blipFill>
        <p:spPr bwMode="auto">
          <a:xfrm>
            <a:off x="250825" y="2997200"/>
            <a:ext cx="8669338" cy="31686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6" name="Rounded Rectangle 5">
            <a:extLst>
              <a:ext uri="{FF2B5EF4-FFF2-40B4-BE49-F238E27FC236}">
                <a16:creationId xmlns:a16="http://schemas.microsoft.com/office/drawing/2014/main" id="{ECDAA0D9-AD4E-F649-AEDF-4B51A99B27CA}"/>
              </a:ext>
            </a:extLst>
          </p:cNvPr>
          <p:cNvSpPr/>
          <p:nvPr/>
        </p:nvSpPr>
        <p:spPr>
          <a:xfrm>
            <a:off x="539750" y="404813"/>
            <a:ext cx="2663825" cy="503237"/>
          </a:xfrm>
          <a:prstGeom prst="roundRect">
            <a:avLst/>
          </a:prstGeom>
          <a:solidFill>
            <a:srgbClr val="00B05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r>
              <a:rPr lang="id-ID" sz="2400" b="1" dirty="0">
                <a:solidFill>
                  <a:schemeClr val="tx1"/>
                </a:solidFill>
              </a:rPr>
              <a:t>CONTOH :</a:t>
            </a:r>
          </a:p>
        </p:txBody>
      </p:sp>
    </p:spTree>
    <p:extLst>
      <p:ext uri="{BB962C8B-B14F-4D97-AF65-F5344CB8AC3E}">
        <p14:creationId xmlns:p14="http://schemas.microsoft.com/office/powerpoint/2010/main" val="2579253083"/>
      </p:ext>
    </p:extLst>
  </p:cSld>
  <p:clrMapOvr>
    <a:masterClrMapping/>
  </p:clrMapOvr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78EC02A-A022-894E-9E74-D3A6EA6929F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285875" y="928688"/>
            <a:ext cx="7497762" cy="1143000"/>
          </a:xfrm>
        </p:spPr>
        <p:txBody>
          <a:bodyPr/>
          <a:lstStyle/>
          <a:p>
            <a:pPr eaLnBrk="1" fontAlgn="auto" hangingPunct="1">
              <a:spcAft>
                <a:spcPts val="0"/>
              </a:spcAft>
              <a:defRPr/>
            </a:pPr>
            <a:r>
              <a:rPr lang="en-US" dirty="0" err="1">
                <a:solidFill>
                  <a:schemeClr val="tx2">
                    <a:satMod val="130000"/>
                  </a:schemeClr>
                </a:solidFill>
              </a:rPr>
              <a:t>Distribusi</a:t>
            </a:r>
            <a:r>
              <a:rPr lang="en-US" dirty="0">
                <a:solidFill>
                  <a:schemeClr val="tx2">
                    <a:satMod val="130000"/>
                  </a:schemeClr>
                </a:solidFill>
              </a:rPr>
              <a:t> </a:t>
            </a:r>
            <a:r>
              <a:rPr lang="en-US" dirty="0" err="1">
                <a:solidFill>
                  <a:schemeClr val="tx2">
                    <a:satMod val="130000"/>
                  </a:schemeClr>
                </a:solidFill>
              </a:rPr>
              <a:t>Hipergeometrik</a:t>
            </a:r>
            <a:endParaRPr lang="en-US" dirty="0">
              <a:solidFill>
                <a:schemeClr val="tx2">
                  <a:satMod val="130000"/>
                </a:schemeClr>
              </a:solidFill>
            </a:endParaRPr>
          </a:p>
        </p:txBody>
      </p:sp>
      <p:sp>
        <p:nvSpPr>
          <p:cNvPr id="28675" name="Content Placeholder 2">
            <a:extLst>
              <a:ext uri="{FF2B5EF4-FFF2-40B4-BE49-F238E27FC236}">
                <a16:creationId xmlns:a16="http://schemas.microsoft.com/office/drawing/2014/main" id="{CD32B351-BB77-B145-8CB5-8878512C2B5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285875" y="1500188"/>
            <a:ext cx="7497763" cy="1785937"/>
          </a:xfrm>
        </p:spPr>
        <p:txBody>
          <a:bodyPr/>
          <a:lstStyle/>
          <a:p>
            <a:pPr eaLnBrk="1" hangingPunct="1">
              <a:buFont typeface="Wingdings 2" pitchFamily="2" charset="2"/>
              <a:buNone/>
            </a:pPr>
            <a:r>
              <a:rPr lang="en-US" altLang="en-US"/>
              <a:t>(Distribusi Probabilitas Diskrit)</a:t>
            </a:r>
          </a:p>
          <a:p>
            <a:pPr eaLnBrk="1" hangingPunct="1"/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2257583933"/>
      </p:ext>
    </p:extLst>
  </p:cSld>
  <p:clrMapOvr>
    <a:masterClrMapping/>
  </p:clrMapOvr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D123210-D764-9E45-830A-EEC7BDDE83E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Autofit/>
          </a:bodyPr>
          <a:lstStyle/>
          <a:p>
            <a:pPr eaLnBrk="1" fontAlgn="auto" hangingPunct="1">
              <a:spcAft>
                <a:spcPts val="0"/>
              </a:spcAft>
              <a:defRPr/>
            </a:pPr>
            <a:r>
              <a:rPr lang="en-US" sz="3600" dirty="0" err="1">
                <a:solidFill>
                  <a:schemeClr val="tx2">
                    <a:satMod val="130000"/>
                  </a:schemeClr>
                </a:solidFill>
              </a:rPr>
              <a:t>Perbedaan</a:t>
            </a:r>
            <a:r>
              <a:rPr lang="en-US" sz="3600" dirty="0">
                <a:solidFill>
                  <a:schemeClr val="tx2">
                    <a:satMod val="130000"/>
                  </a:schemeClr>
                </a:solidFill>
              </a:rPr>
              <a:t> </a:t>
            </a:r>
            <a:r>
              <a:rPr lang="en-US" sz="3600" dirty="0" err="1">
                <a:solidFill>
                  <a:schemeClr val="tx2">
                    <a:satMod val="130000"/>
                  </a:schemeClr>
                </a:solidFill>
              </a:rPr>
              <a:t>diantara</a:t>
            </a:r>
            <a:r>
              <a:rPr lang="en-US" sz="3600" dirty="0">
                <a:solidFill>
                  <a:schemeClr val="tx2">
                    <a:satMod val="130000"/>
                  </a:schemeClr>
                </a:solidFill>
              </a:rPr>
              <a:t> </a:t>
            </a:r>
            <a:r>
              <a:rPr lang="en-US" sz="3600" dirty="0" err="1">
                <a:solidFill>
                  <a:schemeClr val="tx2">
                    <a:satMod val="130000"/>
                  </a:schemeClr>
                </a:solidFill>
              </a:rPr>
              <a:t>distribusi</a:t>
            </a:r>
            <a:r>
              <a:rPr lang="en-US" sz="3600" dirty="0">
                <a:solidFill>
                  <a:schemeClr val="tx2">
                    <a:satMod val="130000"/>
                  </a:schemeClr>
                </a:solidFill>
              </a:rPr>
              <a:t> binomial </a:t>
            </a:r>
            <a:r>
              <a:rPr lang="en-US" sz="3600" dirty="0" err="1">
                <a:solidFill>
                  <a:schemeClr val="tx2">
                    <a:satMod val="130000"/>
                  </a:schemeClr>
                </a:solidFill>
              </a:rPr>
              <a:t>dan</a:t>
            </a:r>
            <a:r>
              <a:rPr lang="en-US" sz="3600" dirty="0">
                <a:solidFill>
                  <a:schemeClr val="tx2">
                    <a:satMod val="130000"/>
                  </a:schemeClr>
                </a:solidFill>
              </a:rPr>
              <a:t> </a:t>
            </a:r>
            <a:r>
              <a:rPr lang="en-US" sz="3600" dirty="0" err="1">
                <a:solidFill>
                  <a:schemeClr val="tx2">
                    <a:satMod val="130000"/>
                  </a:schemeClr>
                </a:solidFill>
              </a:rPr>
              <a:t>distribusi</a:t>
            </a:r>
            <a:r>
              <a:rPr lang="en-US" sz="3600" dirty="0">
                <a:solidFill>
                  <a:schemeClr val="tx2">
                    <a:satMod val="130000"/>
                  </a:schemeClr>
                </a:solidFill>
              </a:rPr>
              <a:t> </a:t>
            </a:r>
            <a:r>
              <a:rPr lang="en-US" sz="3600" dirty="0" err="1">
                <a:solidFill>
                  <a:schemeClr val="tx2">
                    <a:satMod val="130000"/>
                  </a:schemeClr>
                </a:solidFill>
              </a:rPr>
              <a:t>hipergeometrik</a:t>
            </a:r>
            <a:endParaRPr lang="en-US" sz="3600" dirty="0">
              <a:solidFill>
                <a:schemeClr val="tx2">
                  <a:satMod val="130000"/>
                </a:schemeClr>
              </a:solidFill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20D0327-49B1-DD4E-98A9-39992362046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012342" y="2286000"/>
            <a:ext cx="7497762" cy="4800600"/>
          </a:xfrm>
        </p:spPr>
        <p:txBody>
          <a:bodyPr>
            <a:normAutofit/>
          </a:bodyPr>
          <a:lstStyle/>
          <a:p>
            <a:pPr marL="365760" indent="-283464" eaLnBrk="1" fontAlgn="auto" hangingPunct="1">
              <a:spcAft>
                <a:spcPts val="0"/>
              </a:spcAft>
              <a:buFont typeface="Wingdings 2"/>
              <a:buChar char=""/>
              <a:defRPr/>
            </a:pPr>
            <a:r>
              <a:rPr lang="en-US" sz="2800" dirty="0" err="1"/>
              <a:t>adalah</a:t>
            </a:r>
            <a:r>
              <a:rPr lang="en-US" sz="2800" dirty="0"/>
              <a:t> </a:t>
            </a:r>
            <a:r>
              <a:rPr lang="en-US" sz="2800" dirty="0" err="1"/>
              <a:t>terletak</a:t>
            </a:r>
            <a:r>
              <a:rPr lang="en-US" sz="2800" dirty="0"/>
              <a:t> </a:t>
            </a:r>
            <a:r>
              <a:rPr lang="en-US" sz="2800" dirty="0" err="1"/>
              <a:t>pada</a:t>
            </a:r>
            <a:r>
              <a:rPr lang="en-US" sz="2800" dirty="0"/>
              <a:t> </a:t>
            </a:r>
            <a:r>
              <a:rPr lang="en-US" sz="2800" dirty="0" err="1"/>
              <a:t>cara</a:t>
            </a:r>
            <a:r>
              <a:rPr lang="en-US" sz="2800" dirty="0"/>
              <a:t> </a:t>
            </a:r>
            <a:r>
              <a:rPr lang="en-US" sz="2800" dirty="0" err="1"/>
              <a:t>penarikan</a:t>
            </a:r>
            <a:r>
              <a:rPr lang="en-US" sz="2800" dirty="0"/>
              <a:t> </a:t>
            </a:r>
            <a:r>
              <a:rPr lang="en-US" sz="2800" dirty="0" err="1"/>
              <a:t>sampel</a:t>
            </a:r>
            <a:r>
              <a:rPr lang="en-US" sz="2800" dirty="0"/>
              <a:t>. </a:t>
            </a:r>
          </a:p>
          <a:p>
            <a:pPr marL="365760" indent="-283464" eaLnBrk="1" fontAlgn="auto" hangingPunct="1">
              <a:spcAft>
                <a:spcPts val="0"/>
              </a:spcAft>
              <a:buFont typeface="Wingdings 2"/>
              <a:buChar char=""/>
              <a:defRPr/>
            </a:pPr>
            <a:r>
              <a:rPr lang="en-US" sz="2800" dirty="0" err="1"/>
              <a:t>Dalam</a:t>
            </a:r>
            <a:r>
              <a:rPr lang="en-US" sz="2800" dirty="0"/>
              <a:t> </a:t>
            </a:r>
            <a:r>
              <a:rPr lang="en-US" sz="2800" dirty="0" err="1">
                <a:solidFill>
                  <a:schemeClr val="accent5">
                    <a:lumMod val="60000"/>
                    <a:lumOff val="40000"/>
                  </a:schemeClr>
                </a:solidFill>
              </a:rPr>
              <a:t>distribusi</a:t>
            </a:r>
            <a:r>
              <a:rPr lang="en-US" sz="2800" dirty="0">
                <a:solidFill>
                  <a:schemeClr val="accent5">
                    <a:lumMod val="60000"/>
                    <a:lumOff val="40000"/>
                  </a:schemeClr>
                </a:solidFill>
              </a:rPr>
              <a:t> binomial </a:t>
            </a:r>
            <a:r>
              <a:rPr lang="en-US" sz="2800" dirty="0" err="1"/>
              <a:t>diperlukan</a:t>
            </a:r>
            <a:r>
              <a:rPr lang="en-US" sz="2800" dirty="0"/>
              <a:t> </a:t>
            </a:r>
            <a:r>
              <a:rPr lang="en-US" sz="2800" dirty="0" err="1"/>
              <a:t>sifat</a:t>
            </a:r>
            <a:r>
              <a:rPr lang="en-US" sz="2800" dirty="0"/>
              <a:t> </a:t>
            </a:r>
            <a:r>
              <a:rPr lang="en-US" sz="2800" dirty="0" err="1"/>
              <a:t>pengulangan</a:t>
            </a:r>
            <a:r>
              <a:rPr lang="en-US" sz="2800" dirty="0"/>
              <a:t> yang </a:t>
            </a:r>
            <a:r>
              <a:rPr lang="en-US" sz="2800" dirty="0" err="1"/>
              <a:t>saling</a:t>
            </a:r>
            <a:r>
              <a:rPr lang="en-US" sz="2800" dirty="0"/>
              <a:t> </a:t>
            </a:r>
            <a:r>
              <a:rPr lang="en-US" sz="2800" dirty="0" err="1"/>
              <a:t>bebas</a:t>
            </a:r>
            <a:r>
              <a:rPr lang="en-US" sz="2800" dirty="0"/>
              <a:t>, </a:t>
            </a:r>
            <a:r>
              <a:rPr lang="en-US" sz="2800" dirty="0" err="1"/>
              <a:t>dan</a:t>
            </a:r>
            <a:r>
              <a:rPr lang="en-US" sz="2800" dirty="0"/>
              <a:t> </a:t>
            </a:r>
            <a:r>
              <a:rPr lang="en-US" sz="2800" dirty="0" err="1"/>
              <a:t>pengulangan</a:t>
            </a:r>
            <a:r>
              <a:rPr lang="en-US" sz="2800" dirty="0"/>
              <a:t> </a:t>
            </a:r>
            <a:r>
              <a:rPr lang="en-US" sz="2800" dirty="0" err="1"/>
              <a:t>tersebut</a:t>
            </a:r>
            <a:r>
              <a:rPr lang="en-US" sz="2800" dirty="0"/>
              <a:t> </a:t>
            </a:r>
            <a:r>
              <a:rPr lang="en-US" sz="2800" dirty="0" err="1"/>
              <a:t>harus</a:t>
            </a:r>
            <a:r>
              <a:rPr lang="en-US" sz="2800" dirty="0"/>
              <a:t> </a:t>
            </a:r>
            <a:r>
              <a:rPr lang="en-US" sz="2800" dirty="0" err="1"/>
              <a:t>dikerjakan</a:t>
            </a:r>
            <a:r>
              <a:rPr lang="en-US" sz="2800" dirty="0"/>
              <a:t> </a:t>
            </a:r>
            <a:r>
              <a:rPr lang="en-US" sz="2800" dirty="0" err="1"/>
              <a:t>dengan</a:t>
            </a:r>
            <a:r>
              <a:rPr lang="en-US" sz="2800" dirty="0"/>
              <a:t> </a:t>
            </a:r>
            <a:r>
              <a:rPr lang="en-US" sz="2800" dirty="0" err="1"/>
              <a:t>peng</a:t>
            </a:r>
            <a:r>
              <a:rPr lang="id-ID" sz="2800" dirty="0"/>
              <a:t>ulang</a:t>
            </a:r>
            <a:r>
              <a:rPr lang="en-US" sz="2800" dirty="0"/>
              <a:t>an (</a:t>
            </a:r>
            <a:r>
              <a:rPr lang="en-US" sz="2800" i="1" dirty="0"/>
              <a:t>with replacement</a:t>
            </a:r>
            <a:r>
              <a:rPr lang="en-US" sz="2800" dirty="0"/>
              <a:t>). </a:t>
            </a:r>
          </a:p>
          <a:p>
            <a:pPr marL="365760" indent="-283464" eaLnBrk="1" fontAlgn="auto" hangingPunct="1">
              <a:spcAft>
                <a:spcPts val="0"/>
              </a:spcAft>
              <a:buFont typeface="Wingdings 2"/>
              <a:buChar char=""/>
              <a:defRPr/>
            </a:pPr>
            <a:r>
              <a:rPr lang="en-US" sz="2800" dirty="0" err="1"/>
              <a:t>Sedangkan</a:t>
            </a:r>
            <a:r>
              <a:rPr lang="en-US" sz="2800" dirty="0"/>
              <a:t> </a:t>
            </a:r>
            <a:r>
              <a:rPr lang="en-US" sz="2800" dirty="0" err="1"/>
              <a:t>untuk</a:t>
            </a:r>
            <a:r>
              <a:rPr lang="en-US" sz="2800" dirty="0"/>
              <a:t> </a:t>
            </a:r>
            <a:r>
              <a:rPr lang="en-US" sz="2800" dirty="0" err="1">
                <a:solidFill>
                  <a:schemeClr val="accent5">
                    <a:lumMod val="60000"/>
                    <a:lumOff val="40000"/>
                  </a:schemeClr>
                </a:solidFill>
              </a:rPr>
              <a:t>distribusi</a:t>
            </a:r>
            <a:r>
              <a:rPr lang="en-US" sz="2800" dirty="0">
                <a:solidFill>
                  <a:schemeClr val="accent5">
                    <a:lumMod val="60000"/>
                    <a:lumOff val="40000"/>
                  </a:schemeClr>
                </a:solidFill>
              </a:rPr>
              <a:t> </a:t>
            </a:r>
            <a:r>
              <a:rPr lang="en-US" sz="2800" dirty="0" err="1">
                <a:solidFill>
                  <a:schemeClr val="accent5">
                    <a:lumMod val="60000"/>
                    <a:lumOff val="40000"/>
                  </a:schemeClr>
                </a:solidFill>
              </a:rPr>
              <a:t>hipergeometrik</a:t>
            </a:r>
            <a:r>
              <a:rPr lang="en-US" sz="2800" dirty="0"/>
              <a:t> </a:t>
            </a:r>
            <a:r>
              <a:rPr lang="en-US" sz="2800" dirty="0" err="1"/>
              <a:t>tidak</a:t>
            </a:r>
            <a:r>
              <a:rPr lang="en-US" sz="2800" dirty="0"/>
              <a:t> </a:t>
            </a:r>
            <a:r>
              <a:rPr lang="en-US" sz="2800" dirty="0" err="1"/>
              <a:t>diperlukan</a:t>
            </a:r>
            <a:r>
              <a:rPr lang="en-US" sz="2800" dirty="0"/>
              <a:t> </a:t>
            </a:r>
            <a:r>
              <a:rPr lang="en-US" sz="2800" dirty="0" err="1"/>
              <a:t>sifat</a:t>
            </a:r>
            <a:r>
              <a:rPr lang="en-US" sz="2800" dirty="0"/>
              <a:t> </a:t>
            </a:r>
            <a:r>
              <a:rPr lang="en-US" sz="2800" dirty="0" err="1"/>
              <a:t>pengulangan</a:t>
            </a:r>
            <a:r>
              <a:rPr lang="en-US" sz="2800" dirty="0"/>
              <a:t> yang </a:t>
            </a:r>
            <a:r>
              <a:rPr lang="en-US" sz="2800" dirty="0" err="1"/>
              <a:t>saling</a:t>
            </a:r>
            <a:r>
              <a:rPr lang="en-US" sz="2800" dirty="0"/>
              <a:t> </a:t>
            </a:r>
            <a:r>
              <a:rPr lang="en-US" sz="2800" dirty="0" err="1"/>
              <a:t>bebas</a:t>
            </a:r>
            <a:r>
              <a:rPr lang="en-US" sz="2800" dirty="0"/>
              <a:t> </a:t>
            </a:r>
            <a:r>
              <a:rPr lang="en-US" sz="2800" dirty="0" err="1"/>
              <a:t>dan</a:t>
            </a:r>
            <a:r>
              <a:rPr lang="en-US" sz="2800" dirty="0"/>
              <a:t> </a:t>
            </a:r>
            <a:r>
              <a:rPr lang="en-US" sz="2800" dirty="0" err="1"/>
              <a:t>dikerjakan</a:t>
            </a:r>
            <a:r>
              <a:rPr lang="en-US" sz="2800" dirty="0"/>
              <a:t> </a:t>
            </a:r>
            <a:r>
              <a:rPr lang="en-US" sz="2800" dirty="0" err="1"/>
              <a:t>tanpa</a:t>
            </a:r>
            <a:r>
              <a:rPr lang="en-US" sz="2800" dirty="0"/>
              <a:t> </a:t>
            </a:r>
            <a:r>
              <a:rPr lang="en-US" sz="2800" dirty="0" err="1"/>
              <a:t>peng</a:t>
            </a:r>
            <a:r>
              <a:rPr lang="id-ID" sz="2800" dirty="0"/>
              <a:t>ulangan</a:t>
            </a:r>
            <a:r>
              <a:rPr lang="en-US" sz="2800" dirty="0"/>
              <a:t> (</a:t>
            </a:r>
            <a:r>
              <a:rPr lang="en-US" sz="2800" i="1" dirty="0"/>
              <a:t>without replacement</a:t>
            </a:r>
            <a:r>
              <a:rPr lang="en-US" sz="2800" dirty="0"/>
              <a:t>).</a:t>
            </a:r>
          </a:p>
        </p:txBody>
      </p:sp>
    </p:spTree>
    <p:extLst>
      <p:ext uri="{BB962C8B-B14F-4D97-AF65-F5344CB8AC3E}">
        <p14:creationId xmlns:p14="http://schemas.microsoft.com/office/powerpoint/2010/main" val="3865305782"/>
      </p:ext>
    </p:extLst>
  </p:cSld>
  <p:clrMapOvr>
    <a:masterClrMapping/>
  </p:clrMapOvr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217729B-11E9-1C47-90D5-713DE6030D0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90600" y="838200"/>
            <a:ext cx="7118984" cy="1245235"/>
          </a:xfrm>
        </p:spPr>
        <p:txBody>
          <a:bodyPr>
            <a:normAutofit/>
          </a:bodyPr>
          <a:lstStyle/>
          <a:p>
            <a:pPr eaLnBrk="1" fontAlgn="auto" hangingPunct="1">
              <a:spcAft>
                <a:spcPts val="0"/>
              </a:spcAft>
              <a:defRPr/>
            </a:pPr>
            <a:r>
              <a:rPr lang="en-US" sz="2800" dirty="0" err="1">
                <a:solidFill>
                  <a:schemeClr val="tx2">
                    <a:satMod val="130000"/>
                  </a:schemeClr>
                </a:solidFill>
              </a:rPr>
              <a:t>Penerapan</a:t>
            </a:r>
            <a:r>
              <a:rPr lang="en-US" sz="2800" dirty="0">
                <a:solidFill>
                  <a:schemeClr val="tx2">
                    <a:satMod val="130000"/>
                  </a:schemeClr>
                </a:solidFill>
              </a:rPr>
              <a:t> </a:t>
            </a:r>
            <a:r>
              <a:rPr lang="en-US" sz="2800" dirty="0" err="1">
                <a:solidFill>
                  <a:schemeClr val="tx2">
                    <a:satMod val="130000"/>
                  </a:schemeClr>
                </a:solidFill>
              </a:rPr>
              <a:t>untuk</a:t>
            </a:r>
            <a:r>
              <a:rPr lang="en-US" sz="2800" dirty="0">
                <a:solidFill>
                  <a:schemeClr val="tx2">
                    <a:satMod val="130000"/>
                  </a:schemeClr>
                </a:solidFill>
              </a:rPr>
              <a:t> </a:t>
            </a:r>
            <a:r>
              <a:rPr lang="en-US" sz="2800" dirty="0" err="1">
                <a:solidFill>
                  <a:schemeClr val="tx2">
                    <a:satMod val="130000"/>
                  </a:schemeClr>
                </a:solidFill>
              </a:rPr>
              <a:t>distribusi</a:t>
            </a:r>
            <a:r>
              <a:rPr lang="en-US" sz="2800" dirty="0">
                <a:solidFill>
                  <a:schemeClr val="tx2">
                    <a:satMod val="130000"/>
                  </a:schemeClr>
                </a:solidFill>
              </a:rPr>
              <a:t> </a:t>
            </a:r>
            <a:r>
              <a:rPr lang="en-US" sz="2800" dirty="0" err="1">
                <a:solidFill>
                  <a:schemeClr val="tx2">
                    <a:satMod val="130000"/>
                  </a:schemeClr>
                </a:solidFill>
              </a:rPr>
              <a:t>hipergeometrik</a:t>
            </a:r>
            <a:endParaRPr lang="en-US" sz="2800" dirty="0">
              <a:solidFill>
                <a:schemeClr val="tx2">
                  <a:satMod val="130000"/>
                </a:schemeClr>
              </a:solidFill>
            </a:endParaRPr>
          </a:p>
        </p:txBody>
      </p:sp>
      <p:sp>
        <p:nvSpPr>
          <p:cNvPr id="30723" name="Content Placeholder 2">
            <a:extLst>
              <a:ext uri="{FF2B5EF4-FFF2-40B4-BE49-F238E27FC236}">
                <a16:creationId xmlns:a16="http://schemas.microsoft.com/office/drawing/2014/main" id="{CE93105D-78F7-0D4C-96EE-CA86A9DC4D6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428750" y="1785938"/>
            <a:ext cx="7497763" cy="4800600"/>
          </a:xfrm>
        </p:spPr>
        <p:txBody>
          <a:bodyPr/>
          <a:lstStyle/>
          <a:p>
            <a:pPr eaLnBrk="1" hangingPunct="1"/>
            <a:r>
              <a:rPr lang="en-US" altLang="en-US" sz="2800"/>
              <a:t>Ditemukan dalam berbagai bidang, dan paling sering digunakan dalam penarikan sampel penerimaan barang, pengujian elektronik, jaminan mutu, dsb. </a:t>
            </a:r>
          </a:p>
          <a:p>
            <a:pPr eaLnBrk="1" hangingPunct="1"/>
            <a:r>
              <a:rPr lang="en-US" altLang="en-US" sz="2800"/>
              <a:t>Dalam banyak bidang ini, pengujian dilakukan terhadap barang yang diuji yang pada akhirnya barang uji tersebut menjadi rusak, sehingga tidak dapat dikembalikan. Jadi, pengambilan sampel harus dikerjakan tanpa pengembalian</a:t>
            </a:r>
          </a:p>
        </p:txBody>
      </p:sp>
    </p:spTree>
    <p:extLst>
      <p:ext uri="{BB962C8B-B14F-4D97-AF65-F5344CB8AC3E}">
        <p14:creationId xmlns:p14="http://schemas.microsoft.com/office/powerpoint/2010/main" val="3425273975"/>
      </p:ext>
    </p:extLst>
  </p:cSld>
  <p:clrMapOvr>
    <a:masterClrMapping/>
  </p:clrMapOvr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1746" name="Picture 2">
            <a:extLst>
              <a:ext uri="{FF2B5EF4-FFF2-40B4-BE49-F238E27FC236}">
                <a16:creationId xmlns:a16="http://schemas.microsoft.com/office/drawing/2014/main" id="{C392A8CB-0730-A644-A183-F5828347EF4E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2915" t="38660" r="30977" b="14722"/>
          <a:stretch>
            <a:fillRect/>
          </a:stretch>
        </p:blipFill>
        <p:spPr bwMode="auto">
          <a:xfrm>
            <a:off x="107950" y="908050"/>
            <a:ext cx="8834438" cy="49688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1946044362"/>
      </p:ext>
    </p:extLst>
  </p:cSld>
  <p:clrMapOvr>
    <a:masterClrMapping/>
  </p:clrMapOvr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458" name="Title 3">
            <a:extLst>
              <a:ext uri="{FF2B5EF4-FFF2-40B4-BE49-F238E27FC236}">
                <a16:creationId xmlns:a16="http://schemas.microsoft.com/office/drawing/2014/main" id="{4BD4F835-D348-2646-AEB4-E754DDADDADF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431925" y="360363"/>
            <a:ext cx="7407275" cy="1471612"/>
          </a:xfrm>
        </p:spPr>
        <p:txBody>
          <a:bodyPr/>
          <a:lstStyle/>
          <a:p>
            <a:pPr eaLnBrk="1" fontAlgn="auto" hangingPunct="1">
              <a:spcAft>
                <a:spcPts val="0"/>
              </a:spcAft>
              <a:defRPr/>
            </a:pPr>
            <a:r>
              <a:rPr lang="en-US">
                <a:solidFill>
                  <a:schemeClr val="tx2">
                    <a:satMod val="130000"/>
                  </a:schemeClr>
                </a:solidFill>
              </a:rPr>
              <a:t>Distribusi Normal</a:t>
            </a:r>
          </a:p>
        </p:txBody>
      </p:sp>
      <p:sp>
        <p:nvSpPr>
          <p:cNvPr id="19459" name="Subtitle 4">
            <a:extLst>
              <a:ext uri="{FF2B5EF4-FFF2-40B4-BE49-F238E27FC236}">
                <a16:creationId xmlns:a16="http://schemas.microsoft.com/office/drawing/2014/main" id="{9C7E0A27-B34F-D348-8D12-52A0BA220A0F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431925" y="1849438"/>
            <a:ext cx="7407275" cy="1752600"/>
          </a:xfrm>
        </p:spPr>
        <p:txBody>
          <a:bodyPr>
            <a:normAutofit/>
          </a:bodyPr>
          <a:lstStyle/>
          <a:p>
            <a:pPr eaLnBrk="1" fontAlgn="auto" hangingPunct="1">
              <a:spcAft>
                <a:spcPts val="0"/>
              </a:spcAft>
              <a:buFont typeface="Wingdings 2"/>
              <a:buNone/>
              <a:defRPr/>
            </a:pPr>
            <a:r>
              <a:rPr lang="en-US"/>
              <a:t>(Distribusi Probabilitas Kontinu)</a:t>
            </a:r>
          </a:p>
        </p:txBody>
      </p:sp>
    </p:spTree>
    <p:extLst>
      <p:ext uri="{BB962C8B-B14F-4D97-AF65-F5344CB8AC3E}">
        <p14:creationId xmlns:p14="http://schemas.microsoft.com/office/powerpoint/2010/main" val="3095589831"/>
      </p:ext>
    </p:extLst>
  </p:cSld>
  <p:clrMapOvr>
    <a:masterClrMapping/>
  </p:clrMapOvr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Title 14">
            <a:extLst>
              <a:ext uri="{FF2B5EF4-FFF2-40B4-BE49-F238E27FC236}">
                <a16:creationId xmlns:a16="http://schemas.microsoft.com/office/drawing/2014/main" id="{EB73B519-3562-994A-9ABA-60E39FC097A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73460" y="1083261"/>
            <a:ext cx="7118984" cy="1245235"/>
          </a:xfrm>
        </p:spPr>
        <p:txBody>
          <a:bodyPr>
            <a:normAutofit/>
          </a:bodyPr>
          <a:lstStyle/>
          <a:p>
            <a:pPr eaLnBrk="1" fontAlgn="auto" hangingPunct="1">
              <a:spcAft>
                <a:spcPts val="0"/>
              </a:spcAft>
              <a:defRPr/>
            </a:pPr>
            <a:r>
              <a:rPr lang="en-US" sz="2800" dirty="0" err="1">
                <a:solidFill>
                  <a:schemeClr val="tx2">
                    <a:satMod val="130000"/>
                  </a:schemeClr>
                </a:solidFill>
              </a:rPr>
              <a:t>Kurva</a:t>
            </a:r>
            <a:r>
              <a:rPr lang="en-US" sz="2800" dirty="0">
                <a:solidFill>
                  <a:schemeClr val="tx2">
                    <a:satMod val="130000"/>
                  </a:schemeClr>
                </a:solidFill>
              </a:rPr>
              <a:t> Normal </a:t>
            </a:r>
            <a:r>
              <a:rPr lang="en-US" sz="2800" dirty="0" err="1">
                <a:solidFill>
                  <a:schemeClr val="tx2">
                    <a:satMod val="130000"/>
                  </a:schemeClr>
                </a:solidFill>
              </a:rPr>
              <a:t>dan</a:t>
            </a:r>
            <a:r>
              <a:rPr lang="en-US" sz="2800" dirty="0">
                <a:solidFill>
                  <a:schemeClr val="tx2">
                    <a:satMod val="130000"/>
                  </a:schemeClr>
                </a:solidFill>
              </a:rPr>
              <a:t> </a:t>
            </a:r>
            <a:r>
              <a:rPr lang="en-US" sz="2800" dirty="0" err="1">
                <a:solidFill>
                  <a:schemeClr val="tx2">
                    <a:satMod val="130000"/>
                  </a:schemeClr>
                </a:solidFill>
              </a:rPr>
              <a:t>Variabel</a:t>
            </a:r>
            <a:r>
              <a:rPr lang="en-US" sz="2800" dirty="0">
                <a:solidFill>
                  <a:schemeClr val="tx2">
                    <a:satMod val="130000"/>
                  </a:schemeClr>
                </a:solidFill>
              </a:rPr>
              <a:t> Random Normal</a:t>
            </a:r>
          </a:p>
        </p:txBody>
      </p:sp>
      <p:sp>
        <p:nvSpPr>
          <p:cNvPr id="33795" name="Rectangle 3">
            <a:extLst>
              <a:ext uri="{FF2B5EF4-FFF2-40B4-BE49-F238E27FC236}">
                <a16:creationId xmlns:a16="http://schemas.microsoft.com/office/drawing/2014/main" id="{6DCCCD2B-CC5F-D645-B1BB-4FB94F5A25D9}"/>
              </a:ext>
            </a:extLst>
          </p:cNvPr>
          <p:cNvSpPr>
            <a:spLocks noGrp="1" noChangeArrowheads="1"/>
          </p:cNvSpPr>
          <p:nvPr>
            <p:ph idx="1"/>
          </p:nvPr>
        </p:nvSpPr>
        <p:spPr>
          <a:xfrm>
            <a:off x="1829306" y="2126488"/>
            <a:ext cx="5790693" cy="1424939"/>
          </a:xfrm>
        </p:spPr>
        <p:txBody>
          <a:bodyPr/>
          <a:lstStyle/>
          <a:p>
            <a:pPr eaLnBrk="1" hangingPunct="1"/>
            <a:r>
              <a:rPr lang="sv-SE" altLang="en-US" sz="2800" dirty="0" err="1"/>
              <a:t>Distribusi</a:t>
            </a:r>
            <a:r>
              <a:rPr lang="sv-SE" altLang="en-US" sz="2800" dirty="0"/>
              <a:t> </a:t>
            </a:r>
            <a:r>
              <a:rPr lang="sv-SE" altLang="en-US" sz="2800" dirty="0" err="1"/>
              <a:t>probabilitas</a:t>
            </a:r>
            <a:r>
              <a:rPr lang="sv-SE" altLang="en-US" sz="2800" dirty="0"/>
              <a:t> </a:t>
            </a:r>
            <a:r>
              <a:rPr lang="sv-SE" altLang="en-US" sz="2800" dirty="0" err="1"/>
              <a:t>kontinu</a:t>
            </a:r>
            <a:r>
              <a:rPr lang="sv-SE" altLang="en-US" sz="2800" dirty="0"/>
              <a:t> yang </a:t>
            </a:r>
            <a:r>
              <a:rPr lang="sv-SE" altLang="en-US" sz="2800" dirty="0" err="1"/>
              <a:t>terpenting</a:t>
            </a:r>
            <a:r>
              <a:rPr lang="sv-SE" altLang="en-US" sz="2800" dirty="0"/>
              <a:t> </a:t>
            </a:r>
            <a:r>
              <a:rPr lang="sv-SE" altLang="en-US" sz="2800" dirty="0" err="1"/>
              <a:t>adalah</a:t>
            </a:r>
            <a:r>
              <a:rPr lang="sv-SE" altLang="en-US" sz="2800" dirty="0"/>
              <a:t> </a:t>
            </a:r>
            <a:r>
              <a:rPr lang="sv-SE" altLang="en-US" sz="2800" dirty="0" err="1"/>
              <a:t>distribusi</a:t>
            </a:r>
            <a:r>
              <a:rPr lang="sv-SE" altLang="en-US" sz="2800" dirty="0"/>
              <a:t> normal dan grafiknya </a:t>
            </a:r>
            <a:r>
              <a:rPr lang="sv-SE" altLang="en-US" sz="2800" dirty="0" err="1"/>
              <a:t>disebut</a:t>
            </a:r>
            <a:r>
              <a:rPr lang="sv-SE" altLang="en-US" sz="2800" dirty="0"/>
              <a:t> </a:t>
            </a:r>
            <a:r>
              <a:rPr lang="sv-SE" altLang="en-US" sz="2800" b="1" dirty="0">
                <a:solidFill>
                  <a:srgbClr val="FFC000"/>
                </a:solidFill>
              </a:rPr>
              <a:t>kurva normal</a:t>
            </a:r>
            <a:r>
              <a:rPr lang="sv-SE" altLang="en-US" sz="2800" dirty="0"/>
              <a:t>. </a:t>
            </a:r>
          </a:p>
          <a:p>
            <a:pPr eaLnBrk="1" hangingPunct="1"/>
            <a:r>
              <a:rPr lang="sv-SE" altLang="en-US" sz="2800" dirty="0"/>
              <a:t>Variabel </a:t>
            </a:r>
            <a:r>
              <a:rPr lang="sv-SE" altLang="en-US" sz="2800" dirty="0" err="1"/>
              <a:t>random</a:t>
            </a:r>
            <a:r>
              <a:rPr lang="sv-SE" altLang="en-US" sz="2800" dirty="0"/>
              <a:t> X yang </a:t>
            </a:r>
            <a:r>
              <a:rPr lang="sv-SE" altLang="en-US" sz="2800" dirty="0" err="1"/>
              <a:t>distribusinya</a:t>
            </a:r>
            <a:r>
              <a:rPr lang="sv-SE" altLang="en-US" sz="2800" dirty="0"/>
              <a:t> </a:t>
            </a:r>
            <a:r>
              <a:rPr lang="sv-SE" altLang="en-US" sz="2800" dirty="0" err="1"/>
              <a:t>berbentuk</a:t>
            </a:r>
            <a:r>
              <a:rPr lang="sv-SE" altLang="en-US" sz="2800" dirty="0"/>
              <a:t> </a:t>
            </a:r>
            <a:r>
              <a:rPr lang="sv-SE" altLang="en-US" sz="2800" dirty="0" err="1"/>
              <a:t>seperti</a:t>
            </a:r>
            <a:r>
              <a:rPr lang="sv-SE" altLang="en-US" sz="2800" dirty="0"/>
              <a:t> </a:t>
            </a:r>
            <a:r>
              <a:rPr lang="sv-SE" altLang="en-US" sz="2800" dirty="0" err="1"/>
              <a:t>lonceng</a:t>
            </a:r>
            <a:r>
              <a:rPr lang="sv-SE" altLang="en-US" sz="2800" dirty="0"/>
              <a:t> </a:t>
            </a:r>
            <a:r>
              <a:rPr lang="sv-SE" altLang="en-US" sz="2800" dirty="0" err="1"/>
              <a:t>disebut</a:t>
            </a:r>
            <a:r>
              <a:rPr lang="sv-SE" altLang="en-US" sz="2800" dirty="0"/>
              <a:t> </a:t>
            </a:r>
            <a:r>
              <a:rPr lang="sv-SE" altLang="en-US" sz="2800" b="1" dirty="0">
                <a:solidFill>
                  <a:srgbClr val="FFC000"/>
                </a:solidFill>
              </a:rPr>
              <a:t>variabel </a:t>
            </a:r>
            <a:r>
              <a:rPr lang="sv-SE" altLang="en-US" sz="2800" b="1" dirty="0" err="1">
                <a:solidFill>
                  <a:srgbClr val="FFC000"/>
                </a:solidFill>
              </a:rPr>
              <a:t>random</a:t>
            </a:r>
            <a:r>
              <a:rPr lang="sv-SE" altLang="en-US" sz="2800" b="1" dirty="0">
                <a:solidFill>
                  <a:srgbClr val="FFC000"/>
                </a:solidFill>
              </a:rPr>
              <a:t> normal</a:t>
            </a:r>
            <a:r>
              <a:rPr lang="sv-SE" altLang="en-US" sz="2800" dirty="0">
                <a:solidFill>
                  <a:srgbClr val="FFC000"/>
                </a:solidFill>
              </a:rPr>
              <a:t>.</a:t>
            </a:r>
            <a:endParaRPr lang="id-ID" altLang="en-US" sz="2800" dirty="0">
              <a:solidFill>
                <a:srgbClr val="FFC000"/>
              </a:solidFill>
            </a:endParaRPr>
          </a:p>
        </p:txBody>
      </p:sp>
      <p:grpSp>
        <p:nvGrpSpPr>
          <p:cNvPr id="33796" name="Group 16">
            <a:extLst>
              <a:ext uri="{FF2B5EF4-FFF2-40B4-BE49-F238E27FC236}">
                <a16:creationId xmlns:a16="http://schemas.microsoft.com/office/drawing/2014/main" id="{E33C0244-5C78-DE43-A50E-C3E630D0DB8B}"/>
              </a:ext>
            </a:extLst>
          </p:cNvPr>
          <p:cNvGrpSpPr>
            <a:grpSpLocks/>
          </p:cNvGrpSpPr>
          <p:nvPr/>
        </p:nvGrpSpPr>
        <p:grpSpPr bwMode="auto">
          <a:xfrm>
            <a:off x="2000250" y="3929063"/>
            <a:ext cx="5184775" cy="2592387"/>
            <a:chOff x="1202" y="2387"/>
            <a:chExt cx="3266" cy="1633"/>
          </a:xfrm>
        </p:grpSpPr>
        <p:sp>
          <p:nvSpPr>
            <p:cNvPr id="33797" name="Text Box 5">
              <a:extLst>
                <a:ext uri="{FF2B5EF4-FFF2-40B4-BE49-F238E27FC236}">
                  <a16:creationId xmlns:a16="http://schemas.microsoft.com/office/drawing/2014/main" id="{4B28355A-7AE0-E44C-946A-63F9D2BA55B7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2358" y="3328"/>
              <a:ext cx="204" cy="23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lIns="0" tIns="0" rIns="0" bIns="0"/>
            <a:lstStyle>
              <a:lvl1pPr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algn="ctr" eaLnBrk="1" hangingPunct="1"/>
              <a:r>
                <a:rPr lang="id-ID" altLang="en-US">
                  <a:solidFill>
                    <a:srgbClr val="000000"/>
                  </a:solidFill>
                  <a:latin typeface="Tahoma" panose="020B0604030504040204" pitchFamily="34" charset="0"/>
                  <a:sym typeface="Symbol" pitchFamily="2" charset="2"/>
                </a:rPr>
                <a:t></a:t>
              </a:r>
              <a:endParaRPr lang="id-ID" altLang="en-US">
                <a:solidFill>
                  <a:srgbClr val="000000"/>
                </a:solidFill>
                <a:latin typeface="Tahoma" panose="020B0604030504040204" pitchFamily="34" charset="0"/>
              </a:endParaRPr>
            </a:p>
          </p:txBody>
        </p:sp>
        <p:sp>
          <p:nvSpPr>
            <p:cNvPr id="33798" name="Text Box 6">
              <a:extLst>
                <a:ext uri="{FF2B5EF4-FFF2-40B4-BE49-F238E27FC236}">
                  <a16:creationId xmlns:a16="http://schemas.microsoft.com/office/drawing/2014/main" id="{C81AEE70-49C2-AB46-9C48-AF99BA57C0B8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4264" y="3714"/>
              <a:ext cx="204" cy="229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lIns="0" tIns="0" rIns="0" bIns="0"/>
            <a:lstStyle>
              <a:lvl1pPr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algn="ctr" eaLnBrk="1" hangingPunct="1"/>
              <a:r>
                <a:rPr lang="id-ID" altLang="en-US">
                  <a:latin typeface="Tahoma" panose="020B0604030504040204" pitchFamily="34" charset="0"/>
                </a:rPr>
                <a:t>x</a:t>
              </a:r>
            </a:p>
          </p:txBody>
        </p:sp>
        <p:sp>
          <p:nvSpPr>
            <p:cNvPr id="33799" name="Text Box 7">
              <a:extLst>
                <a:ext uri="{FF2B5EF4-FFF2-40B4-BE49-F238E27FC236}">
                  <a16:creationId xmlns:a16="http://schemas.microsoft.com/office/drawing/2014/main" id="{9082423E-5806-FA4A-B42C-AA586ADB64EF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2724" y="3733"/>
              <a:ext cx="204" cy="287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lIns="0" tIns="0" rIns="0" bIns="0"/>
            <a:lstStyle>
              <a:lvl1pPr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algn="ctr" eaLnBrk="1" hangingPunct="1"/>
              <a:r>
                <a:rPr lang="id-ID" altLang="en-US">
                  <a:latin typeface="Tahoma" panose="020B0604030504040204" pitchFamily="34" charset="0"/>
                  <a:sym typeface="Symbol" pitchFamily="2" charset="2"/>
                </a:rPr>
                <a:t></a:t>
              </a:r>
              <a:endParaRPr lang="id-ID" altLang="en-US">
                <a:latin typeface="Tahoma" panose="020B0604030504040204" pitchFamily="34" charset="0"/>
              </a:endParaRPr>
            </a:p>
          </p:txBody>
        </p:sp>
        <p:grpSp>
          <p:nvGrpSpPr>
            <p:cNvPr id="33800" name="Group 8">
              <a:extLst>
                <a:ext uri="{FF2B5EF4-FFF2-40B4-BE49-F238E27FC236}">
                  <a16:creationId xmlns:a16="http://schemas.microsoft.com/office/drawing/2014/main" id="{4C4983A7-EF5A-B844-B996-E9A20004C3D9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1202" y="2387"/>
              <a:ext cx="3262" cy="1379"/>
              <a:chOff x="4496" y="8879"/>
              <a:chExt cx="3024" cy="1637"/>
            </a:xfrm>
          </p:grpSpPr>
          <p:sp>
            <p:nvSpPr>
              <p:cNvPr id="33805" name="Line 9">
                <a:extLst>
                  <a:ext uri="{FF2B5EF4-FFF2-40B4-BE49-F238E27FC236}">
                    <a16:creationId xmlns:a16="http://schemas.microsoft.com/office/drawing/2014/main" id="{77AB2D0C-D3BF-8741-8E84-6AB8C4053BAA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5975" y="8932"/>
                <a:ext cx="0" cy="1584"/>
              </a:xfrm>
              <a:prstGeom prst="line">
                <a:avLst/>
              </a:prstGeom>
              <a:noFill/>
              <a:ln w="3175" cap="rnd">
                <a:solidFill>
                  <a:srgbClr val="000000"/>
                </a:solidFill>
                <a:prstDash val="sysDot"/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33806" name="Line 10">
                <a:extLst>
                  <a:ext uri="{FF2B5EF4-FFF2-40B4-BE49-F238E27FC236}">
                    <a16:creationId xmlns:a16="http://schemas.microsoft.com/office/drawing/2014/main" id="{707CA71E-8D92-9B4A-A2DB-457EEF0C35A0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4496" y="10503"/>
                <a:ext cx="3024" cy="0"/>
              </a:xfrm>
              <a:prstGeom prst="line">
                <a:avLst/>
              </a:prstGeom>
              <a:noFill/>
              <a:ln w="3175">
                <a:solidFill>
                  <a:srgbClr val="000000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33807" name="Freeform 11">
                <a:extLst>
                  <a:ext uri="{FF2B5EF4-FFF2-40B4-BE49-F238E27FC236}">
                    <a16:creationId xmlns:a16="http://schemas.microsoft.com/office/drawing/2014/main" id="{4CE08143-14CF-E24E-8DB7-05C4F494EADA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4710" y="8879"/>
                <a:ext cx="2370" cy="1576"/>
              </a:xfrm>
              <a:custGeom>
                <a:avLst/>
                <a:gdLst>
                  <a:gd name="T0" fmla="*/ 0 w 2370"/>
                  <a:gd name="T1" fmla="*/ 1576 h 1576"/>
                  <a:gd name="T2" fmla="*/ 300 w 2370"/>
                  <a:gd name="T3" fmla="*/ 1516 h 1576"/>
                  <a:gd name="T4" fmla="*/ 510 w 2370"/>
                  <a:gd name="T5" fmla="*/ 1366 h 1576"/>
                  <a:gd name="T6" fmla="*/ 615 w 2370"/>
                  <a:gd name="T7" fmla="*/ 1201 h 1576"/>
                  <a:gd name="T8" fmla="*/ 720 w 2370"/>
                  <a:gd name="T9" fmla="*/ 1021 h 1576"/>
                  <a:gd name="T10" fmla="*/ 780 w 2370"/>
                  <a:gd name="T11" fmla="*/ 841 h 1576"/>
                  <a:gd name="T12" fmla="*/ 870 w 2370"/>
                  <a:gd name="T13" fmla="*/ 646 h 1576"/>
                  <a:gd name="T14" fmla="*/ 925 w 2370"/>
                  <a:gd name="T15" fmla="*/ 450 h 1576"/>
                  <a:gd name="T16" fmla="*/ 1005 w 2370"/>
                  <a:gd name="T17" fmla="*/ 256 h 1576"/>
                  <a:gd name="T18" fmla="*/ 1088 w 2370"/>
                  <a:gd name="T19" fmla="*/ 112 h 1576"/>
                  <a:gd name="T20" fmla="*/ 1163 w 2370"/>
                  <a:gd name="T21" fmla="*/ 36 h 1576"/>
                  <a:gd name="T22" fmla="*/ 1260 w 2370"/>
                  <a:gd name="T23" fmla="*/ 1 h 1576"/>
                  <a:gd name="T24" fmla="*/ 1365 w 2370"/>
                  <a:gd name="T25" fmla="*/ 31 h 1576"/>
                  <a:gd name="T26" fmla="*/ 1440 w 2370"/>
                  <a:gd name="T27" fmla="*/ 121 h 1576"/>
                  <a:gd name="T28" fmla="*/ 1530 w 2370"/>
                  <a:gd name="T29" fmla="*/ 226 h 1576"/>
                  <a:gd name="T30" fmla="*/ 1590 w 2370"/>
                  <a:gd name="T31" fmla="*/ 376 h 1576"/>
                  <a:gd name="T32" fmla="*/ 1665 w 2370"/>
                  <a:gd name="T33" fmla="*/ 586 h 1576"/>
                  <a:gd name="T34" fmla="*/ 1740 w 2370"/>
                  <a:gd name="T35" fmla="*/ 811 h 1576"/>
                  <a:gd name="T36" fmla="*/ 1830 w 2370"/>
                  <a:gd name="T37" fmla="*/ 1081 h 1576"/>
                  <a:gd name="T38" fmla="*/ 1935 w 2370"/>
                  <a:gd name="T39" fmla="*/ 1276 h 1576"/>
                  <a:gd name="T40" fmla="*/ 2085 w 2370"/>
                  <a:gd name="T41" fmla="*/ 1456 h 1576"/>
                  <a:gd name="T42" fmla="*/ 2370 w 2370"/>
                  <a:gd name="T43" fmla="*/ 1576 h 1576"/>
                  <a:gd name="T44" fmla="*/ 0 60000 65536"/>
                  <a:gd name="T45" fmla="*/ 0 60000 65536"/>
                  <a:gd name="T46" fmla="*/ 0 60000 65536"/>
                  <a:gd name="T47" fmla="*/ 0 60000 65536"/>
                  <a:gd name="T48" fmla="*/ 0 60000 65536"/>
                  <a:gd name="T49" fmla="*/ 0 60000 65536"/>
                  <a:gd name="T50" fmla="*/ 0 60000 65536"/>
                  <a:gd name="T51" fmla="*/ 0 60000 65536"/>
                  <a:gd name="T52" fmla="*/ 0 60000 65536"/>
                  <a:gd name="T53" fmla="*/ 0 60000 65536"/>
                  <a:gd name="T54" fmla="*/ 0 60000 65536"/>
                  <a:gd name="T55" fmla="*/ 0 60000 65536"/>
                  <a:gd name="T56" fmla="*/ 0 60000 65536"/>
                  <a:gd name="T57" fmla="*/ 0 60000 65536"/>
                  <a:gd name="T58" fmla="*/ 0 60000 65536"/>
                  <a:gd name="T59" fmla="*/ 0 60000 65536"/>
                  <a:gd name="T60" fmla="*/ 0 60000 65536"/>
                  <a:gd name="T61" fmla="*/ 0 60000 65536"/>
                  <a:gd name="T62" fmla="*/ 0 60000 65536"/>
                  <a:gd name="T63" fmla="*/ 0 60000 65536"/>
                  <a:gd name="T64" fmla="*/ 0 60000 65536"/>
                  <a:gd name="T65" fmla="*/ 0 60000 65536"/>
                  <a:gd name="T66" fmla="*/ 0 w 2370"/>
                  <a:gd name="T67" fmla="*/ 0 h 1576"/>
                  <a:gd name="T68" fmla="*/ 2370 w 2370"/>
                  <a:gd name="T69" fmla="*/ 1576 h 1576"/>
                </a:gdLst>
                <a:ahLst/>
                <a:cxnLst>
                  <a:cxn ang="T44">
                    <a:pos x="T0" y="T1"/>
                  </a:cxn>
                  <a:cxn ang="T45">
                    <a:pos x="T2" y="T3"/>
                  </a:cxn>
                  <a:cxn ang="T46">
                    <a:pos x="T4" y="T5"/>
                  </a:cxn>
                  <a:cxn ang="T47">
                    <a:pos x="T6" y="T7"/>
                  </a:cxn>
                  <a:cxn ang="T48">
                    <a:pos x="T8" y="T9"/>
                  </a:cxn>
                  <a:cxn ang="T49">
                    <a:pos x="T10" y="T11"/>
                  </a:cxn>
                  <a:cxn ang="T50">
                    <a:pos x="T12" y="T13"/>
                  </a:cxn>
                  <a:cxn ang="T51">
                    <a:pos x="T14" y="T15"/>
                  </a:cxn>
                  <a:cxn ang="T52">
                    <a:pos x="T16" y="T17"/>
                  </a:cxn>
                  <a:cxn ang="T53">
                    <a:pos x="T18" y="T19"/>
                  </a:cxn>
                  <a:cxn ang="T54">
                    <a:pos x="T20" y="T21"/>
                  </a:cxn>
                  <a:cxn ang="T55">
                    <a:pos x="T22" y="T23"/>
                  </a:cxn>
                  <a:cxn ang="T56">
                    <a:pos x="T24" y="T25"/>
                  </a:cxn>
                  <a:cxn ang="T57">
                    <a:pos x="T26" y="T27"/>
                  </a:cxn>
                  <a:cxn ang="T58">
                    <a:pos x="T28" y="T29"/>
                  </a:cxn>
                  <a:cxn ang="T59">
                    <a:pos x="T30" y="T31"/>
                  </a:cxn>
                  <a:cxn ang="T60">
                    <a:pos x="T32" y="T33"/>
                  </a:cxn>
                  <a:cxn ang="T61">
                    <a:pos x="T34" y="T35"/>
                  </a:cxn>
                  <a:cxn ang="T62">
                    <a:pos x="T36" y="T37"/>
                  </a:cxn>
                  <a:cxn ang="T63">
                    <a:pos x="T38" y="T39"/>
                  </a:cxn>
                  <a:cxn ang="T64">
                    <a:pos x="T40" y="T41"/>
                  </a:cxn>
                  <a:cxn ang="T65">
                    <a:pos x="T42" y="T43"/>
                  </a:cxn>
                </a:cxnLst>
                <a:rect l="T66" t="T67" r="T68" b="T69"/>
                <a:pathLst>
                  <a:path w="2370" h="1576">
                    <a:moveTo>
                      <a:pt x="0" y="1576"/>
                    </a:moveTo>
                    <a:cubicBezTo>
                      <a:pt x="50" y="1566"/>
                      <a:pt x="215" y="1551"/>
                      <a:pt x="300" y="1516"/>
                    </a:cubicBezTo>
                    <a:cubicBezTo>
                      <a:pt x="385" y="1481"/>
                      <a:pt x="458" y="1418"/>
                      <a:pt x="510" y="1366"/>
                    </a:cubicBezTo>
                    <a:cubicBezTo>
                      <a:pt x="562" y="1314"/>
                      <a:pt x="580" y="1259"/>
                      <a:pt x="615" y="1201"/>
                    </a:cubicBezTo>
                    <a:cubicBezTo>
                      <a:pt x="650" y="1143"/>
                      <a:pt x="692" y="1081"/>
                      <a:pt x="720" y="1021"/>
                    </a:cubicBezTo>
                    <a:cubicBezTo>
                      <a:pt x="748" y="961"/>
                      <a:pt x="755" y="904"/>
                      <a:pt x="780" y="841"/>
                    </a:cubicBezTo>
                    <a:cubicBezTo>
                      <a:pt x="805" y="778"/>
                      <a:pt x="846" y="711"/>
                      <a:pt x="870" y="646"/>
                    </a:cubicBezTo>
                    <a:cubicBezTo>
                      <a:pt x="894" y="581"/>
                      <a:pt x="903" y="515"/>
                      <a:pt x="925" y="450"/>
                    </a:cubicBezTo>
                    <a:cubicBezTo>
                      <a:pt x="947" y="385"/>
                      <a:pt x="978" y="312"/>
                      <a:pt x="1005" y="256"/>
                    </a:cubicBezTo>
                    <a:cubicBezTo>
                      <a:pt x="1032" y="200"/>
                      <a:pt x="1062" y="149"/>
                      <a:pt x="1088" y="112"/>
                    </a:cubicBezTo>
                    <a:cubicBezTo>
                      <a:pt x="1114" y="75"/>
                      <a:pt x="1134" y="55"/>
                      <a:pt x="1163" y="36"/>
                    </a:cubicBezTo>
                    <a:cubicBezTo>
                      <a:pt x="1192" y="17"/>
                      <a:pt x="1226" y="2"/>
                      <a:pt x="1260" y="1"/>
                    </a:cubicBezTo>
                    <a:cubicBezTo>
                      <a:pt x="1294" y="0"/>
                      <a:pt x="1335" y="11"/>
                      <a:pt x="1365" y="31"/>
                    </a:cubicBezTo>
                    <a:cubicBezTo>
                      <a:pt x="1395" y="51"/>
                      <a:pt x="1413" y="89"/>
                      <a:pt x="1440" y="121"/>
                    </a:cubicBezTo>
                    <a:cubicBezTo>
                      <a:pt x="1467" y="153"/>
                      <a:pt x="1505" y="183"/>
                      <a:pt x="1530" y="226"/>
                    </a:cubicBezTo>
                    <a:cubicBezTo>
                      <a:pt x="1555" y="269"/>
                      <a:pt x="1568" y="316"/>
                      <a:pt x="1590" y="376"/>
                    </a:cubicBezTo>
                    <a:cubicBezTo>
                      <a:pt x="1612" y="436"/>
                      <a:pt x="1640" y="514"/>
                      <a:pt x="1665" y="586"/>
                    </a:cubicBezTo>
                    <a:cubicBezTo>
                      <a:pt x="1690" y="658"/>
                      <a:pt x="1713" y="729"/>
                      <a:pt x="1740" y="811"/>
                    </a:cubicBezTo>
                    <a:cubicBezTo>
                      <a:pt x="1767" y="893"/>
                      <a:pt x="1798" y="1004"/>
                      <a:pt x="1830" y="1081"/>
                    </a:cubicBezTo>
                    <a:cubicBezTo>
                      <a:pt x="1862" y="1158"/>
                      <a:pt x="1892" y="1213"/>
                      <a:pt x="1935" y="1276"/>
                    </a:cubicBezTo>
                    <a:cubicBezTo>
                      <a:pt x="1978" y="1339"/>
                      <a:pt x="2012" y="1406"/>
                      <a:pt x="2085" y="1456"/>
                    </a:cubicBezTo>
                    <a:cubicBezTo>
                      <a:pt x="2158" y="1506"/>
                      <a:pt x="2311" y="1551"/>
                      <a:pt x="2370" y="1576"/>
                    </a:cubicBezTo>
                  </a:path>
                </a:pathLst>
              </a:custGeom>
              <a:solidFill>
                <a:srgbClr val="00B0F0"/>
              </a:solidFill>
              <a:ln w="19050">
                <a:solidFill>
                  <a:srgbClr val="000000"/>
                </a:solidFill>
                <a:round/>
                <a:headEnd/>
                <a:tailEnd/>
              </a:ln>
            </p:spPr>
            <p:txBody>
              <a:bodyPr/>
              <a:lstStyle/>
              <a:p>
                <a:endParaRPr lang="en-US"/>
              </a:p>
            </p:txBody>
          </p:sp>
        </p:grpSp>
        <p:sp>
          <p:nvSpPr>
            <p:cNvPr id="33801" name="Line 12">
              <a:extLst>
                <a:ext uri="{FF2B5EF4-FFF2-40B4-BE49-F238E27FC236}">
                  <a16:creationId xmlns:a16="http://schemas.microsoft.com/office/drawing/2014/main" id="{935A59AB-1834-6748-9599-DBAF8110FA7C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1951" y="3547"/>
              <a:ext cx="1658" cy="0"/>
            </a:xfrm>
            <a:prstGeom prst="line">
              <a:avLst/>
            </a:prstGeom>
            <a:noFill/>
            <a:ln w="9525">
              <a:solidFill>
                <a:srgbClr val="000000"/>
              </a:solidFill>
              <a:round/>
              <a:headEnd type="arrow" w="med" len="med"/>
              <a:tailEnd type="arrow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33802" name="Text Box 13">
              <a:extLst>
                <a:ext uri="{FF2B5EF4-FFF2-40B4-BE49-F238E27FC236}">
                  <a16:creationId xmlns:a16="http://schemas.microsoft.com/office/drawing/2014/main" id="{F7D88D48-DED3-6E4D-856A-28759A1142C5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3038" y="3329"/>
              <a:ext cx="272" cy="23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lIns="0" tIns="0" rIns="0" bIns="0"/>
            <a:lstStyle>
              <a:lvl1pPr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algn="ctr" eaLnBrk="1" hangingPunct="1"/>
              <a:r>
                <a:rPr lang="id-ID" altLang="en-US">
                  <a:solidFill>
                    <a:srgbClr val="000000"/>
                  </a:solidFill>
                  <a:latin typeface="Tahoma" panose="020B0604030504040204" pitchFamily="34" charset="0"/>
                  <a:sym typeface="Symbol" pitchFamily="2" charset="2"/>
                </a:rPr>
                <a:t></a:t>
              </a:r>
              <a:endParaRPr lang="id-ID" altLang="en-US">
                <a:solidFill>
                  <a:srgbClr val="000000"/>
                </a:solidFill>
                <a:latin typeface="Tahoma" panose="020B0604030504040204" pitchFamily="34" charset="0"/>
              </a:endParaRPr>
            </a:p>
          </p:txBody>
        </p:sp>
        <p:sp>
          <p:nvSpPr>
            <p:cNvPr id="33803" name="Text Box 14">
              <a:extLst>
                <a:ext uri="{FF2B5EF4-FFF2-40B4-BE49-F238E27FC236}">
                  <a16:creationId xmlns:a16="http://schemas.microsoft.com/office/drawing/2014/main" id="{D4907A7F-DA86-BD4D-99DF-786F3C73F345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2400" y="3360"/>
              <a:ext cx="272" cy="23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lIns="0" tIns="0" rIns="0" bIns="0"/>
            <a:lstStyle>
              <a:lvl1pPr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algn="ctr" eaLnBrk="1" hangingPunct="1"/>
              <a:r>
                <a:rPr lang="id-ID" altLang="en-US">
                  <a:solidFill>
                    <a:srgbClr val="000000"/>
                  </a:solidFill>
                  <a:latin typeface="Tahoma" panose="020B0604030504040204" pitchFamily="34" charset="0"/>
                  <a:sym typeface="Symbol" pitchFamily="2" charset="2"/>
                </a:rPr>
                <a:t></a:t>
              </a:r>
              <a:endParaRPr lang="id-ID" altLang="en-US">
                <a:solidFill>
                  <a:srgbClr val="000000"/>
                </a:solidFill>
                <a:latin typeface="Tahoma" panose="020B0604030504040204" pitchFamily="34" charset="0"/>
              </a:endParaRPr>
            </a:p>
          </p:txBody>
        </p:sp>
        <p:sp>
          <p:nvSpPr>
            <p:cNvPr id="33804" name="Line 15">
              <a:extLst>
                <a:ext uri="{FF2B5EF4-FFF2-40B4-BE49-F238E27FC236}">
                  <a16:creationId xmlns:a16="http://schemas.microsoft.com/office/drawing/2014/main" id="{609DA443-9FCB-0749-BB3E-653678FA55B7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2784" y="2400"/>
              <a:ext cx="0" cy="1344"/>
            </a:xfrm>
            <a:prstGeom prst="line">
              <a:avLst/>
            </a:prstGeom>
            <a:noFill/>
            <a:ln w="9525">
              <a:solidFill>
                <a:srgbClr val="000000"/>
              </a:solidFill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/>
            <a:lstStyle/>
            <a:p>
              <a:endParaRPr lang="en-US"/>
            </a:p>
          </p:txBody>
        </p:sp>
      </p:grpSp>
    </p:spTree>
    <p:extLst>
      <p:ext uri="{BB962C8B-B14F-4D97-AF65-F5344CB8AC3E}">
        <p14:creationId xmlns:p14="http://schemas.microsoft.com/office/powerpoint/2010/main" val="1590509152"/>
      </p:ext>
    </p:extLst>
  </p:cSld>
  <p:clrMapOvr>
    <a:masterClrMapping/>
  </p:clrMapOvr>
</p:sld>
</file>

<file path=ppt/slides/slide4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49" name="Rectangle 2">
            <a:extLst>
              <a:ext uri="{FF2B5EF4-FFF2-40B4-BE49-F238E27FC236}">
                <a16:creationId xmlns:a16="http://schemas.microsoft.com/office/drawing/2014/main" id="{DE9762D8-9E12-7F4A-A520-37E229498F71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1214438" y="642938"/>
            <a:ext cx="7696200" cy="914400"/>
          </a:xfrm>
        </p:spPr>
        <p:txBody>
          <a:bodyPr/>
          <a:lstStyle/>
          <a:p>
            <a:pPr eaLnBrk="1" fontAlgn="auto" hangingPunct="1">
              <a:spcAft>
                <a:spcPts val="0"/>
              </a:spcAft>
              <a:defRPr/>
            </a:pPr>
            <a:r>
              <a:rPr lang="sv-SE" dirty="0">
                <a:solidFill>
                  <a:schemeClr val="tx2">
                    <a:satMod val="130000"/>
                  </a:schemeClr>
                </a:solidFill>
              </a:rPr>
              <a:t>Sifat kurva normal, yaitu :</a:t>
            </a:r>
            <a:endParaRPr lang="id-ID" dirty="0">
              <a:solidFill>
                <a:schemeClr val="tx2">
                  <a:satMod val="130000"/>
                </a:schemeClr>
              </a:solidFill>
            </a:endParaRPr>
          </a:p>
        </p:txBody>
      </p:sp>
      <p:sp>
        <p:nvSpPr>
          <p:cNvPr id="4102" name="Rectangle 3">
            <a:extLst>
              <a:ext uri="{FF2B5EF4-FFF2-40B4-BE49-F238E27FC236}">
                <a16:creationId xmlns:a16="http://schemas.microsoft.com/office/drawing/2014/main" id="{5B2B78E8-6949-B34C-802A-2149FB73587E}"/>
              </a:ext>
            </a:extLst>
          </p:cNvPr>
          <p:cNvSpPr>
            <a:spLocks noGrp="1" noChangeArrowheads="1"/>
          </p:cNvSpPr>
          <p:nvPr>
            <p:ph type="body" sz="half" idx="1"/>
          </p:nvPr>
        </p:nvSpPr>
        <p:spPr>
          <a:xfrm>
            <a:off x="1285875" y="1981200"/>
            <a:ext cx="7462838" cy="4114800"/>
          </a:xfrm>
        </p:spPr>
        <p:txBody>
          <a:bodyPr/>
          <a:lstStyle/>
          <a:p>
            <a:pPr marL="609600" indent="-609600" eaLnBrk="1" hangingPunct="1"/>
            <a:r>
              <a:rPr lang="en-US" altLang="en-US" sz="2800"/>
              <a:t>Kurva mencapai maksimum pada</a:t>
            </a:r>
            <a:endParaRPr lang="sv-SE" altLang="en-US" sz="2800"/>
          </a:p>
          <a:p>
            <a:pPr marL="609600" indent="-609600" eaLnBrk="1" hangingPunct="1"/>
            <a:r>
              <a:rPr lang="sv-SE" altLang="en-US" sz="2800"/>
              <a:t>Kurva setangkup terhadap garis tegak yang melalui </a:t>
            </a:r>
          </a:p>
          <a:p>
            <a:pPr marL="609600" indent="-609600" eaLnBrk="1" hangingPunct="1"/>
            <a:r>
              <a:rPr lang="sv-SE" altLang="en-US" sz="2800"/>
              <a:t>Kurva mempunyai titik belok pada </a:t>
            </a:r>
          </a:p>
          <a:p>
            <a:pPr marL="609600" indent="-609600" eaLnBrk="1" hangingPunct="1"/>
            <a:r>
              <a:rPr lang="sv-SE" altLang="en-US" sz="2800"/>
              <a:t>Sumbu x merupakan asimtot dari kurva normal</a:t>
            </a:r>
          </a:p>
          <a:p>
            <a:pPr marL="609600" indent="-609600" eaLnBrk="1" hangingPunct="1"/>
            <a:r>
              <a:rPr lang="sv-SE" altLang="en-US" sz="2800"/>
              <a:t>Seluruh luas di bawah kurva, di atas sumbu x adalah 1</a:t>
            </a:r>
            <a:endParaRPr lang="id-ID" altLang="en-US" sz="2800"/>
          </a:p>
        </p:txBody>
      </p:sp>
      <p:graphicFrame>
        <p:nvGraphicFramePr>
          <p:cNvPr id="4098" name="Object 6" descr="Stationery">
            <a:extLst>
              <a:ext uri="{FF2B5EF4-FFF2-40B4-BE49-F238E27FC236}">
                <a16:creationId xmlns:a16="http://schemas.microsoft.com/office/drawing/2014/main" id="{0B57DAEF-1648-D749-BB72-F6466993E2CE}"/>
              </a:ext>
            </a:extLst>
          </p:cNvPr>
          <p:cNvGraphicFramePr>
            <a:graphicFrameLocks noChangeAspect="1"/>
          </p:cNvGraphicFramePr>
          <p:nvPr>
            <p:ph sz="half" idx="2"/>
          </p:nvPr>
        </p:nvGraphicFramePr>
        <p:xfrm>
          <a:off x="3143250" y="3000375"/>
          <a:ext cx="942975" cy="42227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5601" name="Equation" r:id="rId3" imgW="8483600" imgH="3797300" progId="Equation.3">
                  <p:embed/>
                </p:oleObj>
              </mc:Choice>
              <mc:Fallback>
                <p:oleObj name="Equation" r:id="rId3" imgW="8483600" imgH="3797300" progId="Equation.3">
                  <p:embed/>
                  <p:pic>
                    <p:nvPicPr>
                      <p:cNvPr id="4098" name="Object 6" descr="Stationery">
                        <a:extLst>
                          <a:ext uri="{FF2B5EF4-FFF2-40B4-BE49-F238E27FC236}">
                            <a16:creationId xmlns:a16="http://schemas.microsoft.com/office/drawing/2014/main" id="{0B57DAEF-1648-D749-BB72-F6466993E2CE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143250" y="3000375"/>
                        <a:ext cx="942975" cy="422275"/>
                      </a:xfrm>
                      <a:prstGeom prst="rect">
                        <a:avLst/>
                      </a:prstGeom>
                      <a:blipFill dpi="0" rotWithShape="0">
                        <a:blip r:embed="rId5"/>
                        <a:srcRect/>
                        <a:tile tx="0" ty="0" sx="100000" sy="100000" flip="none" algn="tl"/>
                      </a:blipFill>
                      <a:ln>
                        <a:noFill/>
                      </a:ln>
                      <a:effectLst/>
                      <a:extLs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4103" name="Rectangle 5">
            <a:extLst>
              <a:ext uri="{FF2B5EF4-FFF2-40B4-BE49-F238E27FC236}">
                <a16:creationId xmlns:a16="http://schemas.microsoft.com/office/drawing/2014/main" id="{D3396598-209D-EB48-99F9-51A501839D0A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0"/>
            <a:ext cx="9144000" cy="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endParaRPr lang="en-US" altLang="en-US"/>
          </a:p>
        </p:txBody>
      </p:sp>
      <p:graphicFrame>
        <p:nvGraphicFramePr>
          <p:cNvPr id="4099" name="Object 4" descr="Stationery">
            <a:extLst>
              <a:ext uri="{FF2B5EF4-FFF2-40B4-BE49-F238E27FC236}">
                <a16:creationId xmlns:a16="http://schemas.microsoft.com/office/drawing/2014/main" id="{38FE22DD-C765-3846-B989-71EFA80FC4EA}"/>
              </a:ext>
            </a:extLst>
          </p:cNvPr>
          <p:cNvGraphicFramePr>
            <a:graphicFrameLocks noChangeAspect="1"/>
          </p:cNvGraphicFramePr>
          <p:nvPr/>
        </p:nvGraphicFramePr>
        <p:xfrm>
          <a:off x="6786563" y="2071688"/>
          <a:ext cx="1008062" cy="43973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5602" name="Equation" r:id="rId6" imgW="8483600" imgH="3797300" progId="Equation.3">
                  <p:embed/>
                </p:oleObj>
              </mc:Choice>
              <mc:Fallback>
                <p:oleObj name="Equation" r:id="rId6" imgW="8483600" imgH="3797300" progId="Equation.3">
                  <p:embed/>
                  <p:pic>
                    <p:nvPicPr>
                      <p:cNvPr id="4099" name="Object 4" descr="Stationery">
                        <a:extLst>
                          <a:ext uri="{FF2B5EF4-FFF2-40B4-BE49-F238E27FC236}">
                            <a16:creationId xmlns:a16="http://schemas.microsoft.com/office/drawing/2014/main" id="{38FE22DD-C765-3846-B989-71EFA80FC4EA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6786563" y="2071688"/>
                        <a:ext cx="1008062" cy="439737"/>
                      </a:xfrm>
                      <a:prstGeom prst="rect">
                        <a:avLst/>
                      </a:prstGeom>
                      <a:blipFill dpi="0" rotWithShape="0">
                        <a:blip r:embed="rId5"/>
                        <a:srcRect/>
                        <a:tile tx="0" ty="0" sx="100000" sy="100000" flip="none" algn="tl"/>
                      </a:blipFill>
                    </p:spPr>
                  </p:pic>
                </p:oleObj>
              </mc:Fallback>
            </mc:AlternateContent>
          </a:graphicData>
        </a:graphic>
      </p:graphicFrame>
      <p:sp>
        <p:nvSpPr>
          <p:cNvPr id="4104" name="Rectangle 9">
            <a:extLst>
              <a:ext uri="{FF2B5EF4-FFF2-40B4-BE49-F238E27FC236}">
                <a16:creationId xmlns:a16="http://schemas.microsoft.com/office/drawing/2014/main" id="{32006A57-CF5A-C048-BEA9-038D6B944D14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3333750"/>
            <a:ext cx="9144000" cy="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endParaRPr lang="en-US" altLang="en-US"/>
          </a:p>
        </p:txBody>
      </p:sp>
      <p:graphicFrame>
        <p:nvGraphicFramePr>
          <p:cNvPr id="4100" name="Object 8" descr="Stationery">
            <a:extLst>
              <a:ext uri="{FF2B5EF4-FFF2-40B4-BE49-F238E27FC236}">
                <a16:creationId xmlns:a16="http://schemas.microsoft.com/office/drawing/2014/main" id="{0A04460B-F329-D942-809B-B054A47D0FA1}"/>
              </a:ext>
            </a:extLst>
          </p:cNvPr>
          <p:cNvGraphicFramePr>
            <a:graphicFrameLocks noChangeAspect="1"/>
          </p:cNvGraphicFramePr>
          <p:nvPr/>
        </p:nvGraphicFramePr>
        <p:xfrm>
          <a:off x="7000875" y="3500438"/>
          <a:ext cx="1655763" cy="50958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5603" name="Equation" r:id="rId7" imgW="14338300" imgH="4394200" progId="Equation.3">
                  <p:embed/>
                </p:oleObj>
              </mc:Choice>
              <mc:Fallback>
                <p:oleObj name="Equation" r:id="rId7" imgW="14338300" imgH="4394200" progId="Equation.3">
                  <p:embed/>
                  <p:pic>
                    <p:nvPicPr>
                      <p:cNvPr id="4100" name="Object 8" descr="Stationery">
                        <a:extLst>
                          <a:ext uri="{FF2B5EF4-FFF2-40B4-BE49-F238E27FC236}">
                            <a16:creationId xmlns:a16="http://schemas.microsoft.com/office/drawing/2014/main" id="{0A04460B-F329-D942-809B-B054A47D0FA1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8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7000875" y="3500438"/>
                        <a:ext cx="1655763" cy="509587"/>
                      </a:xfrm>
                      <a:prstGeom prst="rect">
                        <a:avLst/>
                      </a:prstGeom>
                      <a:blipFill dpi="0" rotWithShape="0">
                        <a:blip r:embed="rId5"/>
                        <a:srcRect/>
                        <a:tile tx="0" ty="0" sx="100000" sy="100000" flip="none" algn="tl"/>
                      </a:blipFill>
                    </p:spPr>
                  </p:pic>
                </p:oleObj>
              </mc:Fallback>
            </mc:AlternateContent>
          </a:graphicData>
        </a:graphic>
      </p:graphicFrame>
    </p:spTree>
    <p:extLst>
      <p:ext uri="{BB962C8B-B14F-4D97-AF65-F5344CB8AC3E}">
        <p14:creationId xmlns:p14="http://schemas.microsoft.com/office/powerpoint/2010/main" val="2450684183"/>
      </p:ext>
    </p:extLst>
  </p:cSld>
  <p:clrMapOvr>
    <a:masterClrMapping/>
  </p:clrMapOvr>
</p:sld>
</file>

<file path=ppt/slides/slide4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itle 5">
            <a:extLst>
              <a:ext uri="{FF2B5EF4-FFF2-40B4-BE49-F238E27FC236}">
                <a16:creationId xmlns:a16="http://schemas.microsoft.com/office/drawing/2014/main" id="{465E74E0-468E-E04D-81C8-B29369BD001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eaLnBrk="1" fontAlgn="auto" hangingPunct="1">
              <a:spcAft>
                <a:spcPts val="0"/>
              </a:spcAft>
              <a:defRPr/>
            </a:pPr>
            <a:r>
              <a:rPr lang="en-US" dirty="0" err="1">
                <a:solidFill>
                  <a:schemeClr val="tx2">
                    <a:satMod val="130000"/>
                  </a:schemeClr>
                </a:solidFill>
              </a:rPr>
              <a:t>Distribusi</a:t>
            </a:r>
            <a:r>
              <a:rPr lang="en-US" dirty="0">
                <a:solidFill>
                  <a:schemeClr val="tx2">
                    <a:satMod val="130000"/>
                  </a:schemeClr>
                </a:solidFill>
              </a:rPr>
              <a:t> Normal</a:t>
            </a:r>
          </a:p>
        </p:txBody>
      </p:sp>
      <p:sp>
        <p:nvSpPr>
          <p:cNvPr id="5125" name="Rectangle 3">
            <a:extLst>
              <a:ext uri="{FF2B5EF4-FFF2-40B4-BE49-F238E27FC236}">
                <a16:creationId xmlns:a16="http://schemas.microsoft.com/office/drawing/2014/main" id="{A3BED296-D584-6049-88AF-F624BE3F202F}"/>
              </a:ext>
            </a:extLst>
          </p:cNvPr>
          <p:cNvSpPr>
            <a:spLocks noGrp="1" noChangeArrowheads="1"/>
          </p:cNvSpPr>
          <p:nvPr>
            <p:ph idx="1"/>
          </p:nvPr>
        </p:nvSpPr>
        <p:spPr>
          <a:xfrm>
            <a:off x="1829306" y="2126488"/>
            <a:ext cx="6019293" cy="738664"/>
          </a:xfrm>
        </p:spPr>
        <p:txBody>
          <a:bodyPr/>
          <a:lstStyle/>
          <a:p>
            <a:pPr eaLnBrk="1" hangingPunct="1"/>
            <a:r>
              <a:rPr lang="sv-SE" altLang="en-US" sz="2400" dirty="0"/>
              <a:t>Variabel </a:t>
            </a:r>
            <a:r>
              <a:rPr lang="sv-SE" altLang="en-US" sz="2400" dirty="0" err="1"/>
              <a:t>random</a:t>
            </a:r>
            <a:r>
              <a:rPr lang="sv-SE" altLang="en-US" sz="2400" dirty="0"/>
              <a:t> X </a:t>
            </a:r>
            <a:r>
              <a:rPr lang="sv-SE" altLang="en-US" sz="2400" dirty="0" err="1">
                <a:solidFill>
                  <a:srgbClr val="FFC000"/>
                </a:solidFill>
              </a:rPr>
              <a:t>berdistribusi</a:t>
            </a:r>
            <a:r>
              <a:rPr lang="sv-SE" altLang="en-US" sz="2400" dirty="0">
                <a:solidFill>
                  <a:srgbClr val="FFC000"/>
                </a:solidFill>
              </a:rPr>
              <a:t> </a:t>
            </a:r>
            <a:r>
              <a:rPr lang="sv-SE" altLang="en-US" sz="2400" b="1" dirty="0">
                <a:solidFill>
                  <a:srgbClr val="FFC000"/>
                </a:solidFill>
              </a:rPr>
              <a:t>normal</a:t>
            </a:r>
            <a:r>
              <a:rPr lang="sv-SE" altLang="en-US" sz="2400" dirty="0"/>
              <a:t>, </a:t>
            </a:r>
            <a:r>
              <a:rPr lang="sv-SE" altLang="en-US" sz="2400" dirty="0" err="1"/>
              <a:t>dengan</a:t>
            </a:r>
            <a:r>
              <a:rPr lang="sv-SE" altLang="en-US" sz="2400" dirty="0"/>
              <a:t> </a:t>
            </a:r>
            <a:r>
              <a:rPr lang="sv-SE" altLang="en-US" sz="2400" dirty="0" err="1"/>
              <a:t>mean</a:t>
            </a:r>
            <a:r>
              <a:rPr lang="sv-SE" altLang="en-US" sz="2400" dirty="0"/>
              <a:t>  dan </a:t>
            </a:r>
            <a:r>
              <a:rPr lang="sv-SE" altLang="en-US" sz="2400" dirty="0" err="1"/>
              <a:t>variansi</a:t>
            </a:r>
            <a:r>
              <a:rPr lang="sv-SE" altLang="en-US" sz="2400" dirty="0"/>
              <a:t>  </a:t>
            </a:r>
            <a:r>
              <a:rPr lang="sv-SE" altLang="en-US" sz="2400" dirty="0" err="1"/>
              <a:t>mempunyai</a:t>
            </a:r>
            <a:r>
              <a:rPr lang="sv-SE" altLang="en-US" sz="2400" dirty="0"/>
              <a:t> </a:t>
            </a:r>
            <a:r>
              <a:rPr lang="sv-SE" altLang="en-US" sz="2400" dirty="0" err="1"/>
              <a:t>fungsi</a:t>
            </a:r>
            <a:r>
              <a:rPr lang="sv-SE" altLang="en-US" sz="2400" dirty="0"/>
              <a:t> </a:t>
            </a:r>
            <a:r>
              <a:rPr lang="sv-SE" altLang="en-US" sz="2400" dirty="0" err="1"/>
              <a:t>densitas</a:t>
            </a:r>
            <a:endParaRPr lang="id-ID" altLang="en-US" sz="2400" dirty="0"/>
          </a:p>
        </p:txBody>
      </p:sp>
      <p:sp>
        <p:nvSpPr>
          <p:cNvPr id="5126" name="Rectangle 5">
            <a:extLst>
              <a:ext uri="{FF2B5EF4-FFF2-40B4-BE49-F238E27FC236}">
                <a16:creationId xmlns:a16="http://schemas.microsoft.com/office/drawing/2014/main" id="{5ADF6D1D-9893-A444-8202-F17CD74633B4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0"/>
            <a:ext cx="9144000" cy="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endParaRPr lang="en-US" altLang="en-US"/>
          </a:p>
        </p:txBody>
      </p:sp>
      <p:graphicFrame>
        <p:nvGraphicFramePr>
          <p:cNvPr id="5122" name="Object 4" descr="Parchment">
            <a:extLst>
              <a:ext uri="{FF2B5EF4-FFF2-40B4-BE49-F238E27FC236}">
                <a16:creationId xmlns:a16="http://schemas.microsoft.com/office/drawing/2014/main" id="{874AEC63-A65E-474D-A56C-E554E182AEBE}"/>
              </a:ext>
            </a:extLst>
          </p:cNvPr>
          <p:cNvGraphicFramePr>
            <a:graphicFrameLocks noChangeAspect="1"/>
          </p:cNvGraphicFramePr>
          <p:nvPr/>
        </p:nvGraphicFramePr>
        <p:xfrm>
          <a:off x="2143125" y="3286125"/>
          <a:ext cx="5286375" cy="103822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6625" name="Equation" r:id="rId3" imgW="49149000" imgH="9652000" progId="Equation.3">
                  <p:embed/>
                </p:oleObj>
              </mc:Choice>
              <mc:Fallback>
                <p:oleObj name="Equation" r:id="rId3" imgW="49149000" imgH="9652000" progId="Equation.3">
                  <p:embed/>
                  <p:pic>
                    <p:nvPicPr>
                      <p:cNvPr id="5122" name="Object 4" descr="Parchment">
                        <a:extLst>
                          <a:ext uri="{FF2B5EF4-FFF2-40B4-BE49-F238E27FC236}">
                            <a16:creationId xmlns:a16="http://schemas.microsoft.com/office/drawing/2014/main" id="{874AEC63-A65E-474D-A56C-E554E182AEBE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143125" y="3286125"/>
                        <a:ext cx="5286375" cy="1038225"/>
                      </a:xfrm>
                      <a:prstGeom prst="rect">
                        <a:avLst/>
                      </a:prstGeom>
                      <a:blipFill dpi="0" rotWithShape="0">
                        <a:blip r:embed="rId5"/>
                        <a:srcRect/>
                        <a:tile tx="0" ty="0" sx="100000" sy="100000" flip="none" algn="tl"/>
                      </a:blipFill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5123" name="Object 6" descr="Parchment">
            <a:extLst>
              <a:ext uri="{FF2B5EF4-FFF2-40B4-BE49-F238E27FC236}">
                <a16:creationId xmlns:a16="http://schemas.microsoft.com/office/drawing/2014/main" id="{CB9F5BA2-8035-8842-90C5-723111EE9FA6}"/>
              </a:ext>
            </a:extLst>
          </p:cNvPr>
          <p:cNvGraphicFramePr>
            <a:graphicFrameLocks noChangeAspect="1"/>
          </p:cNvGraphicFramePr>
          <p:nvPr/>
        </p:nvGraphicFramePr>
        <p:xfrm>
          <a:off x="3357563" y="4643438"/>
          <a:ext cx="2181225" cy="35401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6626" name="Equation" r:id="rId6" imgW="17551400" imgH="2921000" progId="Equation.3">
                  <p:embed/>
                </p:oleObj>
              </mc:Choice>
              <mc:Fallback>
                <p:oleObj name="Equation" r:id="rId6" imgW="17551400" imgH="2921000" progId="Equation.3">
                  <p:embed/>
                  <p:pic>
                    <p:nvPicPr>
                      <p:cNvPr id="5123" name="Object 6" descr="Parchment">
                        <a:extLst>
                          <a:ext uri="{FF2B5EF4-FFF2-40B4-BE49-F238E27FC236}">
                            <a16:creationId xmlns:a16="http://schemas.microsoft.com/office/drawing/2014/main" id="{CB9F5BA2-8035-8842-90C5-723111EE9FA6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7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357563" y="4643438"/>
                        <a:ext cx="2181225" cy="354012"/>
                      </a:xfrm>
                      <a:prstGeom prst="rect">
                        <a:avLst/>
                      </a:prstGeom>
                      <a:blipFill dpi="0" rotWithShape="0">
                        <a:blip r:embed="rId5"/>
                        <a:srcRect/>
                        <a:tile tx="0" ty="0" sx="100000" sy="100000" flip="none" algn="tl"/>
                      </a:blipFill>
                    </p:spPr>
                  </p:pic>
                </p:oleObj>
              </mc:Fallback>
            </mc:AlternateContent>
          </a:graphicData>
        </a:graphic>
      </p:graphicFrame>
    </p:spTree>
    <p:extLst>
      <p:ext uri="{BB962C8B-B14F-4D97-AF65-F5344CB8AC3E}">
        <p14:creationId xmlns:p14="http://schemas.microsoft.com/office/powerpoint/2010/main" val="1767047581"/>
      </p:ext>
    </p:extLst>
  </p:cSld>
  <p:clrMapOvr>
    <a:masterClrMapping/>
  </p:clrMapOvr>
</p:sld>
</file>

<file path=ppt/slides/slide4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49" name="Rectangle 5">
            <a:extLst>
              <a:ext uri="{FF2B5EF4-FFF2-40B4-BE49-F238E27FC236}">
                <a16:creationId xmlns:a16="http://schemas.microsoft.com/office/drawing/2014/main" id="{EED754CF-88FD-D74F-9FF0-C6B7CADD872D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0"/>
            <a:ext cx="9144000" cy="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endParaRPr lang="en-US" altLang="en-US"/>
          </a:p>
        </p:txBody>
      </p:sp>
      <p:sp>
        <p:nvSpPr>
          <p:cNvPr id="6150" name="Rectangle 19">
            <a:extLst>
              <a:ext uri="{FF2B5EF4-FFF2-40B4-BE49-F238E27FC236}">
                <a16:creationId xmlns:a16="http://schemas.microsoft.com/office/drawing/2014/main" id="{10CD11F0-DB70-2644-8E1B-B2E3CE122355}"/>
              </a:ext>
            </a:extLst>
          </p:cNvPr>
          <p:cNvSpPr>
            <a:spLocks noChangeArrowheads="1"/>
          </p:cNvSpPr>
          <p:nvPr/>
        </p:nvSpPr>
        <p:spPr bwMode="auto">
          <a:xfrm>
            <a:off x="990600" y="609600"/>
            <a:ext cx="720090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ctr">
            <a:spAutoFit/>
          </a:bodyPr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/>
            <a:r>
              <a:rPr lang="sv-SE" altLang="en-US" sz="2400">
                <a:latin typeface="Tahoma" panose="020B0604030504040204" pitchFamily="34" charset="0"/>
              </a:rPr>
              <a:t>luas daerah di bawah kurva dinyatakan dengan :</a:t>
            </a:r>
            <a:r>
              <a:rPr lang="en-US" altLang="en-US" sz="2400">
                <a:cs typeface="Times New Roman" panose="02020603050405020304" pitchFamily="18" charset="0"/>
              </a:rPr>
              <a:t> </a:t>
            </a:r>
          </a:p>
        </p:txBody>
      </p:sp>
      <p:graphicFrame>
        <p:nvGraphicFramePr>
          <p:cNvPr id="6146" name="Object 18" descr="Newsprint">
            <a:extLst>
              <a:ext uri="{FF2B5EF4-FFF2-40B4-BE49-F238E27FC236}">
                <a16:creationId xmlns:a16="http://schemas.microsoft.com/office/drawing/2014/main" id="{B106CA83-57B6-AF4C-8501-11311A37293F}"/>
              </a:ext>
            </a:extLst>
          </p:cNvPr>
          <p:cNvGraphicFramePr>
            <a:graphicFrameLocks noChangeAspect="1"/>
          </p:cNvGraphicFramePr>
          <p:nvPr/>
        </p:nvGraphicFramePr>
        <p:xfrm>
          <a:off x="1357313" y="1143000"/>
          <a:ext cx="2286000" cy="45561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7649" name="Equation" r:id="rId3" imgW="25158700" imgH="4978400" progId="Equation.3">
                  <p:embed/>
                </p:oleObj>
              </mc:Choice>
              <mc:Fallback>
                <p:oleObj name="Equation" r:id="rId3" imgW="25158700" imgH="4978400" progId="Equation.3">
                  <p:embed/>
                  <p:pic>
                    <p:nvPicPr>
                      <p:cNvPr id="6146" name="Object 18" descr="Newsprint">
                        <a:extLst>
                          <a:ext uri="{FF2B5EF4-FFF2-40B4-BE49-F238E27FC236}">
                            <a16:creationId xmlns:a16="http://schemas.microsoft.com/office/drawing/2014/main" id="{B106CA83-57B6-AF4C-8501-11311A37293F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357313" y="1143000"/>
                        <a:ext cx="2286000" cy="455613"/>
                      </a:xfrm>
                      <a:prstGeom prst="rect">
                        <a:avLst/>
                      </a:prstGeom>
                      <a:blipFill dpi="0" rotWithShape="0">
                        <a:blip r:embed="rId5"/>
                        <a:srcRect/>
                        <a:tile tx="0" ty="0" sx="100000" sy="100000" flip="none" algn="tl"/>
                      </a:blipFill>
                    </p:spPr>
                  </p:pic>
                </p:oleObj>
              </mc:Fallback>
            </mc:AlternateContent>
          </a:graphicData>
        </a:graphic>
      </p:graphicFrame>
      <p:sp>
        <p:nvSpPr>
          <p:cNvPr id="6151" name="Text Box 22">
            <a:extLst>
              <a:ext uri="{FF2B5EF4-FFF2-40B4-BE49-F238E27FC236}">
                <a16:creationId xmlns:a16="http://schemas.microsoft.com/office/drawing/2014/main" id="{175FE01F-9B7D-0545-A403-86A871221A9E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949825" y="3021013"/>
            <a:ext cx="428625" cy="377825"/>
          </a:xfrm>
          <a:prstGeom prst="rect">
            <a:avLst/>
          </a:prstGeom>
          <a:blipFill dpi="0" rotWithShape="1">
            <a:blip r:embed="rId6"/>
            <a:srcRect/>
            <a:tile tx="0" ty="0" sx="100000" sy="100000" flip="none" algn="tl"/>
          </a:blip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0" tIns="0" rIns="0" bIns="0"/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ctr" eaLnBrk="1" hangingPunct="1"/>
            <a:r>
              <a:rPr lang="en-GB" altLang="en-US">
                <a:solidFill>
                  <a:srgbClr val="000000"/>
                </a:solidFill>
                <a:latin typeface="Tahoma" panose="020B0604030504040204" pitchFamily="34" charset="0"/>
              </a:rPr>
              <a:t>X1</a:t>
            </a:r>
          </a:p>
        </p:txBody>
      </p:sp>
      <p:sp>
        <p:nvSpPr>
          <p:cNvPr id="6152" name="Line 24">
            <a:extLst>
              <a:ext uri="{FF2B5EF4-FFF2-40B4-BE49-F238E27FC236}">
                <a16:creationId xmlns:a16="http://schemas.microsoft.com/office/drawing/2014/main" id="{8309BF28-8AC8-314D-86D5-6F62D032E36D}"/>
              </a:ext>
            </a:extLst>
          </p:cNvPr>
          <p:cNvSpPr>
            <a:spLocks noChangeShapeType="1"/>
          </p:cNvSpPr>
          <p:nvPr/>
        </p:nvSpPr>
        <p:spPr bwMode="auto">
          <a:xfrm>
            <a:off x="3851275" y="2979738"/>
            <a:ext cx="3746500" cy="0"/>
          </a:xfrm>
          <a:prstGeom prst="line">
            <a:avLst/>
          </a:prstGeom>
          <a:noFill/>
          <a:ln w="3175">
            <a:solidFill>
              <a:srgbClr val="0000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/>
          </a:p>
        </p:txBody>
      </p:sp>
      <p:grpSp>
        <p:nvGrpSpPr>
          <p:cNvPr id="2" name="Group 25">
            <a:extLst>
              <a:ext uri="{FF2B5EF4-FFF2-40B4-BE49-F238E27FC236}">
                <a16:creationId xmlns:a16="http://schemas.microsoft.com/office/drawing/2014/main" id="{F12F4967-99FA-1441-ABBC-6BB211E9611E}"/>
              </a:ext>
            </a:extLst>
          </p:cNvPr>
          <p:cNvGrpSpPr>
            <a:grpSpLocks/>
          </p:cNvGrpSpPr>
          <p:nvPr/>
        </p:nvGrpSpPr>
        <p:grpSpPr bwMode="auto">
          <a:xfrm>
            <a:off x="4071938" y="1428750"/>
            <a:ext cx="3273425" cy="1644650"/>
            <a:chOff x="3494" y="2899"/>
            <a:chExt cx="2516" cy="1821"/>
          </a:xfrm>
          <a:blipFill>
            <a:blip r:embed="rId6"/>
            <a:tile tx="0" ty="0" sx="100000" sy="100000" flip="none" algn="tl"/>
          </a:blipFill>
        </p:grpSpPr>
        <p:sp>
          <p:nvSpPr>
            <p:cNvPr id="8217" name="Line 26">
              <a:extLst>
                <a:ext uri="{FF2B5EF4-FFF2-40B4-BE49-F238E27FC236}">
                  <a16:creationId xmlns:a16="http://schemas.microsoft.com/office/drawing/2014/main" id="{8CCA120E-5D11-2C4C-880E-2AB97FFB291F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4700" y="2906"/>
              <a:ext cx="0" cy="1814"/>
            </a:xfrm>
            <a:prstGeom prst="line">
              <a:avLst/>
            </a:prstGeom>
            <a:grpFill/>
            <a:ln w="3175">
              <a:solidFill>
                <a:srgbClr val="000000"/>
              </a:solidFill>
              <a:prstDash val="sysDot"/>
              <a:round/>
              <a:headEnd/>
              <a:tailEnd/>
            </a:ln>
          </p:spPr>
          <p:txBody>
            <a:bodyPr/>
            <a:lstStyle/>
            <a:p>
              <a:pPr>
                <a:defRPr/>
              </a:pPr>
              <a:endParaRPr lang="en-US">
                <a:latin typeface="Arial" charset="0"/>
              </a:endParaRPr>
            </a:p>
          </p:txBody>
        </p:sp>
        <p:sp>
          <p:nvSpPr>
            <p:cNvPr id="8218" name="Freeform 27">
              <a:extLst>
                <a:ext uri="{FF2B5EF4-FFF2-40B4-BE49-F238E27FC236}">
                  <a16:creationId xmlns:a16="http://schemas.microsoft.com/office/drawing/2014/main" id="{77923C5B-0915-5541-96EA-0D27DC6F43EB}"/>
                </a:ext>
              </a:extLst>
            </p:cNvPr>
            <p:cNvSpPr>
              <a:spLocks/>
            </p:cNvSpPr>
            <p:nvPr/>
          </p:nvSpPr>
          <p:spPr bwMode="auto">
            <a:xfrm>
              <a:off x="3494" y="2899"/>
              <a:ext cx="2516" cy="1722"/>
            </a:xfrm>
            <a:custGeom>
              <a:avLst/>
              <a:gdLst>
                <a:gd name="T0" fmla="*/ 0 w 2516"/>
                <a:gd name="T1" fmla="*/ 1709 h 1722"/>
                <a:gd name="T2" fmla="*/ 263 w 2516"/>
                <a:gd name="T3" fmla="*/ 1621 h 1722"/>
                <a:gd name="T4" fmla="*/ 388 w 2516"/>
                <a:gd name="T5" fmla="*/ 1534 h 1722"/>
                <a:gd name="T6" fmla="*/ 450 w 2516"/>
                <a:gd name="T7" fmla="*/ 1459 h 1722"/>
                <a:gd name="T8" fmla="*/ 538 w 2516"/>
                <a:gd name="T9" fmla="*/ 1346 h 1722"/>
                <a:gd name="T10" fmla="*/ 613 w 2516"/>
                <a:gd name="T11" fmla="*/ 1208 h 1722"/>
                <a:gd name="T12" fmla="*/ 701 w 2516"/>
                <a:gd name="T13" fmla="*/ 933 h 1722"/>
                <a:gd name="T14" fmla="*/ 801 w 2516"/>
                <a:gd name="T15" fmla="*/ 657 h 1722"/>
                <a:gd name="T16" fmla="*/ 914 w 2516"/>
                <a:gd name="T17" fmla="*/ 357 h 1722"/>
                <a:gd name="T18" fmla="*/ 1026 w 2516"/>
                <a:gd name="T19" fmla="*/ 131 h 1722"/>
                <a:gd name="T20" fmla="*/ 1177 w 2516"/>
                <a:gd name="T21" fmla="*/ 19 h 1722"/>
                <a:gd name="T22" fmla="*/ 1239 w 2516"/>
                <a:gd name="T23" fmla="*/ 19 h 1722"/>
                <a:gd name="T24" fmla="*/ 1364 w 2516"/>
                <a:gd name="T25" fmla="*/ 106 h 1722"/>
                <a:gd name="T26" fmla="*/ 1490 w 2516"/>
                <a:gd name="T27" fmla="*/ 294 h 1722"/>
                <a:gd name="T28" fmla="*/ 1577 w 2516"/>
                <a:gd name="T29" fmla="*/ 482 h 1722"/>
                <a:gd name="T30" fmla="*/ 1615 w 2516"/>
                <a:gd name="T31" fmla="*/ 607 h 1722"/>
                <a:gd name="T32" fmla="*/ 1690 w 2516"/>
                <a:gd name="T33" fmla="*/ 782 h 1722"/>
                <a:gd name="T34" fmla="*/ 1815 w 2516"/>
                <a:gd name="T35" fmla="*/ 1058 h 1722"/>
                <a:gd name="T36" fmla="*/ 1903 w 2516"/>
                <a:gd name="T37" fmla="*/ 1246 h 1722"/>
                <a:gd name="T38" fmla="*/ 2003 w 2516"/>
                <a:gd name="T39" fmla="*/ 1383 h 1722"/>
                <a:gd name="T40" fmla="*/ 2116 w 2516"/>
                <a:gd name="T41" fmla="*/ 1534 h 1722"/>
                <a:gd name="T42" fmla="*/ 2279 w 2516"/>
                <a:gd name="T43" fmla="*/ 1634 h 1722"/>
                <a:gd name="T44" fmla="*/ 2516 w 2516"/>
                <a:gd name="T45" fmla="*/ 1722 h 1722"/>
                <a:gd name="T46" fmla="*/ 0 60000 65536"/>
                <a:gd name="T47" fmla="*/ 0 60000 65536"/>
                <a:gd name="T48" fmla="*/ 0 60000 65536"/>
                <a:gd name="T49" fmla="*/ 0 60000 65536"/>
                <a:gd name="T50" fmla="*/ 0 60000 65536"/>
                <a:gd name="T51" fmla="*/ 0 60000 65536"/>
                <a:gd name="T52" fmla="*/ 0 60000 65536"/>
                <a:gd name="T53" fmla="*/ 0 60000 65536"/>
                <a:gd name="T54" fmla="*/ 0 60000 65536"/>
                <a:gd name="T55" fmla="*/ 0 60000 65536"/>
                <a:gd name="T56" fmla="*/ 0 60000 65536"/>
                <a:gd name="T57" fmla="*/ 0 60000 65536"/>
                <a:gd name="T58" fmla="*/ 0 60000 65536"/>
                <a:gd name="T59" fmla="*/ 0 60000 65536"/>
                <a:gd name="T60" fmla="*/ 0 60000 65536"/>
                <a:gd name="T61" fmla="*/ 0 60000 65536"/>
                <a:gd name="T62" fmla="*/ 0 60000 65536"/>
                <a:gd name="T63" fmla="*/ 0 60000 65536"/>
                <a:gd name="T64" fmla="*/ 0 60000 65536"/>
                <a:gd name="T65" fmla="*/ 0 60000 65536"/>
                <a:gd name="T66" fmla="*/ 0 60000 65536"/>
                <a:gd name="T67" fmla="*/ 0 60000 65536"/>
                <a:gd name="T68" fmla="*/ 0 60000 65536"/>
                <a:gd name="T69" fmla="*/ 0 w 2516"/>
                <a:gd name="T70" fmla="*/ 0 h 1722"/>
                <a:gd name="T71" fmla="*/ 2516 w 2516"/>
                <a:gd name="T72" fmla="*/ 1722 h 1722"/>
              </a:gdLst>
              <a:ahLst/>
              <a:cxnLst>
                <a:cxn ang="T46">
                  <a:pos x="T0" y="T1"/>
                </a:cxn>
                <a:cxn ang="T47">
                  <a:pos x="T2" y="T3"/>
                </a:cxn>
                <a:cxn ang="T48">
                  <a:pos x="T4" y="T5"/>
                </a:cxn>
                <a:cxn ang="T49">
                  <a:pos x="T6" y="T7"/>
                </a:cxn>
                <a:cxn ang="T50">
                  <a:pos x="T8" y="T9"/>
                </a:cxn>
                <a:cxn ang="T51">
                  <a:pos x="T10" y="T11"/>
                </a:cxn>
                <a:cxn ang="T52">
                  <a:pos x="T12" y="T13"/>
                </a:cxn>
                <a:cxn ang="T53">
                  <a:pos x="T14" y="T15"/>
                </a:cxn>
                <a:cxn ang="T54">
                  <a:pos x="T16" y="T17"/>
                </a:cxn>
                <a:cxn ang="T55">
                  <a:pos x="T18" y="T19"/>
                </a:cxn>
                <a:cxn ang="T56">
                  <a:pos x="T20" y="T21"/>
                </a:cxn>
                <a:cxn ang="T57">
                  <a:pos x="T22" y="T23"/>
                </a:cxn>
                <a:cxn ang="T58">
                  <a:pos x="T24" y="T25"/>
                </a:cxn>
                <a:cxn ang="T59">
                  <a:pos x="T26" y="T27"/>
                </a:cxn>
                <a:cxn ang="T60">
                  <a:pos x="T28" y="T29"/>
                </a:cxn>
                <a:cxn ang="T61">
                  <a:pos x="T30" y="T31"/>
                </a:cxn>
                <a:cxn ang="T62">
                  <a:pos x="T32" y="T33"/>
                </a:cxn>
                <a:cxn ang="T63">
                  <a:pos x="T34" y="T35"/>
                </a:cxn>
                <a:cxn ang="T64">
                  <a:pos x="T36" y="T37"/>
                </a:cxn>
                <a:cxn ang="T65">
                  <a:pos x="T38" y="T39"/>
                </a:cxn>
                <a:cxn ang="T66">
                  <a:pos x="T40" y="T41"/>
                </a:cxn>
                <a:cxn ang="T67">
                  <a:pos x="T42" y="T43"/>
                </a:cxn>
                <a:cxn ang="T68">
                  <a:pos x="T44" y="T45"/>
                </a:cxn>
              </a:cxnLst>
              <a:rect l="T69" t="T70" r="T71" b="T72"/>
              <a:pathLst>
                <a:path w="2516" h="1722">
                  <a:moveTo>
                    <a:pt x="0" y="1709"/>
                  </a:moveTo>
                  <a:cubicBezTo>
                    <a:pt x="44" y="1694"/>
                    <a:pt x="198" y="1650"/>
                    <a:pt x="263" y="1621"/>
                  </a:cubicBezTo>
                  <a:cubicBezTo>
                    <a:pt x="328" y="1592"/>
                    <a:pt x="357" y="1561"/>
                    <a:pt x="388" y="1534"/>
                  </a:cubicBezTo>
                  <a:cubicBezTo>
                    <a:pt x="419" y="1507"/>
                    <a:pt x="425" y="1490"/>
                    <a:pt x="450" y="1459"/>
                  </a:cubicBezTo>
                  <a:cubicBezTo>
                    <a:pt x="475" y="1428"/>
                    <a:pt x="511" y="1388"/>
                    <a:pt x="538" y="1346"/>
                  </a:cubicBezTo>
                  <a:cubicBezTo>
                    <a:pt x="565" y="1304"/>
                    <a:pt x="586" y="1277"/>
                    <a:pt x="613" y="1208"/>
                  </a:cubicBezTo>
                  <a:cubicBezTo>
                    <a:pt x="640" y="1139"/>
                    <a:pt x="670" y="1025"/>
                    <a:pt x="701" y="933"/>
                  </a:cubicBezTo>
                  <a:cubicBezTo>
                    <a:pt x="732" y="841"/>
                    <a:pt x="766" y="753"/>
                    <a:pt x="801" y="657"/>
                  </a:cubicBezTo>
                  <a:cubicBezTo>
                    <a:pt x="836" y="561"/>
                    <a:pt x="876" y="445"/>
                    <a:pt x="914" y="357"/>
                  </a:cubicBezTo>
                  <a:cubicBezTo>
                    <a:pt x="952" y="269"/>
                    <a:pt x="982" y="187"/>
                    <a:pt x="1026" y="131"/>
                  </a:cubicBezTo>
                  <a:cubicBezTo>
                    <a:pt x="1070" y="75"/>
                    <a:pt x="1142" y="38"/>
                    <a:pt x="1177" y="19"/>
                  </a:cubicBezTo>
                  <a:cubicBezTo>
                    <a:pt x="1212" y="0"/>
                    <a:pt x="1208" y="5"/>
                    <a:pt x="1239" y="19"/>
                  </a:cubicBezTo>
                  <a:cubicBezTo>
                    <a:pt x="1270" y="33"/>
                    <a:pt x="1322" y="60"/>
                    <a:pt x="1364" y="106"/>
                  </a:cubicBezTo>
                  <a:cubicBezTo>
                    <a:pt x="1406" y="152"/>
                    <a:pt x="1454" y="231"/>
                    <a:pt x="1490" y="294"/>
                  </a:cubicBezTo>
                  <a:cubicBezTo>
                    <a:pt x="1526" y="357"/>
                    <a:pt x="1556" y="430"/>
                    <a:pt x="1577" y="482"/>
                  </a:cubicBezTo>
                  <a:cubicBezTo>
                    <a:pt x="1598" y="534"/>
                    <a:pt x="1596" y="557"/>
                    <a:pt x="1615" y="607"/>
                  </a:cubicBezTo>
                  <a:cubicBezTo>
                    <a:pt x="1634" y="657"/>
                    <a:pt x="1657" y="707"/>
                    <a:pt x="1690" y="782"/>
                  </a:cubicBezTo>
                  <a:cubicBezTo>
                    <a:pt x="1723" y="857"/>
                    <a:pt x="1780" y="981"/>
                    <a:pt x="1815" y="1058"/>
                  </a:cubicBezTo>
                  <a:cubicBezTo>
                    <a:pt x="1850" y="1135"/>
                    <a:pt x="1872" y="1192"/>
                    <a:pt x="1903" y="1246"/>
                  </a:cubicBezTo>
                  <a:cubicBezTo>
                    <a:pt x="1934" y="1300"/>
                    <a:pt x="1968" y="1335"/>
                    <a:pt x="2003" y="1383"/>
                  </a:cubicBezTo>
                  <a:cubicBezTo>
                    <a:pt x="2038" y="1431"/>
                    <a:pt x="2070" y="1492"/>
                    <a:pt x="2116" y="1534"/>
                  </a:cubicBezTo>
                  <a:cubicBezTo>
                    <a:pt x="2162" y="1576"/>
                    <a:pt x="2212" y="1603"/>
                    <a:pt x="2279" y="1634"/>
                  </a:cubicBezTo>
                  <a:cubicBezTo>
                    <a:pt x="2346" y="1665"/>
                    <a:pt x="2467" y="1704"/>
                    <a:pt x="2516" y="1722"/>
                  </a:cubicBezTo>
                </a:path>
              </a:pathLst>
            </a:custGeom>
            <a:grpFill/>
            <a:ln w="19050">
              <a:solidFill>
                <a:srgbClr val="000000"/>
              </a:solidFill>
              <a:round/>
              <a:headEnd/>
              <a:tailEnd/>
            </a:ln>
          </p:spPr>
          <p:txBody>
            <a:bodyPr/>
            <a:lstStyle/>
            <a:p>
              <a:pPr>
                <a:defRPr/>
              </a:pPr>
              <a:endParaRPr lang="en-US">
                <a:latin typeface="Arial" charset="0"/>
              </a:endParaRPr>
            </a:p>
          </p:txBody>
        </p:sp>
      </p:grpSp>
      <p:sp>
        <p:nvSpPr>
          <p:cNvPr id="6154" name="Line 28">
            <a:extLst>
              <a:ext uri="{FF2B5EF4-FFF2-40B4-BE49-F238E27FC236}">
                <a16:creationId xmlns:a16="http://schemas.microsoft.com/office/drawing/2014/main" id="{A956D9FB-8A1F-164F-B7F1-3B748C33A689}"/>
              </a:ext>
            </a:extLst>
          </p:cNvPr>
          <p:cNvSpPr>
            <a:spLocks noChangeShapeType="1"/>
          </p:cNvSpPr>
          <p:nvPr/>
        </p:nvSpPr>
        <p:spPr bwMode="auto">
          <a:xfrm>
            <a:off x="5180013" y="1809750"/>
            <a:ext cx="0" cy="1169988"/>
          </a:xfrm>
          <a:prstGeom prst="line">
            <a:avLst/>
          </a:prstGeom>
          <a:noFill/>
          <a:ln w="9525">
            <a:solidFill>
              <a:srgbClr val="0000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6155" name="Line 29">
            <a:extLst>
              <a:ext uri="{FF2B5EF4-FFF2-40B4-BE49-F238E27FC236}">
                <a16:creationId xmlns:a16="http://schemas.microsoft.com/office/drawing/2014/main" id="{7F82C37C-9F5D-E24F-8FA0-B9B9E75626BA}"/>
              </a:ext>
            </a:extLst>
          </p:cNvPr>
          <p:cNvSpPr>
            <a:spLocks noChangeShapeType="1"/>
          </p:cNvSpPr>
          <p:nvPr/>
        </p:nvSpPr>
        <p:spPr bwMode="auto">
          <a:xfrm>
            <a:off x="6661150" y="2600325"/>
            <a:ext cx="0" cy="388938"/>
          </a:xfrm>
          <a:prstGeom prst="line">
            <a:avLst/>
          </a:prstGeom>
          <a:noFill/>
          <a:ln w="9525">
            <a:solidFill>
              <a:srgbClr val="0000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6156" name="Text Box 30">
            <a:extLst>
              <a:ext uri="{FF2B5EF4-FFF2-40B4-BE49-F238E27FC236}">
                <a16:creationId xmlns:a16="http://schemas.microsoft.com/office/drawing/2014/main" id="{F9758C38-C355-0147-8DCD-6D774EE756E7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7580313" y="2824163"/>
            <a:ext cx="374650" cy="260350"/>
          </a:xfrm>
          <a:prstGeom prst="rect">
            <a:avLst/>
          </a:prstGeom>
          <a:blipFill dpi="0" rotWithShape="1">
            <a:blip r:embed="rId6"/>
            <a:srcRect/>
            <a:tile tx="0" ty="0" sx="100000" sy="100000" flip="none" algn="tl"/>
          </a:blip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0" tIns="0" rIns="0" bIns="0"/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ctr" eaLnBrk="1" hangingPunct="1"/>
            <a:r>
              <a:rPr lang="id-ID" altLang="en-US" sz="1200">
                <a:solidFill>
                  <a:srgbClr val="000000"/>
                </a:solidFill>
                <a:latin typeface="Tahoma" panose="020B0604030504040204" pitchFamily="34" charset="0"/>
              </a:rPr>
              <a:t>x</a:t>
            </a:r>
            <a:endParaRPr lang="id-ID" altLang="en-US">
              <a:solidFill>
                <a:srgbClr val="000000"/>
              </a:solidFill>
              <a:latin typeface="Tahoma" panose="020B0604030504040204" pitchFamily="34" charset="0"/>
            </a:endParaRPr>
          </a:p>
        </p:txBody>
      </p:sp>
      <p:sp>
        <p:nvSpPr>
          <p:cNvPr id="6157" name="Line 31">
            <a:extLst>
              <a:ext uri="{FF2B5EF4-FFF2-40B4-BE49-F238E27FC236}">
                <a16:creationId xmlns:a16="http://schemas.microsoft.com/office/drawing/2014/main" id="{8A7A743B-32CF-3147-B134-C73D6BA14A9F}"/>
              </a:ext>
            </a:extLst>
          </p:cNvPr>
          <p:cNvSpPr>
            <a:spLocks noChangeShapeType="1"/>
          </p:cNvSpPr>
          <p:nvPr/>
        </p:nvSpPr>
        <p:spPr bwMode="auto">
          <a:xfrm>
            <a:off x="5180013" y="2589213"/>
            <a:ext cx="935037" cy="390525"/>
          </a:xfrm>
          <a:prstGeom prst="line">
            <a:avLst/>
          </a:prstGeom>
          <a:noFill/>
          <a:ln w="9525">
            <a:solidFill>
              <a:srgbClr val="0000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6158" name="Line 32">
            <a:extLst>
              <a:ext uri="{FF2B5EF4-FFF2-40B4-BE49-F238E27FC236}">
                <a16:creationId xmlns:a16="http://schemas.microsoft.com/office/drawing/2014/main" id="{A487A195-7EA2-3445-A342-5AFCD68A6805}"/>
              </a:ext>
            </a:extLst>
          </p:cNvPr>
          <p:cNvSpPr>
            <a:spLocks noChangeShapeType="1"/>
          </p:cNvSpPr>
          <p:nvPr/>
        </p:nvSpPr>
        <p:spPr bwMode="auto">
          <a:xfrm>
            <a:off x="5180013" y="2801938"/>
            <a:ext cx="468312" cy="193675"/>
          </a:xfrm>
          <a:prstGeom prst="line">
            <a:avLst/>
          </a:prstGeom>
          <a:noFill/>
          <a:ln w="9525">
            <a:solidFill>
              <a:srgbClr val="0000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6159" name="Line 33">
            <a:extLst>
              <a:ext uri="{FF2B5EF4-FFF2-40B4-BE49-F238E27FC236}">
                <a16:creationId xmlns:a16="http://schemas.microsoft.com/office/drawing/2014/main" id="{83FA7409-2A3A-184A-8F9D-AFEDD2668A63}"/>
              </a:ext>
            </a:extLst>
          </p:cNvPr>
          <p:cNvSpPr>
            <a:spLocks noChangeShapeType="1"/>
          </p:cNvSpPr>
          <p:nvPr/>
        </p:nvSpPr>
        <p:spPr bwMode="auto">
          <a:xfrm>
            <a:off x="5180013" y="2355850"/>
            <a:ext cx="1497012" cy="623888"/>
          </a:xfrm>
          <a:prstGeom prst="line">
            <a:avLst/>
          </a:prstGeom>
          <a:noFill/>
          <a:ln w="9525">
            <a:solidFill>
              <a:srgbClr val="0000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6160" name="Line 34">
            <a:extLst>
              <a:ext uri="{FF2B5EF4-FFF2-40B4-BE49-F238E27FC236}">
                <a16:creationId xmlns:a16="http://schemas.microsoft.com/office/drawing/2014/main" id="{A7AE43CF-ECCF-F646-8F2A-F2BE4246B832}"/>
              </a:ext>
            </a:extLst>
          </p:cNvPr>
          <p:cNvSpPr>
            <a:spLocks noChangeShapeType="1"/>
          </p:cNvSpPr>
          <p:nvPr/>
        </p:nvSpPr>
        <p:spPr bwMode="auto">
          <a:xfrm>
            <a:off x="5180013" y="2116138"/>
            <a:ext cx="1497012" cy="623887"/>
          </a:xfrm>
          <a:prstGeom prst="line">
            <a:avLst/>
          </a:prstGeom>
          <a:noFill/>
          <a:ln w="9525">
            <a:solidFill>
              <a:srgbClr val="0000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6161" name="Line 35">
            <a:extLst>
              <a:ext uri="{FF2B5EF4-FFF2-40B4-BE49-F238E27FC236}">
                <a16:creationId xmlns:a16="http://schemas.microsoft.com/office/drawing/2014/main" id="{F1322EC2-3CDA-084A-AD74-B2558986B8F2}"/>
              </a:ext>
            </a:extLst>
          </p:cNvPr>
          <p:cNvSpPr>
            <a:spLocks noChangeShapeType="1"/>
          </p:cNvSpPr>
          <p:nvPr/>
        </p:nvSpPr>
        <p:spPr bwMode="auto">
          <a:xfrm>
            <a:off x="5180013" y="1879600"/>
            <a:ext cx="1347787" cy="558800"/>
          </a:xfrm>
          <a:prstGeom prst="line">
            <a:avLst/>
          </a:prstGeom>
          <a:noFill/>
          <a:ln w="9525">
            <a:solidFill>
              <a:srgbClr val="0000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6162" name="Line 36">
            <a:extLst>
              <a:ext uri="{FF2B5EF4-FFF2-40B4-BE49-F238E27FC236}">
                <a16:creationId xmlns:a16="http://schemas.microsoft.com/office/drawing/2014/main" id="{806777BB-5CB5-6041-BCE0-0ECAB76F0702}"/>
              </a:ext>
            </a:extLst>
          </p:cNvPr>
          <p:cNvSpPr>
            <a:spLocks noChangeShapeType="1"/>
          </p:cNvSpPr>
          <p:nvPr/>
        </p:nvSpPr>
        <p:spPr bwMode="auto">
          <a:xfrm>
            <a:off x="5264150" y="1679575"/>
            <a:ext cx="1030288" cy="428625"/>
          </a:xfrm>
          <a:prstGeom prst="line">
            <a:avLst/>
          </a:prstGeom>
          <a:noFill/>
          <a:ln w="9525">
            <a:solidFill>
              <a:srgbClr val="0000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6163" name="Line 37">
            <a:extLst>
              <a:ext uri="{FF2B5EF4-FFF2-40B4-BE49-F238E27FC236}">
                <a16:creationId xmlns:a16="http://schemas.microsoft.com/office/drawing/2014/main" id="{002A3792-E05F-B54F-BB20-6CD9C6FE8E26}"/>
              </a:ext>
            </a:extLst>
          </p:cNvPr>
          <p:cNvSpPr>
            <a:spLocks noChangeShapeType="1"/>
          </p:cNvSpPr>
          <p:nvPr/>
        </p:nvSpPr>
        <p:spPr bwMode="auto">
          <a:xfrm>
            <a:off x="5383213" y="1501775"/>
            <a:ext cx="749300" cy="311150"/>
          </a:xfrm>
          <a:prstGeom prst="line">
            <a:avLst/>
          </a:prstGeom>
          <a:noFill/>
          <a:ln w="9525">
            <a:solidFill>
              <a:srgbClr val="0000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6164" name="Rectangle 40">
            <a:extLst>
              <a:ext uri="{FF2B5EF4-FFF2-40B4-BE49-F238E27FC236}">
                <a16:creationId xmlns:a16="http://schemas.microsoft.com/office/drawing/2014/main" id="{811A75B6-DDE9-D94A-B9C8-99095EF080CD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3128963"/>
            <a:ext cx="9144000" cy="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endParaRPr lang="en-US" altLang="en-US"/>
          </a:p>
        </p:txBody>
      </p:sp>
      <p:graphicFrame>
        <p:nvGraphicFramePr>
          <p:cNvPr id="6147" name="Object 39" descr="Newsprint">
            <a:extLst>
              <a:ext uri="{FF2B5EF4-FFF2-40B4-BE49-F238E27FC236}">
                <a16:creationId xmlns:a16="http://schemas.microsoft.com/office/drawing/2014/main" id="{14E6A941-3052-D846-9375-6A85086E3E1A}"/>
              </a:ext>
            </a:extLst>
          </p:cNvPr>
          <p:cNvGraphicFramePr>
            <a:graphicFrameLocks noChangeAspect="1"/>
          </p:cNvGraphicFramePr>
          <p:nvPr/>
        </p:nvGraphicFramePr>
        <p:xfrm>
          <a:off x="1143000" y="3643313"/>
          <a:ext cx="6365875" cy="100012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7650" name="Equation" r:id="rId7" imgW="88061800" imgH="13754100" progId="Equation.3">
                  <p:embed/>
                </p:oleObj>
              </mc:Choice>
              <mc:Fallback>
                <p:oleObj name="Equation" r:id="rId7" imgW="88061800" imgH="13754100" progId="Equation.3">
                  <p:embed/>
                  <p:pic>
                    <p:nvPicPr>
                      <p:cNvPr id="6147" name="Object 39" descr="Newsprint">
                        <a:extLst>
                          <a:ext uri="{FF2B5EF4-FFF2-40B4-BE49-F238E27FC236}">
                            <a16:creationId xmlns:a16="http://schemas.microsoft.com/office/drawing/2014/main" id="{14E6A941-3052-D846-9375-6A85086E3E1A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8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143000" y="3643313"/>
                        <a:ext cx="6365875" cy="1000125"/>
                      </a:xfrm>
                      <a:prstGeom prst="rect">
                        <a:avLst/>
                      </a:prstGeom>
                      <a:blipFill dpi="0" rotWithShape="0">
                        <a:blip r:embed="rId5"/>
                        <a:srcRect/>
                        <a:tile tx="0" ty="0" sx="100000" sy="100000" flip="none" algn="tl"/>
                      </a:blipFill>
                    </p:spPr>
                  </p:pic>
                </p:oleObj>
              </mc:Fallback>
            </mc:AlternateContent>
          </a:graphicData>
        </a:graphic>
      </p:graphicFrame>
      <p:sp>
        <p:nvSpPr>
          <p:cNvPr id="6165" name="Rectangle 42">
            <a:extLst>
              <a:ext uri="{FF2B5EF4-FFF2-40B4-BE49-F238E27FC236}">
                <a16:creationId xmlns:a16="http://schemas.microsoft.com/office/drawing/2014/main" id="{6185C2F1-D4D9-5B47-AF3E-519E940AC132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3157538"/>
            <a:ext cx="9144000" cy="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endParaRPr lang="en-US" altLang="en-US"/>
          </a:p>
        </p:txBody>
      </p:sp>
      <p:graphicFrame>
        <p:nvGraphicFramePr>
          <p:cNvPr id="6148" name="Object 41" descr="Newsprint">
            <a:extLst>
              <a:ext uri="{FF2B5EF4-FFF2-40B4-BE49-F238E27FC236}">
                <a16:creationId xmlns:a16="http://schemas.microsoft.com/office/drawing/2014/main" id="{45BC35C2-4A32-874D-B649-BB80C75443BE}"/>
              </a:ext>
            </a:extLst>
          </p:cNvPr>
          <p:cNvGraphicFramePr>
            <a:graphicFrameLocks noChangeAspect="1"/>
          </p:cNvGraphicFramePr>
          <p:nvPr/>
        </p:nvGraphicFramePr>
        <p:xfrm>
          <a:off x="1143000" y="4857750"/>
          <a:ext cx="5929313" cy="10541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7651" name="Equation" r:id="rId9" imgW="70510400" imgH="12585700" progId="Equation.3">
                  <p:embed/>
                </p:oleObj>
              </mc:Choice>
              <mc:Fallback>
                <p:oleObj name="Equation" r:id="rId9" imgW="70510400" imgH="12585700" progId="Equation.3">
                  <p:embed/>
                  <p:pic>
                    <p:nvPicPr>
                      <p:cNvPr id="6148" name="Object 41" descr="Newsprint">
                        <a:extLst>
                          <a:ext uri="{FF2B5EF4-FFF2-40B4-BE49-F238E27FC236}">
                            <a16:creationId xmlns:a16="http://schemas.microsoft.com/office/drawing/2014/main" id="{45BC35C2-4A32-874D-B649-BB80C75443BE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0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143000" y="4857750"/>
                        <a:ext cx="5929313" cy="1054100"/>
                      </a:xfrm>
                      <a:prstGeom prst="rect">
                        <a:avLst/>
                      </a:prstGeom>
                      <a:blipFill dpi="0" rotWithShape="0">
                        <a:blip r:embed="rId5"/>
                        <a:srcRect/>
                        <a:tile tx="0" ty="0" sx="100000" sy="100000" flip="none" algn="tl"/>
                      </a:blipFill>
                    </p:spPr>
                  </p:pic>
                </p:oleObj>
              </mc:Fallback>
            </mc:AlternateContent>
          </a:graphicData>
        </a:graphic>
      </p:graphicFrame>
      <p:sp>
        <p:nvSpPr>
          <p:cNvPr id="6166" name="Text Box 22">
            <a:extLst>
              <a:ext uri="{FF2B5EF4-FFF2-40B4-BE49-F238E27FC236}">
                <a16:creationId xmlns:a16="http://schemas.microsoft.com/office/drawing/2014/main" id="{22F9B76D-B217-2646-889E-96A3A6B50AB7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459538" y="3041650"/>
            <a:ext cx="428625" cy="377825"/>
          </a:xfrm>
          <a:prstGeom prst="rect">
            <a:avLst/>
          </a:prstGeom>
          <a:blipFill dpi="0" rotWithShape="1">
            <a:blip r:embed="rId6"/>
            <a:srcRect/>
            <a:tile tx="0" ty="0" sx="100000" sy="100000" flip="none" algn="tl"/>
          </a:blip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0" tIns="0" rIns="0" bIns="0"/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ctr" eaLnBrk="1" hangingPunct="1"/>
            <a:r>
              <a:rPr lang="en-GB" altLang="en-US">
                <a:solidFill>
                  <a:srgbClr val="000000"/>
                </a:solidFill>
                <a:latin typeface="Tahoma" panose="020B0604030504040204" pitchFamily="34" charset="0"/>
              </a:rPr>
              <a:t>X2</a:t>
            </a:r>
          </a:p>
        </p:txBody>
      </p:sp>
      <p:sp>
        <p:nvSpPr>
          <p:cNvPr id="6167" name="Line 15">
            <a:extLst>
              <a:ext uri="{FF2B5EF4-FFF2-40B4-BE49-F238E27FC236}">
                <a16:creationId xmlns:a16="http://schemas.microsoft.com/office/drawing/2014/main" id="{A64DFBC1-0C8A-7C4C-A33B-9D5A8D29D8F9}"/>
              </a:ext>
            </a:extLst>
          </p:cNvPr>
          <p:cNvSpPr>
            <a:spLocks noChangeShapeType="1"/>
          </p:cNvSpPr>
          <p:nvPr/>
        </p:nvSpPr>
        <p:spPr bwMode="auto">
          <a:xfrm>
            <a:off x="5643563" y="1428750"/>
            <a:ext cx="46037" cy="1571625"/>
          </a:xfrm>
          <a:prstGeom prst="line">
            <a:avLst/>
          </a:prstGeom>
          <a:noFill/>
          <a:ln w="9525"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/>
          <a:lstStyle/>
          <a:p>
            <a:endParaRPr lang="en-US"/>
          </a:p>
        </p:txBody>
      </p:sp>
      <p:sp>
        <p:nvSpPr>
          <p:cNvPr id="6168" name="Text Box 7">
            <a:extLst>
              <a:ext uri="{FF2B5EF4-FFF2-40B4-BE49-F238E27FC236}">
                <a16:creationId xmlns:a16="http://schemas.microsoft.com/office/drawing/2014/main" id="{0C96EC61-3904-3B48-9263-6464C886FE02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500688" y="3000375"/>
            <a:ext cx="330200" cy="355600"/>
          </a:xfrm>
          <a:prstGeom prst="rect">
            <a:avLst/>
          </a:prstGeom>
          <a:blipFill dpi="0" rotWithShape="1">
            <a:blip r:embed="rId6"/>
            <a:srcRect/>
            <a:tile tx="0" ty="0" sx="100000" sy="100000" flip="none" algn="tl"/>
          </a:blip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0" tIns="0" rIns="0" bIns="0"/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ctr" eaLnBrk="1" hangingPunct="1"/>
            <a:r>
              <a:rPr lang="id-ID" altLang="en-US" sz="2000">
                <a:latin typeface="Tahoma" panose="020B0604030504040204" pitchFamily="34" charset="0"/>
                <a:sym typeface="Symbol" pitchFamily="2" charset="2"/>
              </a:rPr>
              <a:t></a:t>
            </a:r>
            <a:endParaRPr lang="id-ID" altLang="en-US" sz="2000">
              <a:latin typeface="Tahoma" panose="020B060403050404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991779896"/>
      </p:ext>
    </p:extLst>
  </p:cSld>
  <p:clrMapOvr>
    <a:masterClrMapping/>
  </p:clrMapOvr>
</p:sld>
</file>

<file path=ppt/slides/slide5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Title 13">
            <a:extLst>
              <a:ext uri="{FF2B5EF4-FFF2-40B4-BE49-F238E27FC236}">
                <a16:creationId xmlns:a16="http://schemas.microsoft.com/office/drawing/2014/main" id="{09BA3A8C-AF42-D440-95EE-3F7C88CAB82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eaLnBrk="1" fontAlgn="auto" hangingPunct="1">
              <a:spcAft>
                <a:spcPts val="0"/>
              </a:spcAft>
              <a:defRPr/>
            </a:pPr>
            <a:r>
              <a:rPr lang="en-US" dirty="0" err="1">
                <a:solidFill>
                  <a:schemeClr val="tx2">
                    <a:satMod val="130000"/>
                  </a:schemeClr>
                </a:solidFill>
              </a:rPr>
              <a:t>Distribusi</a:t>
            </a:r>
            <a:r>
              <a:rPr lang="en-US" dirty="0">
                <a:solidFill>
                  <a:schemeClr val="tx2">
                    <a:satMod val="130000"/>
                  </a:schemeClr>
                </a:solidFill>
              </a:rPr>
              <a:t> Normal </a:t>
            </a:r>
            <a:r>
              <a:rPr lang="en-US" dirty="0" err="1">
                <a:solidFill>
                  <a:schemeClr val="tx2">
                    <a:satMod val="130000"/>
                  </a:schemeClr>
                </a:solidFill>
              </a:rPr>
              <a:t>Standar</a:t>
            </a:r>
            <a:r>
              <a:rPr lang="en-US" dirty="0">
                <a:solidFill>
                  <a:schemeClr val="tx2">
                    <a:satMod val="130000"/>
                  </a:schemeClr>
                </a:solidFill>
              </a:rPr>
              <a:t> (1) </a:t>
            </a:r>
          </a:p>
        </p:txBody>
      </p:sp>
      <p:sp>
        <p:nvSpPr>
          <p:cNvPr id="7176" name="Rectangle 3">
            <a:extLst>
              <a:ext uri="{FF2B5EF4-FFF2-40B4-BE49-F238E27FC236}">
                <a16:creationId xmlns:a16="http://schemas.microsoft.com/office/drawing/2014/main" id="{747EE5AF-CA24-7041-A304-80CCD37EA895}"/>
              </a:ext>
            </a:extLst>
          </p:cNvPr>
          <p:cNvSpPr>
            <a:spLocks noGrp="1" noChangeArrowheads="1"/>
          </p:cNvSpPr>
          <p:nvPr>
            <p:ph idx="1"/>
          </p:nvPr>
        </p:nvSpPr>
        <p:spPr/>
        <p:txBody>
          <a:bodyPr/>
          <a:lstStyle/>
          <a:p>
            <a:pPr eaLnBrk="1" hangingPunct="1"/>
            <a:r>
              <a:rPr lang="sv-SE" altLang="en-US" dirty="0" err="1"/>
              <a:t>apabila</a:t>
            </a:r>
            <a:r>
              <a:rPr lang="sv-SE" altLang="en-US" dirty="0"/>
              <a:t> variabel X </a:t>
            </a:r>
            <a:r>
              <a:rPr lang="sv-SE" altLang="en-US" dirty="0" err="1"/>
              <a:t>ditransformasikan</a:t>
            </a:r>
            <a:r>
              <a:rPr lang="sv-SE" altLang="en-US" dirty="0"/>
              <a:t> </a:t>
            </a:r>
            <a:r>
              <a:rPr lang="sv-SE" altLang="en-US" dirty="0" err="1"/>
              <a:t>dengan</a:t>
            </a:r>
            <a:r>
              <a:rPr lang="sv-SE" altLang="en-US" dirty="0"/>
              <a:t> </a:t>
            </a:r>
            <a:r>
              <a:rPr lang="sv-SE" altLang="en-US" dirty="0" err="1"/>
              <a:t>substitusi</a:t>
            </a:r>
            <a:endParaRPr lang="sv-SE" altLang="en-US" dirty="0"/>
          </a:p>
          <a:p>
            <a:pPr eaLnBrk="1" hangingPunct="1"/>
            <a:r>
              <a:rPr lang="sv-SE" altLang="en-US" dirty="0"/>
              <a:t> maka :</a:t>
            </a:r>
            <a:endParaRPr lang="id-ID" altLang="en-US" dirty="0"/>
          </a:p>
        </p:txBody>
      </p:sp>
      <p:sp>
        <p:nvSpPr>
          <p:cNvPr id="7177" name="Rectangle 5">
            <a:extLst>
              <a:ext uri="{FF2B5EF4-FFF2-40B4-BE49-F238E27FC236}">
                <a16:creationId xmlns:a16="http://schemas.microsoft.com/office/drawing/2014/main" id="{7FB57F9A-A0AC-5E48-867C-97AF1CB35C29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0"/>
            <a:ext cx="9144000" cy="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endParaRPr lang="en-US" altLang="en-US"/>
          </a:p>
        </p:txBody>
      </p:sp>
      <p:graphicFrame>
        <p:nvGraphicFramePr>
          <p:cNvPr id="7170" name="Object 4" descr="Bouquet">
            <a:extLst>
              <a:ext uri="{FF2B5EF4-FFF2-40B4-BE49-F238E27FC236}">
                <a16:creationId xmlns:a16="http://schemas.microsoft.com/office/drawing/2014/main" id="{4C24CAFA-3F98-584F-BD56-E050D5853041}"/>
              </a:ext>
            </a:extLst>
          </p:cNvPr>
          <p:cNvGraphicFramePr>
            <a:graphicFrameLocks noChangeAspect="1"/>
          </p:cNvGraphicFramePr>
          <p:nvPr/>
        </p:nvGraphicFramePr>
        <p:xfrm>
          <a:off x="4857750" y="2000250"/>
          <a:ext cx="1296988" cy="7937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8673" name="Equation" r:id="rId3" imgW="14630400" imgH="9067800" progId="Equation.3">
                  <p:embed/>
                </p:oleObj>
              </mc:Choice>
              <mc:Fallback>
                <p:oleObj name="Equation" r:id="rId3" imgW="14630400" imgH="9067800" progId="Equation.3">
                  <p:embed/>
                  <p:pic>
                    <p:nvPicPr>
                      <p:cNvPr id="7170" name="Object 4" descr="Bouquet">
                        <a:extLst>
                          <a:ext uri="{FF2B5EF4-FFF2-40B4-BE49-F238E27FC236}">
                            <a16:creationId xmlns:a16="http://schemas.microsoft.com/office/drawing/2014/main" id="{4C24CAFA-3F98-584F-BD56-E050D5853041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857750" y="2000250"/>
                        <a:ext cx="1296988" cy="793750"/>
                      </a:xfrm>
                      <a:prstGeom prst="rect">
                        <a:avLst/>
                      </a:prstGeom>
                      <a:blipFill dpi="0" rotWithShape="0">
                        <a:blip r:embed="rId5"/>
                        <a:srcRect/>
                        <a:tile tx="0" ty="0" sx="100000" sy="100000" flip="none" algn="tl"/>
                      </a:blipFill>
                    </p:spPr>
                  </p:pic>
                </p:oleObj>
              </mc:Fallback>
            </mc:AlternateContent>
          </a:graphicData>
        </a:graphic>
      </p:graphicFrame>
      <p:sp>
        <p:nvSpPr>
          <p:cNvPr id="7178" name="Rectangle 7">
            <a:extLst>
              <a:ext uri="{FF2B5EF4-FFF2-40B4-BE49-F238E27FC236}">
                <a16:creationId xmlns:a16="http://schemas.microsoft.com/office/drawing/2014/main" id="{1B683B7D-50F6-DA4B-BFF2-D9B6C5E4C678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3119438"/>
            <a:ext cx="9144000" cy="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endParaRPr lang="en-US" altLang="en-US"/>
          </a:p>
        </p:txBody>
      </p:sp>
      <p:graphicFrame>
        <p:nvGraphicFramePr>
          <p:cNvPr id="7171" name="Object 6" descr="Bouquet">
            <a:extLst>
              <a:ext uri="{FF2B5EF4-FFF2-40B4-BE49-F238E27FC236}">
                <a16:creationId xmlns:a16="http://schemas.microsoft.com/office/drawing/2014/main" id="{60FB9C50-717F-D541-A0F0-31966D00B555}"/>
              </a:ext>
            </a:extLst>
          </p:cNvPr>
          <p:cNvGraphicFramePr>
            <a:graphicFrameLocks noChangeAspect="1"/>
          </p:cNvGraphicFramePr>
          <p:nvPr/>
        </p:nvGraphicFramePr>
        <p:xfrm>
          <a:off x="1643063" y="3071813"/>
          <a:ext cx="7015162" cy="100647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8674" name="Equation" r:id="rId6" imgW="99479100" imgH="14338300" progId="Equation.3">
                  <p:embed/>
                </p:oleObj>
              </mc:Choice>
              <mc:Fallback>
                <p:oleObj name="Equation" r:id="rId6" imgW="99479100" imgH="14338300" progId="Equation.3">
                  <p:embed/>
                  <p:pic>
                    <p:nvPicPr>
                      <p:cNvPr id="7171" name="Object 6" descr="Bouquet">
                        <a:extLst>
                          <a:ext uri="{FF2B5EF4-FFF2-40B4-BE49-F238E27FC236}">
                            <a16:creationId xmlns:a16="http://schemas.microsoft.com/office/drawing/2014/main" id="{60FB9C50-717F-D541-A0F0-31966D00B555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7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643063" y="3071813"/>
                        <a:ext cx="7015162" cy="1006475"/>
                      </a:xfrm>
                      <a:prstGeom prst="rect">
                        <a:avLst/>
                      </a:prstGeom>
                      <a:blipFill dpi="0" rotWithShape="0">
                        <a:blip r:embed="rId5"/>
                        <a:srcRect/>
                        <a:tile tx="0" ty="0" sx="100000" sy="100000" flip="none" algn="tl"/>
                      </a:blipFill>
                    </p:spPr>
                  </p:pic>
                </p:oleObj>
              </mc:Fallback>
            </mc:AlternateContent>
          </a:graphicData>
        </a:graphic>
      </p:graphicFrame>
      <p:sp>
        <p:nvSpPr>
          <p:cNvPr id="7179" name="Rectangle 11">
            <a:extLst>
              <a:ext uri="{FF2B5EF4-FFF2-40B4-BE49-F238E27FC236}">
                <a16:creationId xmlns:a16="http://schemas.microsoft.com/office/drawing/2014/main" id="{97C8BBB6-0A96-0A46-A5E5-1982C3264B58}"/>
              </a:ext>
            </a:extLst>
          </p:cNvPr>
          <p:cNvSpPr>
            <a:spLocks noChangeArrowheads="1"/>
          </p:cNvSpPr>
          <p:nvPr/>
        </p:nvSpPr>
        <p:spPr bwMode="auto">
          <a:xfrm>
            <a:off x="1357313" y="4572000"/>
            <a:ext cx="2643187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ctr">
            <a:spAutoFit/>
          </a:bodyPr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just" eaLnBrk="1" hangingPunct="1"/>
            <a:r>
              <a:rPr lang="sv-SE" altLang="en-US" sz="2400">
                <a:cs typeface="Times New Roman" panose="02020603050405020304" pitchFamily="18" charset="0"/>
              </a:rPr>
              <a:t>ternyata substitusi </a:t>
            </a:r>
            <a:endParaRPr lang="sv-SE" altLang="en-US" sz="2400"/>
          </a:p>
        </p:txBody>
      </p:sp>
      <p:graphicFrame>
        <p:nvGraphicFramePr>
          <p:cNvPr id="7172" name="Object 10" descr="Bouquet">
            <a:extLst>
              <a:ext uri="{FF2B5EF4-FFF2-40B4-BE49-F238E27FC236}">
                <a16:creationId xmlns:a16="http://schemas.microsoft.com/office/drawing/2014/main" id="{8A1C5D16-AEB8-6C4E-AEA6-5FBAEFCB9F77}"/>
              </a:ext>
            </a:extLst>
          </p:cNvPr>
          <p:cNvGraphicFramePr>
            <a:graphicFrameLocks noChangeAspect="1"/>
          </p:cNvGraphicFramePr>
          <p:nvPr/>
        </p:nvGraphicFramePr>
        <p:xfrm>
          <a:off x="4071938" y="4429125"/>
          <a:ext cx="1223962" cy="74771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8675" name="Equation" r:id="rId8" imgW="14630400" imgH="9067800" progId="Equation.3">
                  <p:embed/>
                </p:oleObj>
              </mc:Choice>
              <mc:Fallback>
                <p:oleObj name="Equation" r:id="rId8" imgW="14630400" imgH="9067800" progId="Equation.3">
                  <p:embed/>
                  <p:pic>
                    <p:nvPicPr>
                      <p:cNvPr id="7172" name="Object 10" descr="Bouquet">
                        <a:extLst>
                          <a:ext uri="{FF2B5EF4-FFF2-40B4-BE49-F238E27FC236}">
                            <a16:creationId xmlns:a16="http://schemas.microsoft.com/office/drawing/2014/main" id="{8A1C5D16-AEB8-6C4E-AEA6-5FBAEFCB9F77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071938" y="4429125"/>
                        <a:ext cx="1223962" cy="747713"/>
                      </a:xfrm>
                      <a:prstGeom prst="rect">
                        <a:avLst/>
                      </a:prstGeom>
                      <a:blipFill dpi="0" rotWithShape="0">
                        <a:blip r:embed="rId5"/>
                        <a:srcRect/>
                        <a:tile tx="0" ty="0" sx="100000" sy="100000" flip="none" algn="tl"/>
                      </a:blipFill>
                    </p:spPr>
                  </p:pic>
                </p:oleObj>
              </mc:Fallback>
            </mc:AlternateContent>
          </a:graphicData>
        </a:graphic>
      </p:graphicFrame>
      <p:sp>
        <p:nvSpPr>
          <p:cNvPr id="7180" name="Rectangle 12">
            <a:extLst>
              <a:ext uri="{FF2B5EF4-FFF2-40B4-BE49-F238E27FC236}">
                <a16:creationId xmlns:a16="http://schemas.microsoft.com/office/drawing/2014/main" id="{671BD063-FD48-DA45-A813-49F0C20B6302}"/>
              </a:ext>
            </a:extLst>
          </p:cNvPr>
          <p:cNvSpPr>
            <a:spLocks noChangeArrowheads="1"/>
          </p:cNvSpPr>
          <p:nvPr/>
        </p:nvSpPr>
        <p:spPr bwMode="auto">
          <a:xfrm>
            <a:off x="1357313" y="5286375"/>
            <a:ext cx="4494212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just" eaLnBrk="1" hangingPunct="1"/>
            <a:r>
              <a:rPr lang="sv-SE" altLang="en-US" sz="1200">
                <a:cs typeface="Times New Roman" panose="02020603050405020304" pitchFamily="18" charset="0"/>
              </a:rPr>
              <a:t> </a:t>
            </a:r>
            <a:r>
              <a:rPr lang="sv-SE" altLang="en-US" sz="2400">
                <a:cs typeface="Times New Roman" panose="02020603050405020304" pitchFamily="18" charset="0"/>
              </a:rPr>
              <a:t>menyebabkan distribusi normal</a:t>
            </a:r>
            <a:r>
              <a:rPr lang="sv-SE" altLang="en-US" sz="1200">
                <a:cs typeface="Times New Roman" panose="02020603050405020304" pitchFamily="18" charset="0"/>
              </a:rPr>
              <a:t> </a:t>
            </a:r>
            <a:endParaRPr lang="sv-SE" altLang="en-US"/>
          </a:p>
        </p:txBody>
      </p:sp>
      <p:graphicFrame>
        <p:nvGraphicFramePr>
          <p:cNvPr id="7173" name="Object 9" descr="Bouquet">
            <a:extLst>
              <a:ext uri="{FF2B5EF4-FFF2-40B4-BE49-F238E27FC236}">
                <a16:creationId xmlns:a16="http://schemas.microsoft.com/office/drawing/2014/main" id="{38A058DD-86E0-B34F-920E-F63E1736935E}"/>
              </a:ext>
            </a:extLst>
          </p:cNvPr>
          <p:cNvGraphicFramePr>
            <a:graphicFrameLocks noChangeAspect="1"/>
          </p:cNvGraphicFramePr>
          <p:nvPr/>
        </p:nvGraphicFramePr>
        <p:xfrm>
          <a:off x="5857875" y="5286375"/>
          <a:ext cx="1296988" cy="4460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8676" name="Equation" r:id="rId9" imgW="13462000" imgH="4686300" progId="Equation.3">
                  <p:embed/>
                </p:oleObj>
              </mc:Choice>
              <mc:Fallback>
                <p:oleObj name="Equation" r:id="rId9" imgW="13462000" imgH="4686300" progId="Equation.3">
                  <p:embed/>
                  <p:pic>
                    <p:nvPicPr>
                      <p:cNvPr id="7173" name="Object 9" descr="Bouquet">
                        <a:extLst>
                          <a:ext uri="{FF2B5EF4-FFF2-40B4-BE49-F238E27FC236}">
                            <a16:creationId xmlns:a16="http://schemas.microsoft.com/office/drawing/2014/main" id="{38A058DD-86E0-B34F-920E-F63E1736935E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0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5857875" y="5286375"/>
                        <a:ext cx="1296988" cy="446088"/>
                      </a:xfrm>
                      <a:prstGeom prst="rect">
                        <a:avLst/>
                      </a:prstGeom>
                      <a:blipFill dpi="0" rotWithShape="0">
                        <a:blip r:embed="rId5"/>
                        <a:srcRect/>
                        <a:tile tx="0" ty="0" sx="100000" sy="100000" flip="none" algn="tl"/>
                      </a:blipFill>
                    </p:spPr>
                  </p:pic>
                </p:oleObj>
              </mc:Fallback>
            </mc:AlternateContent>
          </a:graphicData>
        </a:graphic>
      </p:graphicFrame>
      <p:sp>
        <p:nvSpPr>
          <p:cNvPr id="7181" name="Rectangle 13">
            <a:extLst>
              <a:ext uri="{FF2B5EF4-FFF2-40B4-BE49-F238E27FC236}">
                <a16:creationId xmlns:a16="http://schemas.microsoft.com/office/drawing/2014/main" id="{5C581983-ED39-D544-9DA8-0DF3ACDAB32A}"/>
              </a:ext>
            </a:extLst>
          </p:cNvPr>
          <p:cNvSpPr>
            <a:spLocks noChangeArrowheads="1"/>
          </p:cNvSpPr>
          <p:nvPr/>
        </p:nvSpPr>
        <p:spPr bwMode="auto">
          <a:xfrm>
            <a:off x="7215188" y="5286375"/>
            <a:ext cx="1357312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ctr">
            <a:spAutoFit/>
          </a:bodyPr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just" eaLnBrk="1" hangingPunct="1"/>
            <a:r>
              <a:rPr lang="sv-SE" altLang="en-US" sz="1200">
                <a:cs typeface="Times New Roman" panose="02020603050405020304" pitchFamily="18" charset="0"/>
              </a:rPr>
              <a:t> </a:t>
            </a:r>
            <a:r>
              <a:rPr lang="sv-SE" altLang="en-US" sz="2400">
                <a:cs typeface="Times New Roman" panose="02020603050405020304" pitchFamily="18" charset="0"/>
              </a:rPr>
              <a:t>menjadi </a:t>
            </a:r>
            <a:endParaRPr lang="sv-SE" altLang="en-US" sz="2400"/>
          </a:p>
        </p:txBody>
      </p:sp>
      <p:graphicFrame>
        <p:nvGraphicFramePr>
          <p:cNvPr id="7174" name="Object 8" descr="Bouquet">
            <a:extLst>
              <a:ext uri="{FF2B5EF4-FFF2-40B4-BE49-F238E27FC236}">
                <a16:creationId xmlns:a16="http://schemas.microsoft.com/office/drawing/2014/main" id="{FC5C7731-DDC2-3040-95FB-897B21DC2CD5}"/>
              </a:ext>
            </a:extLst>
          </p:cNvPr>
          <p:cNvGraphicFramePr>
            <a:graphicFrameLocks noChangeAspect="1"/>
          </p:cNvGraphicFramePr>
          <p:nvPr/>
        </p:nvGraphicFramePr>
        <p:xfrm>
          <a:off x="1428750" y="5857875"/>
          <a:ext cx="1296988" cy="48577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8677" name="Equation" r:id="rId11" imgW="12293600" imgH="4686300" progId="Equation.3">
                  <p:embed/>
                </p:oleObj>
              </mc:Choice>
              <mc:Fallback>
                <p:oleObj name="Equation" r:id="rId11" imgW="12293600" imgH="4686300" progId="Equation.3">
                  <p:embed/>
                  <p:pic>
                    <p:nvPicPr>
                      <p:cNvPr id="7174" name="Object 8" descr="Bouquet">
                        <a:extLst>
                          <a:ext uri="{FF2B5EF4-FFF2-40B4-BE49-F238E27FC236}">
                            <a16:creationId xmlns:a16="http://schemas.microsoft.com/office/drawing/2014/main" id="{FC5C7731-DDC2-3040-95FB-897B21DC2CD5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2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428750" y="5857875"/>
                        <a:ext cx="1296988" cy="485775"/>
                      </a:xfrm>
                      <a:prstGeom prst="rect">
                        <a:avLst/>
                      </a:prstGeom>
                      <a:blipFill dpi="0" rotWithShape="0">
                        <a:blip r:embed="rId5"/>
                        <a:srcRect/>
                        <a:tile tx="0" ty="0" sx="100000" sy="100000" flip="none" algn="tl"/>
                      </a:blipFill>
                    </p:spPr>
                  </p:pic>
                </p:oleObj>
              </mc:Fallback>
            </mc:AlternateContent>
          </a:graphicData>
        </a:graphic>
      </p:graphicFrame>
      <p:sp>
        <p:nvSpPr>
          <p:cNvPr id="7182" name="Rectangle 14">
            <a:extLst>
              <a:ext uri="{FF2B5EF4-FFF2-40B4-BE49-F238E27FC236}">
                <a16:creationId xmlns:a16="http://schemas.microsoft.com/office/drawing/2014/main" id="{C54EC0FC-88A2-9E4A-8166-EE63E7788EE5}"/>
              </a:ext>
            </a:extLst>
          </p:cNvPr>
          <p:cNvSpPr>
            <a:spLocks noChangeArrowheads="1"/>
          </p:cNvSpPr>
          <p:nvPr/>
        </p:nvSpPr>
        <p:spPr bwMode="auto">
          <a:xfrm>
            <a:off x="2928938" y="5786438"/>
            <a:ext cx="5715000" cy="46196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ctr">
            <a:spAutoFit/>
          </a:bodyPr>
          <a:lstStyle>
            <a:lvl1pPr>
              <a:tabLst>
                <a:tab pos="457200" algn="r"/>
                <a:tab pos="2743200" algn="ctr"/>
                <a:tab pos="5486400" algn="r"/>
              </a:tabLs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tabLst>
                <a:tab pos="457200" algn="r"/>
                <a:tab pos="2743200" algn="ctr"/>
                <a:tab pos="5486400" algn="r"/>
              </a:tabLs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tabLst>
                <a:tab pos="457200" algn="r"/>
                <a:tab pos="2743200" algn="ctr"/>
                <a:tab pos="5486400" algn="r"/>
              </a:tabLs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tabLst>
                <a:tab pos="457200" algn="r"/>
                <a:tab pos="2743200" algn="ctr"/>
                <a:tab pos="5486400" algn="r"/>
              </a:tabLs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tabLst>
                <a:tab pos="457200" algn="r"/>
                <a:tab pos="2743200" algn="ctr"/>
                <a:tab pos="5486400" algn="r"/>
              </a:tabLs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tabLst>
                <a:tab pos="457200" algn="r"/>
                <a:tab pos="2743200" algn="ctr"/>
                <a:tab pos="5486400" algn="r"/>
              </a:tabLs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tabLst>
                <a:tab pos="457200" algn="r"/>
                <a:tab pos="2743200" algn="ctr"/>
                <a:tab pos="5486400" algn="r"/>
              </a:tabLs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tabLst>
                <a:tab pos="457200" algn="r"/>
                <a:tab pos="2743200" algn="ctr"/>
                <a:tab pos="5486400" algn="r"/>
              </a:tabLs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tabLst>
                <a:tab pos="457200" algn="r"/>
                <a:tab pos="2743200" algn="ctr"/>
                <a:tab pos="5486400" algn="r"/>
              </a:tabLs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just" eaLnBrk="1" hangingPunct="1"/>
            <a:r>
              <a:rPr lang="sv-SE" altLang="en-US" sz="1200">
                <a:cs typeface="Times New Roman" panose="02020603050405020304" pitchFamily="18" charset="0"/>
              </a:rPr>
              <a:t>, </a:t>
            </a:r>
            <a:r>
              <a:rPr lang="sv-SE" altLang="en-US" sz="2400">
                <a:cs typeface="Times New Roman" panose="02020603050405020304" pitchFamily="18" charset="0"/>
              </a:rPr>
              <a:t>yang disebut </a:t>
            </a:r>
            <a:r>
              <a:rPr lang="sv-SE" altLang="en-US" sz="2400">
                <a:solidFill>
                  <a:srgbClr val="FFC000"/>
                </a:solidFill>
                <a:cs typeface="Times New Roman" panose="02020603050405020304" pitchFamily="18" charset="0"/>
              </a:rPr>
              <a:t>distribusi </a:t>
            </a:r>
            <a:r>
              <a:rPr lang="sv-SE" altLang="en-US" sz="2400" b="1">
                <a:solidFill>
                  <a:srgbClr val="FFC000"/>
                </a:solidFill>
                <a:cs typeface="Times New Roman" panose="02020603050405020304" pitchFamily="18" charset="0"/>
              </a:rPr>
              <a:t>normal standar</a:t>
            </a:r>
            <a:r>
              <a:rPr lang="sv-SE" altLang="en-US" sz="2400">
                <a:cs typeface="Times New Roman" panose="02020603050405020304" pitchFamily="18" charset="0"/>
              </a:rPr>
              <a:t>. </a:t>
            </a:r>
            <a:endParaRPr lang="sv-SE" altLang="en-US" sz="2400"/>
          </a:p>
        </p:txBody>
      </p:sp>
    </p:spTree>
    <p:extLst>
      <p:ext uri="{BB962C8B-B14F-4D97-AF65-F5344CB8AC3E}">
        <p14:creationId xmlns:p14="http://schemas.microsoft.com/office/powerpoint/2010/main" val="2494666914"/>
      </p:ext>
    </p:extLst>
  </p:cSld>
  <p:clrMapOvr>
    <a:masterClrMapping/>
  </p:clrMapOvr>
</p:sld>
</file>

<file path=ppt/slides/slide5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95" name="Rectangle 3">
            <a:extLst>
              <a:ext uri="{FF2B5EF4-FFF2-40B4-BE49-F238E27FC236}">
                <a16:creationId xmlns:a16="http://schemas.microsoft.com/office/drawing/2014/main" id="{A0DE6B85-22B8-8149-973A-3515B3E5C21B}"/>
              </a:ext>
            </a:extLst>
          </p:cNvPr>
          <p:cNvSpPr>
            <a:spLocks noGrp="1" noChangeArrowheads="1"/>
          </p:cNvSpPr>
          <p:nvPr>
            <p:ph idx="1"/>
          </p:nvPr>
        </p:nvSpPr>
        <p:spPr>
          <a:xfrm>
            <a:off x="1143000" y="1428750"/>
            <a:ext cx="7429500" cy="3424238"/>
          </a:xfrm>
        </p:spPr>
        <p:txBody>
          <a:bodyPr/>
          <a:lstStyle/>
          <a:p>
            <a:pPr eaLnBrk="1" hangingPunct="1"/>
            <a:r>
              <a:rPr lang="sv-SE" altLang="en-US"/>
              <a:t>Karena transformasi ini, maka selanjutnya nilai </a:t>
            </a:r>
          </a:p>
          <a:p>
            <a:pPr eaLnBrk="1" hangingPunct="1">
              <a:buFontTx/>
              <a:buNone/>
            </a:pPr>
            <a:endParaRPr lang="sv-SE" altLang="en-US"/>
          </a:p>
          <a:p>
            <a:pPr eaLnBrk="1" hangingPunct="1">
              <a:buFontTx/>
              <a:buNone/>
            </a:pPr>
            <a:r>
              <a:rPr lang="sv-SE" altLang="en-US"/>
              <a:t>	ini dapat dihitung dengan </a:t>
            </a:r>
            <a:r>
              <a:rPr lang="sv-SE" altLang="en-US">
                <a:solidFill>
                  <a:srgbClr val="FF0000"/>
                </a:solidFill>
              </a:rPr>
              <a:t>menggunakan tabel distribusi normal standar. </a:t>
            </a:r>
            <a:endParaRPr lang="id-ID" altLang="en-US">
              <a:solidFill>
                <a:srgbClr val="FF0000"/>
              </a:solidFill>
            </a:endParaRPr>
          </a:p>
        </p:txBody>
      </p:sp>
      <p:sp>
        <p:nvSpPr>
          <p:cNvPr id="8196" name="Rectangle 5">
            <a:extLst>
              <a:ext uri="{FF2B5EF4-FFF2-40B4-BE49-F238E27FC236}">
                <a16:creationId xmlns:a16="http://schemas.microsoft.com/office/drawing/2014/main" id="{A447D3E6-422E-AD4D-972E-56E700A18B28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0"/>
            <a:ext cx="9144000" cy="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endParaRPr lang="en-US" altLang="en-US"/>
          </a:p>
        </p:txBody>
      </p:sp>
      <p:graphicFrame>
        <p:nvGraphicFramePr>
          <p:cNvPr id="8194" name="Object 4" descr="Bouquet">
            <a:extLst>
              <a:ext uri="{FF2B5EF4-FFF2-40B4-BE49-F238E27FC236}">
                <a16:creationId xmlns:a16="http://schemas.microsoft.com/office/drawing/2014/main" id="{B6DD63E9-74D9-444F-9427-0B299028E726}"/>
              </a:ext>
            </a:extLst>
          </p:cNvPr>
          <p:cNvGraphicFramePr>
            <a:graphicFrameLocks noChangeAspect="1"/>
          </p:cNvGraphicFramePr>
          <p:nvPr/>
        </p:nvGraphicFramePr>
        <p:xfrm>
          <a:off x="2500313" y="2143125"/>
          <a:ext cx="2520950" cy="56197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9697" name="Equation" r:id="rId3" imgW="22529800" imgH="4978400" progId="Equation.3">
                  <p:embed/>
                </p:oleObj>
              </mc:Choice>
              <mc:Fallback>
                <p:oleObj name="Equation" r:id="rId3" imgW="22529800" imgH="4978400" progId="Equation.3">
                  <p:embed/>
                  <p:pic>
                    <p:nvPicPr>
                      <p:cNvPr id="8194" name="Object 4" descr="Bouquet">
                        <a:extLst>
                          <a:ext uri="{FF2B5EF4-FFF2-40B4-BE49-F238E27FC236}">
                            <a16:creationId xmlns:a16="http://schemas.microsoft.com/office/drawing/2014/main" id="{B6DD63E9-74D9-444F-9427-0B299028E726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500313" y="2143125"/>
                        <a:ext cx="2520950" cy="561975"/>
                      </a:xfrm>
                      <a:prstGeom prst="rect">
                        <a:avLst/>
                      </a:prstGeom>
                      <a:blipFill dpi="0" rotWithShape="0">
                        <a:blip r:embed="rId5"/>
                        <a:srcRect/>
                        <a:tile tx="0" ty="0" sx="100000" sy="100000" flip="none" algn="tl"/>
                      </a:blipFill>
                    </p:spPr>
                  </p:pic>
                </p:oleObj>
              </mc:Fallback>
            </mc:AlternateContent>
          </a:graphicData>
        </a:graphic>
      </p:graphicFrame>
      <p:sp>
        <p:nvSpPr>
          <p:cNvPr id="5" name="Title 13">
            <a:extLst>
              <a:ext uri="{FF2B5EF4-FFF2-40B4-BE49-F238E27FC236}">
                <a16:creationId xmlns:a16="http://schemas.microsoft.com/office/drawing/2014/main" id="{4AFD8184-A773-0B41-A20F-116A6B7DD43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eaLnBrk="1" fontAlgn="auto" hangingPunct="1">
              <a:spcAft>
                <a:spcPts val="0"/>
              </a:spcAft>
              <a:defRPr/>
            </a:pPr>
            <a:r>
              <a:rPr lang="en-US" dirty="0" err="1">
                <a:solidFill>
                  <a:schemeClr val="tx2">
                    <a:satMod val="130000"/>
                  </a:schemeClr>
                </a:solidFill>
              </a:rPr>
              <a:t>Distribusi</a:t>
            </a:r>
            <a:r>
              <a:rPr lang="en-US" dirty="0">
                <a:solidFill>
                  <a:schemeClr val="tx2">
                    <a:satMod val="130000"/>
                  </a:schemeClr>
                </a:solidFill>
              </a:rPr>
              <a:t> Normal </a:t>
            </a:r>
            <a:r>
              <a:rPr lang="en-US" dirty="0" err="1">
                <a:solidFill>
                  <a:schemeClr val="tx2">
                    <a:satMod val="130000"/>
                  </a:schemeClr>
                </a:solidFill>
              </a:rPr>
              <a:t>Standar</a:t>
            </a:r>
            <a:r>
              <a:rPr lang="en-US" dirty="0">
                <a:solidFill>
                  <a:schemeClr val="tx2">
                    <a:satMod val="130000"/>
                  </a:schemeClr>
                </a:solidFill>
              </a:rPr>
              <a:t> (2): </a:t>
            </a:r>
          </a:p>
        </p:txBody>
      </p:sp>
    </p:spTree>
    <p:extLst>
      <p:ext uri="{BB962C8B-B14F-4D97-AF65-F5344CB8AC3E}">
        <p14:creationId xmlns:p14="http://schemas.microsoft.com/office/powerpoint/2010/main" val="1623949572"/>
      </p:ext>
    </p:extLst>
  </p:cSld>
  <p:clrMapOvr>
    <a:masterClrMapping/>
  </p:clrMapOvr>
</p:sld>
</file>

<file path=ppt/slides/slide5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4818" name="Picture 2">
            <a:extLst>
              <a:ext uri="{FF2B5EF4-FFF2-40B4-BE49-F238E27FC236}">
                <a16:creationId xmlns:a16="http://schemas.microsoft.com/office/drawing/2014/main" id="{303A6D78-F322-C443-BF3F-6317BDC616AD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3654" t="47710" r="30238" b="37399"/>
          <a:stretch>
            <a:fillRect/>
          </a:stretch>
        </p:blipFill>
        <p:spPr bwMode="auto">
          <a:xfrm>
            <a:off x="34925" y="549275"/>
            <a:ext cx="9261475" cy="14398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34819" name="Picture 4">
            <a:extLst>
              <a:ext uri="{FF2B5EF4-FFF2-40B4-BE49-F238E27FC236}">
                <a16:creationId xmlns:a16="http://schemas.microsoft.com/office/drawing/2014/main" id="{D52F5045-8359-D84E-8EB3-6FC824AC2F2B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3086" t="13461" r="33759" b="4642"/>
          <a:stretch>
            <a:fillRect/>
          </a:stretch>
        </p:blipFill>
        <p:spPr bwMode="auto">
          <a:xfrm>
            <a:off x="0" y="1916113"/>
            <a:ext cx="9144000" cy="494188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2167289703"/>
      </p:ext>
    </p:extLst>
  </p:cSld>
  <p:clrMapOvr>
    <a:masterClrMapping/>
  </p:clrMapOvr>
</p:sld>
</file>

<file path=ppt/slides/slide5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B57E7C0-11BC-EF4D-B81D-1AAEE2FEFA2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/>
            </a:pPr>
            <a:endParaRPr lang="id-ID"/>
          </a:p>
        </p:txBody>
      </p:sp>
      <p:sp>
        <p:nvSpPr>
          <p:cNvPr id="35843" name="AutoShape 2" descr="http://2.bp.blogspot.com/-PmZhvoAoQUk/U1p_bDQ8XtI/AAAAAAAAC4s/cItg-n-6Aus/s1600/tabel-z.jpg">
            <a:extLst>
              <a:ext uri="{FF2B5EF4-FFF2-40B4-BE49-F238E27FC236}">
                <a16:creationId xmlns:a16="http://schemas.microsoft.com/office/drawing/2014/main" id="{2C9D6547-528B-5044-9E4A-E314BE24F37E}"/>
              </a:ext>
            </a:extLst>
          </p:cNvPr>
          <p:cNvSpPr>
            <a:spLocks noChangeAspect="1" noChangeArrowheads="1"/>
          </p:cNvSpPr>
          <p:nvPr/>
        </p:nvSpPr>
        <p:spPr bwMode="auto">
          <a:xfrm>
            <a:off x="63500" y="-136525"/>
            <a:ext cx="304800" cy="3048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endParaRPr lang="en-US" altLang="en-US"/>
          </a:p>
        </p:txBody>
      </p:sp>
      <p:pic>
        <p:nvPicPr>
          <p:cNvPr id="35844" name="Picture 3" descr="E:\STATISTIKA TEKNIK\tabel-z.jpg">
            <a:extLst>
              <a:ext uri="{FF2B5EF4-FFF2-40B4-BE49-F238E27FC236}">
                <a16:creationId xmlns:a16="http://schemas.microsoft.com/office/drawing/2014/main" id="{E829FBBD-FF8E-9F47-8E5B-FF2FA85C6218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b="45213"/>
          <a:stretch>
            <a:fillRect/>
          </a:stretch>
        </p:blipFill>
        <p:spPr bwMode="auto">
          <a:xfrm>
            <a:off x="0" y="0"/>
            <a:ext cx="9144000" cy="6858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3462108579"/>
      </p:ext>
    </p:extLst>
  </p:cSld>
  <p:clrMapOvr>
    <a:masterClrMapping/>
  </p:clrMapOvr>
</p:sld>
</file>

<file path=ppt/slides/slide5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AD78341-862E-BA45-996F-DFAB1ED2EA2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/>
            </a:pPr>
            <a:endParaRPr lang="id-ID"/>
          </a:p>
        </p:txBody>
      </p:sp>
      <p:sp>
        <p:nvSpPr>
          <p:cNvPr id="36867" name="Content Placeholder 2">
            <a:extLst>
              <a:ext uri="{FF2B5EF4-FFF2-40B4-BE49-F238E27FC236}">
                <a16:creationId xmlns:a16="http://schemas.microsoft.com/office/drawing/2014/main" id="{978679AE-DA9D-E243-9484-39A8CE309FB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US" altLang="en-US"/>
          </a:p>
        </p:txBody>
      </p:sp>
      <p:pic>
        <p:nvPicPr>
          <p:cNvPr id="36868" name="Picture 2" descr="E:\STATISTIKA TEKNIK\tabel-z.jpg">
            <a:extLst>
              <a:ext uri="{FF2B5EF4-FFF2-40B4-BE49-F238E27FC236}">
                <a16:creationId xmlns:a16="http://schemas.microsoft.com/office/drawing/2014/main" id="{1A3BD2C8-2DC3-0845-89BB-0D3570661082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54726" b="3600"/>
          <a:stretch>
            <a:fillRect/>
          </a:stretch>
        </p:blipFill>
        <p:spPr bwMode="auto">
          <a:xfrm>
            <a:off x="0" y="-41275"/>
            <a:ext cx="9915525" cy="6350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3337452544"/>
      </p:ext>
    </p:extLst>
  </p:cSld>
  <p:clrMapOvr>
    <a:masterClrMapping/>
  </p:clrMapOvr>
</p:sld>
</file>

<file path=ppt/slides/slide5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3101085" y="2410459"/>
            <a:ext cx="2877820" cy="8483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5400" spc="-5" dirty="0"/>
              <a:t>Thank</a:t>
            </a:r>
            <a:r>
              <a:rPr sz="5400" spc="-75" dirty="0"/>
              <a:t> </a:t>
            </a:r>
            <a:r>
              <a:rPr sz="5400" spc="-145" dirty="0"/>
              <a:t>You</a:t>
            </a:r>
            <a:endParaRPr sz="540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13</TotalTime>
  <Words>2220</Words>
  <Application>Microsoft Macintosh PowerPoint</Application>
  <PresentationFormat>On-screen Show (4:3)</PresentationFormat>
  <Paragraphs>361</Paragraphs>
  <Slides>55</Slides>
  <Notes>2</Notes>
  <HiddenSlides>0</HiddenSlides>
  <MMClips>0</MMClips>
  <ScaleCrop>false</ScaleCrop>
  <HeadingPairs>
    <vt:vector size="8" baseType="variant">
      <vt:variant>
        <vt:lpstr>Fonts Used</vt:lpstr>
      </vt:variant>
      <vt:variant>
        <vt:i4>10</vt:i4>
      </vt:variant>
      <vt:variant>
        <vt:lpstr>Theme</vt:lpstr>
      </vt:variant>
      <vt:variant>
        <vt:i4>1</vt:i4>
      </vt:variant>
      <vt:variant>
        <vt:lpstr>Embedded OLE Servers</vt:lpstr>
      </vt:variant>
      <vt:variant>
        <vt:i4>1</vt:i4>
      </vt:variant>
      <vt:variant>
        <vt:lpstr>Slide Titles</vt:lpstr>
      </vt:variant>
      <vt:variant>
        <vt:i4>55</vt:i4>
      </vt:variant>
    </vt:vector>
  </HeadingPairs>
  <TitlesOfParts>
    <vt:vector size="67" baseType="lpstr">
      <vt:lpstr>Arial</vt:lpstr>
      <vt:lpstr>Calibri</vt:lpstr>
      <vt:lpstr>Cambria Math</vt:lpstr>
      <vt:lpstr>Impact</vt:lpstr>
      <vt:lpstr>ＭＳ Ｐゴシック</vt:lpstr>
      <vt:lpstr>Symbol</vt:lpstr>
      <vt:lpstr>Tahoma</vt:lpstr>
      <vt:lpstr>Times New Roman</vt:lpstr>
      <vt:lpstr>Wingdings</vt:lpstr>
      <vt:lpstr>Wingdings 2</vt:lpstr>
      <vt:lpstr>Office Theme</vt:lpstr>
      <vt:lpstr>Microsoft Equation 3.0</vt:lpstr>
      <vt:lpstr>KOMBINASI, PERMUTASI DAN  PELUANG</vt:lpstr>
      <vt:lpstr>POKOK BAHASAN</vt:lpstr>
      <vt:lpstr>Faktorial</vt:lpstr>
      <vt:lpstr>PowerPoint Presentation</vt:lpstr>
      <vt:lpstr>Diagram Pohon (Lanjutan)</vt:lpstr>
      <vt:lpstr>Aturan Pengisian Tempat</vt:lpstr>
      <vt:lpstr>Permutasi</vt:lpstr>
      <vt:lpstr>Contoh Soal Permutasi</vt:lpstr>
      <vt:lpstr>Permutasi Unsur yang Sama</vt:lpstr>
      <vt:lpstr>Contoh Soal Permutasi Unsur Yang  Sama</vt:lpstr>
      <vt:lpstr>Permutasi Siklis</vt:lpstr>
      <vt:lpstr>Contoh Soal Permutasi Siklis</vt:lpstr>
      <vt:lpstr>Kombinasi</vt:lpstr>
      <vt:lpstr>Contoh Soal Kombinasi Tentukanlah banyaknya cara untuk memilih 3 orang siswa  sebagai petugas pengibar bendera hari Senin yang dipilih  dari 20 orang siswa anggota Barata kelas I!</vt:lpstr>
      <vt:lpstr>Contoh Soal Kombinasi</vt:lpstr>
      <vt:lpstr>PELUANG (Probabilitas)  Pendekatan Perhitungan Probabilitas</vt:lpstr>
      <vt:lpstr>PELUANG (Probabilitas)</vt:lpstr>
      <vt:lpstr>Contoh Konsep Frekuensi Relatif</vt:lpstr>
      <vt:lpstr>Komplemen Suatu Kejadian</vt:lpstr>
      <vt:lpstr>Interseksi Dua Kejadian</vt:lpstr>
      <vt:lpstr>PowerPoint Presentation</vt:lpstr>
      <vt:lpstr>Misalkan jumlah seluruh mahasiswa suatu Universitas  (S atau N) adalah 10.000 orang, himpunan A mewakili</vt:lpstr>
      <vt:lpstr>Union Dua Kejadian</vt:lpstr>
      <vt:lpstr>PowerPoint Presentation</vt:lpstr>
      <vt:lpstr>Contoh Soal Kejadian Saling Lepas</vt:lpstr>
      <vt:lpstr>Contoh Soal Keadian Tak Saling Lepas</vt:lpstr>
      <vt:lpstr>PowerPoint Presentation</vt:lpstr>
      <vt:lpstr>Distribusi Probabilitas Diskrit</vt:lpstr>
      <vt:lpstr>Percobaan Bernoulli :</vt:lpstr>
      <vt:lpstr>Distribusi Binomial</vt:lpstr>
      <vt:lpstr>PowerPoint Presentation</vt:lpstr>
      <vt:lpstr>PowerPoint Presentation</vt:lpstr>
      <vt:lpstr>PowerPoint Presentation</vt:lpstr>
      <vt:lpstr>Rata-rata dan Variansi Distribusi Binomial :</vt:lpstr>
      <vt:lpstr>Distribusi Poisson</vt:lpstr>
      <vt:lpstr>Percobaan Poisson :</vt:lpstr>
      <vt:lpstr>Distribusi Poisson</vt:lpstr>
      <vt:lpstr>Rata-rata dan Variansi Distribusi Poisson</vt:lpstr>
      <vt:lpstr>PowerPoint Presentation</vt:lpstr>
      <vt:lpstr>PowerPoint Presentation</vt:lpstr>
      <vt:lpstr>Distribusi Hipergeometrik</vt:lpstr>
      <vt:lpstr>Perbedaan diantara distribusi binomial dan distribusi hipergeometrik</vt:lpstr>
      <vt:lpstr>Penerapan untuk distribusi hipergeometrik</vt:lpstr>
      <vt:lpstr>PowerPoint Presentation</vt:lpstr>
      <vt:lpstr>Distribusi Normal</vt:lpstr>
      <vt:lpstr>Kurva Normal dan Variabel Random Normal</vt:lpstr>
      <vt:lpstr>Sifat kurva normal, yaitu :</vt:lpstr>
      <vt:lpstr>Distribusi Normal</vt:lpstr>
      <vt:lpstr>PowerPoint Presentation</vt:lpstr>
      <vt:lpstr>Distribusi Normal Standar (1) </vt:lpstr>
      <vt:lpstr>Distribusi Normal Standar (2): </vt:lpstr>
      <vt:lpstr>PowerPoint Presentation</vt:lpstr>
      <vt:lpstr>PowerPoint Presentation</vt:lpstr>
      <vt:lpstr>PowerPoint Presentation</vt:lpstr>
      <vt:lpstr>Thank You</vt:lpstr>
    </vt:vector>
  </TitlesOfParts>
  <LinksUpToDate>false</LinksUpToDate>
  <SharedDoc>false</SharedDoc>
  <HyperlinksChanged>false</HyperlinksChanged>
  <AppVersion>16.0016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KOMBINASI, PERMUTASI DAN  PELUANG</dc:title>
  <cp:lastModifiedBy>Mera Kartika Delimayanti</cp:lastModifiedBy>
  <cp:revision>2</cp:revision>
  <dcterms:created xsi:type="dcterms:W3CDTF">2020-10-03T09:52:39Z</dcterms:created>
  <dcterms:modified xsi:type="dcterms:W3CDTF">2020-10-03T10:06:27Z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reated">
    <vt:filetime>2016-12-13T00:00:00Z</vt:filetime>
  </property>
  <property fmtid="{D5CDD505-2E9C-101B-9397-08002B2CF9AE}" pid="3" name="Creator">
    <vt:lpwstr>Microsoft® PowerPoint® 2013</vt:lpwstr>
  </property>
  <property fmtid="{D5CDD505-2E9C-101B-9397-08002B2CF9AE}" pid="4" name="LastSaved">
    <vt:filetime>2020-10-03T00:00:00Z</vt:filetime>
  </property>
</Properties>
</file>